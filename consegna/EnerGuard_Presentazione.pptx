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Buongiorno, siamo il team EnerGuard.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guasto mancato su una cabina che alimenta un ospedale non si recupera; un'ispezione inutile costa qualche ora. Il modello è quello del kit: abbiamo costruito un sistema che un operatore può capire, monitorare, correggere e fermare.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 in alto l'operatore vede sempre lo stato. Lo stop è nella barra laterale, mai a più di un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HIC per le utenze critiche: decide solo l'umano, sempre. HITL se il rischio supera 0.60 o la confidenza è sotto 0.80. HOTL solo per azioni di routine con rischio sotto 0.20. La matrice mostra dove decide l'AI e dove l'umano.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Seguiamo una sola decisione dall'inizio alla fine. In cima c'è il riquadro In parole semplici: semaforo, circa 6 su 10, cosa fare. Lo scenario e se... è calcolato dal modello. E i tre asset più simili si sono guastati tutti e 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Proviamo a rifiutare con ok: respinto. Con una motivazione vera la decisione esce dalla coda e non viene eseguita. Nota onesta: nei dati storici questa cabina si è guastata davvero. Il rifiuto dimostra il blocco, non che fosse la scelta giusta.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incidente sulle linee AT del Sud. Fermiamo solo queste: un click più una conferma. Le decisioni in coda sono bloccate, il resto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 ha deciso, cosa, quando e perché: lo ricostruiamo in pochi secondi. Se qualcuno modifica una motivazione, la catena si rompe.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 dati storici abbiamo trovato due problemi diversi, e li trattiamo in modo diverso. Il guasto che lascia al buio un ospedale viene sempre registrato; quello su un'utenza qualunque, a quanto pare, no. È un'interpretazione, non una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Abbiamo tolto l'area dal modello perché faceva da proxy. Non abbiamo alzato la soglia al Sud. Oltre 0.10 di scarto di calibrazione le decisioni passano a supervisione 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24-43 guasti per area le differenze sono segnali da monitorare, non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monitoraggio è continuo: accuratezza e confidenza su dodici settimane simulate. Il sistema misura anche la propria supervisione: i KPI A1-D2 sono nella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limite dichiarato vale più di uno scoperto. Elenco completo nell'allegato della relazione d'impatto.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 finale della guida: chi è provider e chi deployer. Poi alcuni spunti che non hanno una risposta unica.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Abbiamo già provato i sei test della giuria, dieci verifiche su dieci. Siamo pronti per le vostre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286000" cy="73152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</a:rPr>
              <a:t>EnerGuard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C9D8EA"/>
                </a:solidFill>
              </a:rPr>
              <a:t>Manutenzione predittiva che un essere umano può capire, monitorare, correggere e fermare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Gruppo 3 · AI for Human Oversight · Modulo 4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Hackathon Deloitte × ENEL FNC · 7 ottobre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Lo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AI Act · Allegato III p.2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B1F3A"/>
                </a:solidFill>
              </a:rPr>
              <a:t>Un modello stima la probabilità di </a:t>
            </a:r>
            <a:r>
              <a:rPr sz="1900" b="1">
                <a:solidFill>
                  <a:srgbClr val="0B1F3A"/>
                </a:solidFill>
              </a:rPr>
              <a:t>guasto entro 30 giorni</a:t>
            </a:r>
            <a:r>
              <a:rPr sz="1900" b="0">
                <a:solidFill>
                  <a:srgbClr val="0B1F3A"/>
                </a:solidFill>
              </a:rPr>
              <a:t> di linee AT, trasformatori, cabine primarie, turbine eoliche e propone un'azione.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B1F3A"/>
                </a:solidFill>
              </a:rPr>
              <a:t>Per l'AI Act è </a:t>
            </a:r>
            <a:r>
              <a:rPr sz="1900" b="1">
                <a:solidFill>
                  <a:srgbClr val="0B1F3A"/>
                </a:solidFill>
              </a:rPr>
              <a:t>ad alto rischio</a:t>
            </a:r>
            <a:r>
              <a:rPr sz="1900" b="0">
                <a:solidFill>
                  <a:srgbClr val="0B1F3A"/>
                </a:solidFill>
              </a:rPr>
              <a:t>: gestione di infrastrutture critiche, fornitura di elettricità.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B1F3A"/>
                </a:solidFill>
              </a:rPr>
              <a:t>Un guasto mancato su una cabina che alimenta un ospedale costa circa </a:t>
            </a:r>
            <a:r>
              <a:rPr sz="1900" b="1">
                <a:solidFill>
                  <a:srgbClr val="0B1F3A"/>
                </a:solidFill>
              </a:rPr>
              <a:t>10 volte</a:t>
            </a:r>
            <a:r>
              <a:rPr sz="1900" b="0">
                <a:solidFill>
                  <a:srgbClr val="0B1F3A"/>
                </a:solidFill>
              </a:rPr>
              <a:t> un'ispezione inutile.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B1F3A"/>
                </a:solidFill>
              </a:rPr>
              <a:t>Soglie di intervento: </a:t>
            </a:r>
            <a:r>
              <a:rPr sz="1900" b="1">
                <a:solidFill>
                  <a:srgbClr val="0B1F3A"/>
                </a:solidFill>
              </a:rPr>
              <a:t>0.30</a:t>
            </a:r>
            <a:r>
              <a:rPr sz="1900" b="0">
                <a:solidFill>
                  <a:srgbClr val="0B1F3A"/>
                </a:solidFill>
              </a:rPr>
              <a:t> utenze standard, </a:t>
            </a:r>
            <a:r>
              <a:rPr sz="1900" b="1">
                <a:solidFill>
                  <a:srgbClr val="0B1F3A"/>
                </a:solidFill>
              </a:rPr>
              <a:t>0.20</a:t>
            </a:r>
            <a:r>
              <a:rPr sz="1900" b="0">
                <a:solidFill>
                  <a:srgbClr val="0B1F3A"/>
                </a:solidFill>
              </a:rPr>
              <a:t> utenze alte e critiche.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0B1F3A"/>
                </a:solidFill>
              </a:rPr>
              <a:t>Modello del kit, AUC </a:t>
            </a:r>
            <a:r>
              <a:rPr sz="1900" b="1">
                <a:solidFill>
                  <a:srgbClr val="0B1F3A"/>
                </a:solidFill>
              </a:rPr>
              <a:t>0.868</a:t>
            </a:r>
            <a:r>
              <a:rPr sz="1900" b="0">
                <a:solidFill>
                  <a:srgbClr val="0B1F3A"/>
                </a:solidFill>
              </a:rPr>
              <a:t>: non abbiamo inseguito l'accuratezza.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371600"/>
            <a:ext cx="4663440" cy="105156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371600"/>
            <a:ext cx="109728" cy="10515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CAPIRE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</a:rPr>
              <a:t>spiegazioni, incertezza, model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606040"/>
            <a:ext cx="4663440" cy="105156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2606040"/>
            <a:ext cx="109728" cy="10515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6974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MONITORARE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</a:rPr>
              <a:t>bias, drift, allerte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840480"/>
            <a:ext cx="4663440" cy="105156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840480"/>
            <a:ext cx="109728" cy="10515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9319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INTERVENIRE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</a:rPr>
              <a:t>approva · modifica · rifiuta · escalation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5074920"/>
            <a:ext cx="4663440" cy="105156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5074920"/>
            <a:ext cx="109728" cy="10515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1663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FERMARE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</a:rPr>
              <a:t>stop totale o parziale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La dashboard di supervisione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Art. 14(4)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491" y="1188720"/>
            <a:ext cx="7766538" cy="484632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F6D"/>
                </a:solidFill>
              </a:rPr>
              <a:t>Stato sempre visibile in alto (coda, override, spiegazioni, allerte, integrità del log); emergency stop a un click nella barra laterale.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Chi decide cosa: la matrice di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Tier 2A · KPI A6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5852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201168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/>
                        <a:t>Condizione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Livello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Perché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/>
                        <a:t>Utenza critica, o riduzione carico su utenza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decide solo l'umano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/>
                        <a:t>Rischio ≥ 0.60 o confidenza &lt; 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approvazione umana prima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/>
                        <a:t>Area con allerta di calibrazione o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dati sospetti: niente automatismi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/>
                        <a:t>Area con recall basso e rischio ≥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dove il modello sbaglia di più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/>
                        <a:t>Azione leggera (nessuna, ispezione routine)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HOTL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l'AI agisce, l'umano monitora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 b="0"/>
                        <a:t>Tutto il resto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default prudente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matri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486400" cy="3932607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55F6D"/>
                </a:solidFill>
              </a:rPr>
              <a:t>Il codice applica la stessa matrice della dichiarazione di oversight: </a:t>
            </a:r>
            <a:r>
              <a:rPr sz="1600" b="1">
                <a:solidFill>
                  <a:srgbClr val="555F6D"/>
                </a:solidFill>
              </a:rPr>
              <a:t>KPI A6 = 100%</a:t>
            </a:r>
            <a:r>
              <a:rPr sz="1600" b="0">
                <a:solidFill>
                  <a:srgbClr val="555F6D"/>
                </a:solidFill>
              </a:rPr>
              <a:t>. L'AI agisce da sola solo con rischio ≤ 0.20.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Una decisione: AST-01148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Tier 3A · test T4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05" y="1234440"/>
            <a:ext cx="4803869" cy="530352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Cabina primaria del </a:t>
            </a:r>
            <a:r>
              <a:rPr sz="1600" b="1">
                <a:solidFill>
                  <a:srgbClr val="0B1F3A"/>
                </a:solidFill>
              </a:rPr>
              <a:t>Sud</a:t>
            </a:r>
            <a:r>
              <a:rPr sz="1600" b="0">
                <a:solidFill>
                  <a:srgbClr val="0B1F3A"/>
                </a:solidFill>
              </a:rPr>
              <a:t> che alimenta un'</a:t>
            </a:r>
            <a:r>
              <a:rPr sz="1600" b="1">
                <a:solidFill>
                  <a:srgbClr val="0B1F3A"/>
                </a:solidFill>
              </a:rPr>
              <a:t>utenza critica</a:t>
            </a:r>
            <a:r>
              <a:rPr sz="1600" b="0">
                <a:solidFill>
                  <a:srgbClr val="0B1F3A"/>
                </a:solidFill>
              </a:rPr>
              <a:t> → </a:t>
            </a:r>
            <a:r>
              <a:rPr sz="1600" b="1">
                <a:solidFill>
                  <a:srgbClr val="0B1F3A"/>
                </a:solidFill>
              </a:rPr>
              <a:t>HIC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Riquadro </a:t>
            </a:r>
            <a:r>
              <a:rPr sz="1600" b="1">
                <a:solidFill>
                  <a:srgbClr val="0B1F3A"/>
                </a:solidFill>
              </a:rPr>
              <a:t>"In parole semplici"</a:t>
            </a:r>
            <a:r>
              <a:rPr sz="1600" b="0">
                <a:solidFill>
                  <a:srgbClr val="0B1F3A"/>
                </a:solidFill>
              </a:rPr>
              <a:t>: semaforo, "circa 6 su 10", cosa fare.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Motivo principale: </a:t>
            </a:r>
            <a:r>
              <a:rPr sz="1600" b="1">
                <a:solidFill>
                  <a:srgbClr val="0B1F3A"/>
                </a:solidFill>
              </a:rPr>
              <a:t>vibrazione 8.7</a:t>
            </a:r>
            <a:r>
              <a:rPr sz="1600" b="0">
                <a:solidFill>
                  <a:srgbClr val="0B1F3A"/>
                </a:solidFill>
              </a:rPr>
              <a:t>, molto sopra la norma.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</a:rPr>
              <a:t>"E se..."</a:t>
            </a:r>
            <a:r>
              <a:rPr sz="1600" b="0">
                <a:solidFill>
                  <a:srgbClr val="0B1F3A"/>
                </a:solidFill>
              </a:rPr>
              <a:t>: con vibrazione nella media il rischio scenderebbe a 3 su 10.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</a:rPr>
              <a:t>Casi simili</a:t>
            </a:r>
            <a:r>
              <a:rPr sz="1600" b="0">
                <a:solidFill>
                  <a:srgbClr val="0B1F3A"/>
                </a:solidFill>
              </a:rPr>
              <a:t>: 3 su 3 si sono guastati.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Avviso: al Sud lo storico può </a:t>
            </a:r>
            <a:r>
              <a:rPr sz="1600" b="1">
                <a:solidFill>
                  <a:srgbClr val="0B1F3A"/>
                </a:solidFill>
              </a:rPr>
              <a:t>sottostimare</a:t>
            </a:r>
            <a:r>
              <a:rPr sz="1600" b="0">
                <a:solidFill>
                  <a:srgbClr val="0B1F3A"/>
                </a:solidFill>
              </a:rPr>
              <a:t> i guasti.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Giudizio umano: motivare, decidere, tracciare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Tier 2B · test T1 T2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98" y="1234440"/>
            <a:ext cx="6107083" cy="530352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Dettagli per l'esperto: i </a:t>
            </a:r>
            <a:r>
              <a:rPr sz="1600" b="1">
                <a:solidFill>
                  <a:srgbClr val="0B1F3A"/>
                </a:solidFill>
              </a:rPr>
              <a:t>3 fattori</a:t>
            </a:r>
            <a:r>
              <a:rPr sz="1600" b="0">
                <a:solidFill>
                  <a:srgbClr val="0B1F3A"/>
                </a:solidFill>
              </a:rPr>
              <a:t> tradotti in linguaggio operativo, con la </a:t>
            </a:r>
            <a:r>
              <a:rPr sz="1600" b="1">
                <a:solidFill>
                  <a:srgbClr val="0B1F3A"/>
                </a:solidFill>
              </a:rPr>
              <a:t>fonte</a:t>
            </a:r>
            <a:r>
              <a:rPr sz="1600" b="0">
                <a:solidFill>
                  <a:srgbClr val="0B1F3A"/>
                </a:solidFill>
              </a:rPr>
              <a:t> dichiarata.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L'LLM </a:t>
            </a:r>
            <a:r>
              <a:rPr sz="1600" b="1">
                <a:solidFill>
                  <a:srgbClr val="0B1F3A"/>
                </a:solidFill>
              </a:rPr>
              <a:t>traduce, non decide</a:t>
            </a:r>
            <a:r>
              <a:rPr sz="1600" b="0">
                <a:solidFill>
                  <a:srgbClr val="0B1F3A"/>
                </a:solidFill>
              </a:rPr>
              <a:t>: guardrail su numeri inventati e gergo, </a:t>
            </a:r>
            <a:r>
              <a:rPr sz="1600" b="1">
                <a:solidFill>
                  <a:srgbClr val="0B1F3A"/>
                </a:solidFill>
              </a:rPr>
              <a:t>fallback</a:t>
            </a:r>
            <a:r>
              <a:rPr sz="1600" b="0">
                <a:solidFill>
                  <a:srgbClr val="0B1F3A"/>
                </a:solidFill>
              </a:rPr>
              <a:t> automatico al template.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Quattro azioni: </a:t>
            </a:r>
            <a:r>
              <a:rPr sz="1600" b="1">
                <a:solidFill>
                  <a:srgbClr val="0B1F3A"/>
                </a:solidFill>
              </a:rPr>
              <a:t>approva · modifica · rifiuta · escalation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Motivazione </a:t>
            </a:r>
            <a:r>
              <a:rPr sz="1600" b="1">
                <a:solidFill>
                  <a:srgbClr val="0B1F3A"/>
                </a:solidFill>
              </a:rPr>
              <a:t>≥ 15 caratteri</a:t>
            </a:r>
            <a:r>
              <a:rPr sz="1600" b="0">
                <a:solidFill>
                  <a:srgbClr val="0B1F3A"/>
                </a:solidFill>
              </a:rPr>
              <a:t> e non fotocopia: "ok" viene respinto.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</a:rPr>
              <a:t>Un solo punto di esecuzione</a:t>
            </a:r>
            <a:r>
              <a:rPr sz="1600" b="0">
                <a:solidFill>
                  <a:srgbClr val="0B1F3A"/>
                </a:solidFill>
              </a:rPr>
              <a:t> (`_esegui`): rifiutata, in attesa o sotto stop non ci arriva.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SLA 30 minuti, poi </a:t>
            </a:r>
            <a:r>
              <a:rPr sz="1600" b="1">
                <a:solidFill>
                  <a:srgbClr val="0B1F3A"/>
                </a:solidFill>
              </a:rPr>
              <a:t>escalation</a:t>
            </a:r>
            <a:r>
              <a:rPr sz="1600" b="0">
                <a:solidFill>
                  <a:srgbClr val="0B1F3A"/>
                </a:solidFill>
              </a:rPr>
              <a:t>: mai eseguita in silenzio.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Nello screenshot l'LLM non era raggiungibile: la card resta spiegata e la fonte dice </a:t>
            </a:r>
            <a:r>
              <a:rPr sz="1600" b="1">
                <a:solidFill>
                  <a:srgbClr val="0B1F3A"/>
                </a:solidFill>
              </a:rPr>
              <a:t>template(fallback)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Fermare il sistema, anche solo in parte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Tier 2C · test T3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498079" cy="4678801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46719" y="1280160"/>
            <a:ext cx="3749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Stop </a:t>
            </a:r>
            <a:r>
              <a:rPr sz="1600" b="1">
                <a:solidFill>
                  <a:srgbClr val="0B1F3A"/>
                </a:solidFill>
              </a:rPr>
              <a:t>globale, per area, per tipo</a:t>
            </a:r>
            <a:r>
              <a:rPr sz="1600" b="0">
                <a:solidFill>
                  <a:srgbClr val="0B1F3A"/>
                </a:solidFill>
              </a:rPr>
              <a:t> di asset o </a:t>
            </a:r>
            <a:r>
              <a:rPr sz="1600" b="1">
                <a:solidFill>
                  <a:srgbClr val="0B1F3A"/>
                </a:solidFill>
              </a:rPr>
              <a:t>combinato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Esempio: </a:t>
            </a:r>
            <a:r>
              <a:rPr sz="1600" b="1">
                <a:solidFill>
                  <a:srgbClr val="0B1F3A"/>
                </a:solidFill>
              </a:rPr>
              <a:t>area:Sud + tipo:linea_AT</a:t>
            </a:r>
            <a:r>
              <a:rPr sz="1600" b="0">
                <a:solidFill>
                  <a:srgbClr val="0B1F3A"/>
                </a:solidFill>
              </a:rPr>
              <a:t>, il resto continua.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</a:rPr>
              <a:t>Un click più una conferma</a:t>
            </a:r>
            <a:r>
              <a:rPr sz="1600" b="0">
                <a:solidFill>
                  <a:srgbClr val="0B1F3A"/>
                </a:solidFill>
              </a:rPr>
              <a:t>, con motivazione.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Blocca le </a:t>
            </a:r>
            <a:r>
              <a:rPr sz="1600" b="1">
                <a:solidFill>
                  <a:srgbClr val="0B1F3A"/>
                </a:solidFill>
              </a:rPr>
              <a:t>nuove</a:t>
            </a:r>
            <a:r>
              <a:rPr sz="1600" b="0">
                <a:solidFill>
                  <a:srgbClr val="0B1F3A"/>
                </a:solidFill>
              </a:rPr>
              <a:t> decisioni e quelle </a:t>
            </a:r>
            <a:r>
              <a:rPr sz="1600" b="1">
                <a:solidFill>
                  <a:srgbClr val="0B1F3A"/>
                </a:solidFill>
              </a:rPr>
              <a:t>già in coda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Banner rosso in ogni schermata finché è attivo.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Sblocco solo con un </a:t>
            </a:r>
            <a:r>
              <a:rPr sz="1600" b="1">
                <a:solidFill>
                  <a:srgbClr val="0B1F3A"/>
                </a:solidFill>
              </a:rPr>
              <a:t>secondo operatore</a:t>
            </a:r>
            <a:r>
              <a:rPr sz="1600" b="0">
                <a:solidFill>
                  <a:srgbClr val="0B1F3A"/>
                </a:solidFill>
              </a:rPr>
              <a:t>; le decisioni bloccate non ripartono da sole.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Audit trail: chi, cosa, quando, perché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Art. 12 · test T6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234" y="1234440"/>
            <a:ext cx="4990812" cy="530352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Ricostruzione di una decisione </a:t>
            </a:r>
            <a:r>
              <a:rPr sz="1600" b="1">
                <a:solidFill>
                  <a:srgbClr val="0B1F3A"/>
                </a:solidFill>
              </a:rPr>
              <a:t>in pochi secondi</a:t>
            </a:r>
            <a:r>
              <a:rPr sz="1600" b="0">
                <a:solidFill>
                  <a:srgbClr val="0B1F3A"/>
                </a:solidFill>
              </a:rPr>
              <a:t>, senza aprire file.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Ogni record contiene l'</a:t>
            </a:r>
            <a:r>
              <a:rPr sz="1600" b="1">
                <a:solidFill>
                  <a:srgbClr val="0B1F3A"/>
                </a:solidFill>
              </a:rPr>
              <a:t>hash del precedente</a:t>
            </a:r>
            <a:r>
              <a:rPr sz="1600" b="0">
                <a:solidFill>
                  <a:srgbClr val="0B1F3A"/>
                </a:solidFill>
              </a:rPr>
              <a:t>: modificare una riga rompe la catena.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Integrità </a:t>
            </a:r>
            <a:r>
              <a:rPr sz="1600" b="1">
                <a:solidFill>
                  <a:srgbClr val="0B1F3A"/>
                </a:solidFill>
              </a:rPr>
              <a:t>sempre visibile</a:t>
            </a:r>
            <a:r>
              <a:rPr sz="1600" b="0">
                <a:solidFill>
                  <a:srgbClr val="0B1F3A"/>
                </a:solidFill>
              </a:rPr>
              <a:t> in ogni schermata.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Filtri per asset, operatore, periodo; </a:t>
            </a:r>
            <a:r>
              <a:rPr sz="1600" b="1">
                <a:solidFill>
                  <a:srgbClr val="0B1F3A"/>
                </a:solidFill>
              </a:rPr>
              <a:t>export</a:t>
            </a:r>
            <a:r>
              <a:rPr sz="1600" b="0">
                <a:solidFill>
                  <a:srgbClr val="0B1F3A"/>
                </a:solidFill>
              </a:rPr>
              <a:t> CSV e JSONL per l'auditor.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</a:rPr>
              <a:t>Limite: chi riscrive </a:t>
            </a:r>
            <a:r>
              <a:rPr sz="1600" b="1">
                <a:solidFill>
                  <a:srgbClr val="0B1F3A"/>
                </a:solidFill>
              </a:rPr>
              <a:t>tutta</a:t>
            </a:r>
            <a:r>
              <a:rPr sz="1600" b="0">
                <a:solidFill>
                  <a:srgbClr val="0B1F3A"/>
                </a:solidFill>
              </a:rPr>
              <a:t> la catena non viene scoperto → serve hash con chiave o ancorato fuori.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Cosa abbiamo trovato nei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Art. 10 · test T5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</a:rPr>
              <a:t>1 · Al Sud: bias nelle etichette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Sud e Isole: asset quasi </a:t>
            </a:r>
            <a:r>
              <a:rPr sz="1600" b="1">
                <a:solidFill>
                  <a:srgbClr val="0B1F3A"/>
                </a:solidFill>
              </a:rPr>
              <a:t>identici</a:t>
            </a:r>
            <a:r>
              <a:rPr sz="1600" b="0">
                <a:solidFill>
                  <a:srgbClr val="0B1F3A"/>
                </a:solidFill>
              </a:rPr>
              <a:t> (età 23 vs 25 anni, sensori uguali).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Guasti registrati </a:t>
            </a:r>
            <a:r>
              <a:rPr sz="1600" b="1">
                <a:solidFill>
                  <a:srgbClr val="0B1F3A"/>
                </a:solidFill>
              </a:rPr>
              <a:t>0.24 vs 0.45</a:t>
            </a:r>
            <a:r>
              <a:rPr sz="1600" b="0">
                <a:solidFill>
                  <a:srgbClr val="0B1F3A"/>
                </a:solidFill>
              </a:rPr>
              <a:t>; oltre i 25 anni </a:t>
            </a:r>
            <a:r>
              <a:rPr sz="1600" b="1">
                <a:solidFill>
                  <a:srgbClr val="0B1F3A"/>
                </a:solidFill>
              </a:rPr>
              <a:t>0.28 vs 0.54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Il modello si aspetta molto più di quanto è registrato: scarto di calibrazione </a:t>
            </a:r>
            <a:r>
              <a:rPr sz="1600" b="1">
                <a:solidFill>
                  <a:srgbClr val="0B1F3A"/>
                </a:solidFill>
              </a:rPr>
              <a:t>0.18</a:t>
            </a:r>
            <a:r>
              <a:rPr sz="1600" b="0">
                <a:solidFill>
                  <a:srgbClr val="0B1F3A"/>
                </a:solidFill>
              </a:rPr>
              <a:t>, unica area.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Scarto forte su </a:t>
            </a:r>
            <a:r>
              <a:rPr sz="1600" b="1">
                <a:solidFill>
                  <a:srgbClr val="0B1F3A"/>
                </a:solidFill>
              </a:rPr>
              <a:t>trasformatori e utenze standard</a:t>
            </a:r>
            <a:r>
              <a:rPr sz="1600" b="0">
                <a:solidFill>
                  <a:srgbClr val="0B1F3A"/>
                </a:solidFill>
              </a:rPr>
              <a:t>, quasi nullo sulle </a:t>
            </a:r>
            <a:r>
              <a:rPr sz="1600" b="1">
                <a:solidFill>
                  <a:srgbClr val="0B1F3A"/>
                </a:solidFill>
              </a:rPr>
              <a:t>critiche</a:t>
            </a:r>
            <a:r>
              <a:rPr sz="1600" b="0">
                <a:solidFill>
                  <a:srgbClr val="0B1F3A"/>
                </a:solidFill>
              </a:rPr>
              <a:t>: il guasto all'ospedale si registra sempre.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Ipotesi: </a:t>
            </a:r>
            <a:r>
              <a:rPr sz="1600" b="1">
                <a:solidFill>
                  <a:srgbClr val="0B1F3A"/>
                </a:solidFill>
              </a:rPr>
              <a:t>sotto-segnalazione</a:t>
            </a:r>
            <a:r>
              <a:rPr sz="1600" b="0">
                <a:solidFill>
                  <a:srgbClr val="0B1F3A"/>
                </a:solidFill>
              </a:rPr>
              <a:t> (alternativa: le Isole registrano di più).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</a:rPr>
              <a:t>2 · Nord e Centro: guasti senza segnali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Calibrazione </a:t>
            </a:r>
            <a:r>
              <a:rPr sz="1600" b="1">
                <a:solidFill>
                  <a:srgbClr val="0B1F3A"/>
                </a:solidFill>
              </a:rPr>
              <a:t>corretta</a:t>
            </a:r>
            <a:r>
              <a:rPr sz="1600" b="0">
                <a:solidFill>
                  <a:srgbClr val="0B1F3A"/>
                </a:solidFill>
              </a:rPr>
              <a:t>: non è un bias delle etichette.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Il modello manca </a:t>
            </a:r>
            <a:r>
              <a:rPr sz="1600" b="1">
                <a:solidFill>
                  <a:srgbClr val="0B1F3A"/>
                </a:solidFill>
              </a:rPr>
              <a:t>1 guasto su 4</a:t>
            </a:r>
            <a:r>
              <a:rPr sz="1600" b="0">
                <a:solidFill>
                  <a:srgbClr val="0B1F3A"/>
                </a:solidFill>
              </a:rPr>
              <a:t>: arriva senza anomalie nei sensori (vibrazione 2.8 vs 4.6).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Gruppo servito peggio: </a:t>
            </a:r>
            <a:r>
              <a:rPr sz="1600" b="1">
                <a:solidFill>
                  <a:srgbClr val="0B1F3A"/>
                </a:solidFill>
              </a:rPr>
              <a:t>utenze standard di Nord e Centro</a:t>
            </a:r>
            <a:r>
              <a:rPr sz="1600" b="0">
                <a:solidFill>
                  <a:srgbClr val="0B1F3A"/>
                </a:solidFill>
              </a:rPr>
              <a:t>, recall 0.65-0.68.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Qui non si corregge il dato: si </a:t>
            </a:r>
            <a:r>
              <a:rPr sz="1600" b="1">
                <a:solidFill>
                  <a:srgbClr val="0B1F3A"/>
                </a:solidFill>
              </a:rPr>
              <a:t>aggiunge supervisione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Cosa abbiamo fatto, e quanto ha funzionato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Tier 3B-3C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a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6" y="1234440"/>
            <a:ext cx="5090868" cy="274320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406640" y="12801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1">
                <a:solidFill>
                  <a:srgbClr val="0B1F3A"/>
                </a:solidFill>
              </a:rPr>
              <a:t>Area fuori dal modello</a:t>
            </a:r>
            <a:r>
              <a:rPr sz="1600" b="0">
                <a:solidFill>
                  <a:srgbClr val="0B1F3A"/>
                </a:solidFill>
              </a:rPr>
              <a:t> (faceva da proxy): gap di recall tra aree </a:t>
            </a:r>
            <a:r>
              <a:rPr sz="1600" b="1">
                <a:solidFill>
                  <a:srgbClr val="0B1F3A"/>
                </a:solidFill>
              </a:rPr>
              <a:t>0.41 → 0.22</a:t>
            </a:r>
            <a:r>
              <a:rPr sz="16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Ma rientra indirettamente: età e manutenzioni la indovinano nel </a:t>
            </a:r>
            <a:r>
              <a:rPr sz="1600" b="1">
                <a:solidFill>
                  <a:srgbClr val="0B1F3A"/>
                </a:solidFill>
              </a:rPr>
              <a:t>58%</a:t>
            </a:r>
            <a:r>
              <a:rPr sz="1600" b="0">
                <a:solidFill>
                  <a:srgbClr val="0B1F3A"/>
                </a:solidFill>
              </a:rPr>
              <a:t> dei casi.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1">
                <a:solidFill>
                  <a:srgbClr val="0B1F3A"/>
                </a:solidFill>
              </a:rPr>
              <a:t>Soglia del Sud non alzata</a:t>
            </a:r>
            <a:r>
              <a:rPr sz="1600" b="0">
                <a:solidFill>
                  <a:srgbClr val="0B1F3A"/>
                </a:solidFill>
              </a:rPr>
              <a:t>: i "falsi allarmi" possono essere guasti veri (recall 0.88 → 0.65 se la alzassimo).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1">
                <a:solidFill>
                  <a:srgbClr val="0B1F3A"/>
                </a:solidFill>
              </a:rPr>
              <a:t>Allerta che agisce</a:t>
            </a:r>
            <a:r>
              <a:rPr sz="1600" b="0">
                <a:solidFill>
                  <a:srgbClr val="0B1F3A"/>
                </a:solidFill>
              </a:rPr>
              <a:t>: scarto &gt; 0.10 → l'area passa a HITL. Al Sud l'AI non esegue mai da sola.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Nord e Centro: ispezioni di routine in HITL sopra 0.10 → guasti auto-eseguiti </a:t>
            </a:r>
            <a:r>
              <a:rPr sz="1600" b="1">
                <a:solidFill>
                  <a:srgbClr val="0B1F3A"/>
                </a:solidFill>
              </a:rPr>
              <a:t>6 → 2</a:t>
            </a:r>
            <a:r>
              <a:rPr sz="1600" b="0">
                <a:solidFill>
                  <a:srgbClr val="0B1F3A"/>
                </a:solidFill>
              </a:rPr>
              <a:t>, al costo di </a:t>
            </a:r>
            <a:r>
              <a:rPr sz="1600" b="1">
                <a:solidFill>
                  <a:srgbClr val="0B1F3A"/>
                </a:solidFill>
              </a:rPr>
              <a:t>83 revisioni</a:t>
            </a:r>
            <a:r>
              <a:rPr sz="1600" b="0">
                <a:solidFill>
                  <a:srgbClr val="0B1F3A"/>
                </a:solidFill>
              </a:rPr>
              <a:t> in più.</a:t>
            </a:r>
          </a:p>
        </p:txBody>
      </p:sp>
      <p:pic>
        <p:nvPicPr>
          <p:cNvPr id="8" name="Picture 7" descr="bias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649" y="4114800"/>
            <a:ext cx="4192782" cy="260604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Segnali, non prove: incertezza e gruppi incrociati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D-44 · D-45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a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577840" cy="2753971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pic>
        <p:nvPicPr>
          <p:cNvPr id="7" name="Picture 6" descr="bias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669280" cy="4148946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4805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Solo </a:t>
            </a:r>
            <a:r>
              <a:rPr sz="1600" b="1">
                <a:solidFill>
                  <a:srgbClr val="0B1F3A"/>
                </a:solidFill>
              </a:rPr>
              <a:t>24-43 guasti per area</a:t>
            </a:r>
            <a:r>
              <a:rPr sz="1600" b="0">
                <a:solidFill>
                  <a:srgbClr val="0B1F3A"/>
                </a:solidFill>
              </a:rPr>
              <a:t>: intervalli di confidenza larghi e sovrapposti.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Un gruppo può stare bene su ogni asse e male nell'</a:t>
            </a:r>
            <a:r>
              <a:rPr sz="1600" b="1">
                <a:solidFill>
                  <a:srgbClr val="0B1F3A"/>
                </a:solidFill>
              </a:rPr>
              <a:t>incrocio</a:t>
            </a:r>
            <a:r>
              <a:rPr sz="1600" b="0">
                <a:solidFill>
                  <a:srgbClr val="0B1F3A"/>
                </a:solidFill>
              </a:rPr>
              <a:t>: utenze standard di Nord e Centro.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Monitoraggio continuo e KPI di supervisione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Art. 14(1)-(2)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ias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83" y="1234440"/>
            <a:ext cx="5299433" cy="356616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pic>
        <p:nvPicPr>
          <p:cNvPr id="7" name="Picture 6" descr="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03" y="1234440"/>
            <a:ext cx="5234513" cy="4572000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9377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6CBD"/>
                </a:solidFill>
              </a:rPr>
              <a:t>•  </a:t>
            </a:r>
            <a:r>
              <a:rPr sz="1500" b="0">
                <a:solidFill>
                  <a:srgbClr val="0B1F3A"/>
                </a:solidFill>
              </a:rPr>
              <a:t>Drift su </a:t>
            </a:r>
            <a:r>
              <a:rPr sz="1500" b="1">
                <a:solidFill>
                  <a:srgbClr val="0B1F3A"/>
                </a:solidFill>
              </a:rPr>
              <a:t>12 settimane simulate</a:t>
            </a:r>
            <a:r>
              <a:rPr sz="1500" b="0">
                <a:solidFill>
                  <a:srgbClr val="0B1F3A"/>
                </a:solidFill>
              </a:rPr>
              <a:t>: se l'accuracy cala due settimane di fila, si spegne l'automazione.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6CBD"/>
                </a:solidFill>
              </a:rPr>
              <a:t>•  </a:t>
            </a:r>
            <a:r>
              <a:rPr sz="1500" b="0">
                <a:solidFill>
                  <a:srgbClr val="0B1F3A"/>
                </a:solidFill>
              </a:rPr>
              <a:t>Override per area e per revisore: chi approva </a:t>
            </a:r>
            <a:r>
              <a:rPr sz="1500" b="1">
                <a:solidFill>
                  <a:srgbClr val="0B1F3A"/>
                </a:solidFill>
              </a:rPr>
              <a:t>senza leggere</a:t>
            </a:r>
            <a:r>
              <a:rPr sz="1500" b="0">
                <a:solidFill>
                  <a:srgbClr val="0B1F3A"/>
                </a:solidFill>
              </a:rPr>
              <a:t> si vede.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9436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55F6D"/>
                </a:solidFill>
              </a:rPr>
              <a:t>Screenshot a sessione appena avviata: i KPI sulle revisioni (A2-A4) sono n/d finché nessuno decide.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Cosa NON abbiamo risolto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10% del punteggio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0">
                <a:solidFill>
                  <a:srgbClr val="0B1F3A"/>
                </a:solidFill>
              </a:rPr>
              <a:t>La sotto-segnalazione al Sud è un'</a:t>
            </a:r>
            <a:r>
              <a:rPr sz="1900" b="1">
                <a:solidFill>
                  <a:srgbClr val="0B1F3A"/>
                </a:solidFill>
              </a:rPr>
              <a:t>ipotesi</a:t>
            </a:r>
            <a:r>
              <a:rPr sz="1900" b="0">
                <a:solidFill>
                  <a:srgbClr val="0B1F3A"/>
                </a:solidFill>
              </a:rPr>
              <a:t>: serve una verifica sul campo.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0">
                <a:solidFill>
                  <a:srgbClr val="0B1F3A"/>
                </a:solidFill>
              </a:rPr>
              <a:t>Al Nord e al Centro un guasto su quattro arriva </a:t>
            </a:r>
            <a:r>
              <a:rPr sz="1900" b="1">
                <a:solidFill>
                  <a:srgbClr val="0B1F3A"/>
                </a:solidFill>
              </a:rPr>
              <a:t>senza segnali nei sensori</a:t>
            </a:r>
            <a:r>
              <a:rPr sz="1900" b="0">
                <a:solidFill>
                  <a:srgbClr val="0B1F3A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1">
                <a:solidFill>
                  <a:srgbClr val="0B1F3A"/>
                </a:solidFill>
              </a:rPr>
              <a:t>183 ispezioni inutili</a:t>
            </a:r>
            <a:r>
              <a:rPr sz="1900" b="0">
                <a:solidFill>
                  <a:srgbClr val="0B1F3A"/>
                </a:solidFill>
              </a:rPr>
              <a:t> su 720: il prezzo di un recall più alto; costo 10:1 ipotizzato.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0">
                <a:solidFill>
                  <a:srgbClr val="0B1F3A"/>
                </a:solidFill>
              </a:rPr>
              <a:t>La correzione del bias è affidata all'</a:t>
            </a:r>
            <a:r>
              <a:rPr sz="1900" b="1">
                <a:solidFill>
                  <a:srgbClr val="0B1F3A"/>
                </a:solidFill>
              </a:rPr>
              <a:t>umano</a:t>
            </a:r>
            <a:r>
              <a:rPr sz="1900" b="0">
                <a:solidFill>
                  <a:srgbClr val="0B1F3A"/>
                </a:solidFill>
              </a:rPr>
              <a:t>: se approva tutto, la promozione a HITL serve a poco.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1">
                <a:solidFill>
                  <a:srgbClr val="0B1F3A"/>
                </a:solidFill>
              </a:rPr>
              <a:t>Confidenza = max(p, 1−p)</a:t>
            </a:r>
            <a:r>
              <a:rPr sz="1900" b="0">
                <a:solidFill>
                  <a:srgbClr val="0B1F3A"/>
                </a:solidFill>
              </a:rPr>
              <a:t>: non aggiunge informazione rispetto alla probabilità.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1">
                <a:solidFill>
                  <a:srgbClr val="0B1F3A"/>
                </a:solidFill>
              </a:rPr>
              <a:t>Drift simulato</a:t>
            </a:r>
            <a:r>
              <a:rPr sz="1900" b="0">
                <a:solidFill>
                  <a:srgbClr val="0B1F3A"/>
                </a:solidFill>
              </a:rPr>
              <a:t>, revisori non differenziati per competenza, </a:t>
            </a:r>
            <a:r>
              <a:rPr sz="1900" b="1">
                <a:solidFill>
                  <a:srgbClr val="0B1F3A"/>
                </a:solidFill>
              </a:rPr>
              <a:t>2 guasti</a:t>
            </a:r>
            <a:r>
              <a:rPr sz="1900" b="0">
                <a:solidFill>
                  <a:srgbClr val="0B1F3A"/>
                </a:solidFill>
              </a:rPr>
              <a:t> nelle Isole ancora automatici.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F6CBD"/>
                </a:solidFill>
              </a:rPr>
              <a:t>•  </a:t>
            </a:r>
            <a:r>
              <a:rPr sz="1900" b="0">
                <a:solidFill>
                  <a:srgbClr val="0B1F3A"/>
                </a:solidFill>
              </a:rPr>
              <a:t>Catena di hash </a:t>
            </a:r>
            <a:r>
              <a:rPr sz="1900" b="1">
                <a:solidFill>
                  <a:srgbClr val="0B1F3A"/>
                </a:solidFill>
              </a:rPr>
              <a:t>senza chiave</a:t>
            </a:r>
            <a:r>
              <a:rPr sz="1900" b="0">
                <a:solidFill>
                  <a:srgbClr val="0B1F3A"/>
                </a:solidFill>
              </a:rPr>
              <a:t>: una riscrittura completa del log non verrebbe rilevata.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AI Act: ruoli e domande aperte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74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C9D8EA"/>
                </a:solidFill>
              </a:rPr>
              <a:t>Discussione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Provider</a:t>
            </a:r>
            <a:r>
              <a:rPr sz="1700" b="0">
                <a:solidFill>
                  <a:srgbClr val="0B1F3A"/>
                </a:solidFill>
              </a:rPr>
              <a:t>: chi sviluppa il sistema. Dati, documentazione, logging, supervisione by design, conformità, monitoraggio post-mercato, incidenti gravi (Art. 9-17, 43, 72-73).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B1F3A"/>
                </a:solidFill>
              </a:rPr>
              <a:t>Deployer</a:t>
            </a:r>
            <a:r>
              <a:rPr sz="1700" b="0">
                <a:solidFill>
                  <a:srgbClr val="0B1F3A"/>
                </a:solidFill>
              </a:rPr>
              <a:t>: l'operatore di rete. Persone formate, uso conforme, log conservati ≥ 6 mesi, informativa ai lavoratori (Art. 26).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</a:rPr>
              <a:t>Sviluppo interno → la stessa azienda è </a:t>
            </a:r>
            <a:r>
              <a:rPr sz="1700" b="1">
                <a:solidFill>
                  <a:srgbClr val="0B1F3A"/>
                </a:solidFill>
              </a:rPr>
              <a:t>entrambi</a:t>
            </a:r>
            <a:r>
              <a:rPr sz="1700" b="0">
                <a:solidFill>
                  <a:srgbClr val="0B1F3A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</a:rPr>
              <a:t>Spunti per la discussione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Un sistema che </a:t>
            </a:r>
            <a:r>
              <a:rPr sz="1600" b="1">
                <a:solidFill>
                  <a:srgbClr val="0B1F3A"/>
                </a:solidFill>
              </a:rPr>
              <a:t>raccomanda</a:t>
            </a:r>
            <a:r>
              <a:rPr sz="1600" b="0">
                <a:solidFill>
                  <a:srgbClr val="0B1F3A"/>
                </a:solidFill>
              </a:rPr>
              <a:t> è davvero ad alto rischio? (Art. 6(3))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Misurare il rubber-stamping per revisore è </a:t>
            </a:r>
            <a:r>
              <a:rPr sz="1600" b="1">
                <a:solidFill>
                  <a:srgbClr val="0B1F3A"/>
                </a:solidFill>
              </a:rPr>
              <a:t>controllo dei lavoratori</a:t>
            </a:r>
            <a:r>
              <a:rPr sz="1600" b="0">
                <a:solidFill>
                  <a:srgbClr val="0B1F3A"/>
                </a:solidFill>
              </a:rPr>
              <a:t>? (Art. 26(7), Statuto art. 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Il bias </a:t>
            </a:r>
            <a:r>
              <a:rPr sz="1600" b="1">
                <a:solidFill>
                  <a:srgbClr val="0B1F3A"/>
                </a:solidFill>
              </a:rPr>
              <a:t>territoriale</a:t>
            </a:r>
            <a:r>
              <a:rPr sz="1600" b="0">
                <a:solidFill>
                  <a:srgbClr val="0B1F3A"/>
                </a:solidFill>
              </a:rPr>
              <a:t> tocca diritti fondamentali, ma la FRIA non è richiesta (Art. 27).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6CBD"/>
                </a:solidFill>
              </a:rPr>
              <a:t>•  </a:t>
            </a:r>
            <a:r>
              <a:rPr sz="1600" b="0">
                <a:solidFill>
                  <a:srgbClr val="0B1F3A"/>
                </a:solidFill>
              </a:rPr>
              <a:t>Dati di infrastruttura critica a un </a:t>
            </a:r>
            <a:r>
              <a:rPr sz="1600" b="1">
                <a:solidFill>
                  <a:srgbClr val="0B1F3A"/>
                </a:solidFill>
              </a:rPr>
              <a:t>LLM cloud</a:t>
            </a:r>
            <a:r>
              <a:rPr sz="1600" b="0">
                <a:solidFill>
                  <a:srgbClr val="0B1F3A"/>
                </a:solidFill>
              </a:rPr>
              <a:t>: riservatezza e dipendenza.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</a:rPr>
              <a:t>In un'infrastruttura critica un sistema accurato ma non supervisionabile è pericoloso.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C9D8EA"/>
                </a:solidFill>
              </a:rPr>
              <a:t>EnerGuard lascia all'umano le decisioni che contano, e lo rende misurabile.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C9D8EA"/>
                </a:solidFill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