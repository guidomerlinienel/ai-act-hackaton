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Buongiorno, siamo il team EnerGuard.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guasto mancato su una cabina che alimenta un ospedale non si recupera; un'ispezione inutile costa qualche ora. I quattro verbi sono quelli dell'Art. 14: ogni parte della dashboard risponde ad almeno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 di entrare nel merito, le parole tecniche che useremo, spiegate senza gergo.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 dati storici abbiamo trovato due problemi diversi, e li trattiamo in modo diverso. Il primo è al Sud. Paragone: due ospedali con pazienti identici, uno registra 45 ricoveri su 100 e l'altro 24. Non sono più sani: probabilmente il secondo registra meno.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secondo problema non è un bias delle etichette: la calibrazione è corretta. Il modello manca guasti che arrivano senza segnali.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 in alto l'operatore vede sempre lo stato. Lo stop è nella barra laterale, mai a più di un click.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HIC: decide solo l'umano. HITL: l'umano approva prima. HOTL: il sistema agisce, l'umano sorveglia. Le regole si leggono dall'alto: vale la prima che scatta.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Seguiamo una sola decisione. Il bias che abbiamo visto prima si vede anche qui: l'avviso sul Sud è nella card. Il modello non si corregge da solo: lo compensiamo con la supervisione.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Proviamo a rifiutare con ok: respinto. Con una motivazione vera la decisione esce dalla coda e non viene eseguita. Nota onesta: nei dati storici questa cabina si è guastata davvero. Il rifiuto dimostra il blocco, non che fosse la scelta giusta.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incidente sulle linee AT del Sud. Fermiamo solo queste: un click più una conferma.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 ha deciso, cosa, quando e perché: lo ricostruiamo in pochi secondi.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Quattro mosse, ognuna con un effetto misurato. Il punto chiave: non abbiamo corretto il modello, abbiamo messo le persone dove il modello è meno affidabile.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24-43 guasti per area le differenze sono segnali da monitorare, non prove. Per questo li usiamo per aumentare la supervisione, non per cambiare il modello.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monitoraggio è continuo. Il sistema misura anche la propria supervisione: questi numeri vengono dalla dashboard dopo 17 decisioni reali.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di oversight che non misura la propria supervisione non è supervisionabile. Ma misurare i revisori è anche controllo dei lavoratori.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limite dichiarato vale più di uno scoperto. Elenco completo nell'allegato della relazione d'impatto.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Domanda finale della guida: chi è provider e chi deployer. Poi alcuni spunti che non hanno una risposta unica.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Abbiamo già provato i sei test della giuria, dieci verifiche su dieci. Siamo pronti per le vostre domande.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246120"/>
            <a:ext cx="228600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515600" cy="1097280"/>
          </a:xfrm>
          <a:prstGeom prst="rect">
            <a:avLst/>
          </a:prstGeom>
          <a:noFill/>
        </p:spPr>
        <p:txBody>
          <a:bodyPr wrap="square">
            <a:spAutoFit/>
          </a:bodyPr>
          <a:lstStyle/>
          <a:p>
            <a:pPr>
              <a:spcAft>
                <a:spcPts val="800"/>
              </a:spcAft>
            </a:pPr>
            <a:r>
              <a:rPr sz="5400" b="1">
                <a:solidFill>
                  <a:srgbClr val="FFFFFF"/>
                </a:solidFill>
              </a:rPr>
              <a:t>EnerGuard</a:t>
            </a:r>
          </a:p>
        </p:txBody>
      </p:sp>
      <p:sp>
        <p:nvSpPr>
          <p:cNvPr id="5" name="TextBox 4"/>
          <p:cNvSpPr txBox="1"/>
          <p:nvPr/>
        </p:nvSpPr>
        <p:spPr>
          <a:xfrm>
            <a:off x="731520" y="2377440"/>
            <a:ext cx="10515600" cy="914400"/>
          </a:xfrm>
          <a:prstGeom prst="rect">
            <a:avLst/>
          </a:prstGeom>
          <a:noFill/>
        </p:spPr>
        <p:txBody>
          <a:bodyPr wrap="square">
            <a:spAutoFit/>
          </a:bodyPr>
          <a:lstStyle/>
          <a:p>
            <a:pPr>
              <a:spcAft>
                <a:spcPts val="800"/>
              </a:spcAft>
            </a:pPr>
            <a:r>
              <a:rPr sz="2400" b="0">
                <a:solidFill>
                  <a:srgbClr val="C9D8EA"/>
                </a:solidFill>
              </a:rPr>
              <a:t>Manutenzione predittiva che un essere umano può capire, monitorare, correggere e fermare</a:t>
            </a:r>
          </a:p>
        </p:txBody>
      </p:sp>
      <p:sp>
        <p:nvSpPr>
          <p:cNvPr id="6" name="TextBox 5"/>
          <p:cNvSpPr txBox="1"/>
          <p:nvPr/>
        </p:nvSpPr>
        <p:spPr>
          <a:xfrm>
            <a:off x="731520" y="3566160"/>
            <a:ext cx="10515600" cy="1371600"/>
          </a:xfrm>
          <a:prstGeom prst="rect">
            <a:avLst/>
          </a:prstGeom>
          <a:noFill/>
        </p:spPr>
        <p:txBody>
          <a:bodyPr wrap="square">
            <a:spAutoFit/>
          </a:bodyPr>
          <a:lstStyle/>
          <a:p>
            <a:pPr>
              <a:spcAft>
                <a:spcPts val="800"/>
              </a:spcAft>
            </a:pPr>
            <a:r>
              <a:rPr sz="1800" b="0">
                <a:solidFill>
                  <a:srgbClr val="FFFFFF"/>
                </a:solidFill>
              </a:rPr>
              <a:t>Gruppo 3 · AI for Human Oversight · Modulo 4</a:t>
            </a:r>
          </a:p>
          <a:p>
            <a:pPr>
              <a:spcAft>
                <a:spcPts val="800"/>
              </a:spcAft>
            </a:pPr>
            <a:r>
              <a:rPr sz="1800" b="0">
                <a:solidFill>
                  <a:srgbClr val="FFFFFF"/>
                </a:solidFill>
              </a:rPr>
              <a:t>Hackathon Deloitte × ENEL FNC · 7 ottobre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Lo scenario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AI Act · Allegato III p.2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6035040" cy="5120640"/>
          </a:xfrm>
          <a:prstGeom prst="rect">
            <a:avLst/>
          </a:prstGeom>
          <a:noFill/>
        </p:spPr>
        <p:txBody>
          <a:bodyPr wrap="square">
            <a:spAutoFit/>
          </a:bodyPr>
          <a:lstStyle/>
          <a:p>
            <a:pPr>
              <a:spcAft>
                <a:spcPts val="800"/>
              </a:spcAft>
            </a:pPr>
            <a:r>
              <a:rPr sz="1800" b="0">
                <a:solidFill>
                  <a:srgbClr val="0B1F3A"/>
                </a:solidFill>
              </a:rPr>
              <a:t>Un sistema legge i sensori della rete elettrica e stima, per ogni impianto, la probabilità che </a:t>
            </a:r>
            <a:r>
              <a:rPr sz="1800" b="1">
                <a:solidFill>
                  <a:srgbClr val="0B1F3A"/>
                </a:solidFill>
              </a:rPr>
              <a:t>si guasti entro 30 giorni</a:t>
            </a:r>
            <a:r>
              <a:rPr sz="1800" b="0">
                <a:solidFill>
                  <a:srgbClr val="0B1F3A"/>
                </a:solidFill>
              </a:rPr>
              <a:t>. Poi propone cosa fare: niente, un controllo, una manutenzione.</a:t>
            </a:r>
          </a:p>
          <a:p>
            <a:pPr>
              <a:spcAft>
                <a:spcPts val="800"/>
              </a:spcAft>
            </a:pPr>
            <a:r>
              <a:rPr sz="1800" b="0">
                <a:solidFill>
                  <a:srgbClr val="0B1F3A"/>
                </a:solidFill>
              </a:rPr>
              <a:t>Per l'AI Act è </a:t>
            </a:r>
            <a:r>
              <a:rPr sz="1800" b="1">
                <a:solidFill>
                  <a:srgbClr val="0B1F3A"/>
                </a:solidFill>
              </a:rPr>
              <a:t>ad alto rischio</a:t>
            </a:r>
            <a:r>
              <a:rPr sz="1800" b="0">
                <a:solidFill>
                  <a:srgbClr val="0B1F3A"/>
                </a:solidFill>
              </a:rPr>
              <a:t>: tocca la fornitura di elettricità, anche a ospedali.</a:t>
            </a:r>
          </a:p>
          <a:p>
            <a:pPr>
              <a:spcAft>
                <a:spcPts val="800"/>
              </a:spcAft>
            </a:pPr>
            <a:r>
              <a:rPr sz="1800" b="0">
                <a:solidFill>
                  <a:srgbClr val="0B1F3A"/>
                </a:solidFill>
              </a:rPr>
              <a:t>Un guasto non visto su una cabina che alimenta un ospedale costa circa </a:t>
            </a:r>
            <a:r>
              <a:rPr sz="1800" b="1">
                <a:solidFill>
                  <a:srgbClr val="0B1F3A"/>
                </a:solidFill>
              </a:rPr>
              <a:t>10 volte</a:t>
            </a:r>
            <a:r>
              <a:rPr sz="1800" b="0">
                <a:solidFill>
                  <a:srgbClr val="0B1F3A"/>
                </a:solidFill>
              </a:rPr>
              <a:t> una squadra mandata a vuoto. Per questo il sistema "suona l'allarme" presto: da </a:t>
            </a:r>
            <a:r>
              <a:rPr sz="1800" b="1">
                <a:solidFill>
                  <a:srgbClr val="0B1F3A"/>
                </a:solidFill>
              </a:rPr>
              <a:t>3 su 10</a:t>
            </a:r>
            <a:r>
              <a:rPr sz="1800" b="0">
                <a:solidFill>
                  <a:srgbClr val="0B1F3A"/>
                </a:solidFill>
              </a:rPr>
              <a:t> per le utenze normali, da </a:t>
            </a:r>
            <a:r>
              <a:rPr sz="1800" b="1">
                <a:solidFill>
                  <a:srgbClr val="0B1F3A"/>
                </a:solidFill>
              </a:rPr>
              <a:t>2 su 10</a:t>
            </a:r>
            <a:r>
              <a:rPr sz="1800" b="0">
                <a:solidFill>
                  <a:srgbClr val="0B1F3A"/>
                </a:solidFill>
              </a:rPr>
              <a:t> per quelle importanti.</a:t>
            </a:r>
          </a:p>
          <a:p>
            <a:pPr>
              <a:spcAft>
                <a:spcPts val="800"/>
              </a:spcAft>
            </a:pPr>
            <a:r>
              <a:rPr sz="1800" b="0">
                <a:solidFill>
                  <a:srgbClr val="0B1F3A"/>
                </a:solidFill>
              </a:rPr>
              <a:t>Non abbiamo cercato il modello perfetto: abbiamo costruito il modo per </a:t>
            </a:r>
            <a:r>
              <a:rPr sz="1800" b="1">
                <a:solidFill>
                  <a:srgbClr val="0B1F3A"/>
                </a:solidFill>
              </a:rPr>
              <a:t>tenerlo sotto controllo</a:t>
            </a:r>
            <a:r>
              <a:rPr sz="1800" b="0">
                <a:solidFill>
                  <a:srgbClr val="0B1F3A"/>
                </a:solidFill>
              </a:rPr>
              <a:t>.</a:t>
            </a:r>
          </a:p>
        </p:txBody>
      </p:sp>
      <p:sp>
        <p:nvSpPr>
          <p:cNvPr id="7" name="Rectangle 6"/>
          <p:cNvSpPr/>
          <p:nvPr/>
        </p:nvSpPr>
        <p:spPr>
          <a:xfrm>
            <a:off x="7040880" y="137160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40880" y="137160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0" y="1463040"/>
            <a:ext cx="4297680" cy="914400"/>
          </a:xfrm>
          <a:prstGeom prst="rect">
            <a:avLst/>
          </a:prstGeom>
          <a:noFill/>
        </p:spPr>
        <p:txBody>
          <a:bodyPr wrap="square">
            <a:spAutoFit/>
          </a:bodyPr>
          <a:lstStyle/>
          <a:p>
            <a:pPr>
              <a:spcAft>
                <a:spcPts val="800"/>
              </a:spcAft>
            </a:pPr>
            <a:r>
              <a:rPr sz="1700" b="1">
                <a:solidFill>
                  <a:srgbClr val="0B1F3A"/>
                </a:solidFill>
              </a:rPr>
              <a:t>CAPIRE</a:t>
            </a:r>
          </a:p>
          <a:p>
            <a:pPr>
              <a:spcAft>
                <a:spcPts val="800"/>
              </a:spcAft>
            </a:pPr>
            <a:r>
              <a:rPr sz="1700" b="0">
                <a:solidFill>
                  <a:srgbClr val="0B1F3A"/>
                </a:solidFill>
              </a:rPr>
              <a:t>perché il sistema propone una cosa, e quanto è sicuro</a:t>
            </a:r>
          </a:p>
        </p:txBody>
      </p:sp>
      <p:sp>
        <p:nvSpPr>
          <p:cNvPr id="10" name="Rectangle 9"/>
          <p:cNvSpPr/>
          <p:nvPr/>
        </p:nvSpPr>
        <p:spPr>
          <a:xfrm>
            <a:off x="7040880" y="260604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40880" y="260604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697480"/>
            <a:ext cx="4297680" cy="914400"/>
          </a:xfrm>
          <a:prstGeom prst="rect">
            <a:avLst/>
          </a:prstGeom>
          <a:noFill/>
        </p:spPr>
        <p:txBody>
          <a:bodyPr wrap="square">
            <a:spAutoFit/>
          </a:bodyPr>
          <a:lstStyle/>
          <a:p>
            <a:pPr>
              <a:spcAft>
                <a:spcPts val="800"/>
              </a:spcAft>
            </a:pPr>
            <a:r>
              <a:rPr sz="1700" b="1">
                <a:solidFill>
                  <a:srgbClr val="0B1F3A"/>
                </a:solidFill>
              </a:rPr>
              <a:t>MONITORARE</a:t>
            </a:r>
          </a:p>
          <a:p>
            <a:pPr>
              <a:spcAft>
                <a:spcPts val="800"/>
              </a:spcAft>
            </a:pPr>
            <a:r>
              <a:rPr sz="1700" b="0">
                <a:solidFill>
                  <a:srgbClr val="0B1F3A"/>
                </a:solidFill>
              </a:rPr>
              <a:t>se sbaglia di più in certe zone o nel tempo</a:t>
            </a:r>
          </a:p>
        </p:txBody>
      </p:sp>
      <p:sp>
        <p:nvSpPr>
          <p:cNvPr id="13" name="Rectangle 12"/>
          <p:cNvSpPr/>
          <p:nvPr/>
        </p:nvSpPr>
        <p:spPr>
          <a:xfrm>
            <a:off x="7040880" y="384048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40880" y="384048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3931920"/>
            <a:ext cx="4297680" cy="914400"/>
          </a:xfrm>
          <a:prstGeom prst="rect">
            <a:avLst/>
          </a:prstGeom>
          <a:noFill/>
        </p:spPr>
        <p:txBody>
          <a:bodyPr wrap="square">
            <a:spAutoFit/>
          </a:bodyPr>
          <a:lstStyle/>
          <a:p>
            <a:pPr>
              <a:spcAft>
                <a:spcPts val="800"/>
              </a:spcAft>
            </a:pPr>
            <a:r>
              <a:rPr sz="1700" b="1">
                <a:solidFill>
                  <a:srgbClr val="0B1F3A"/>
                </a:solidFill>
              </a:rPr>
              <a:t>INTERVENIRE</a:t>
            </a:r>
          </a:p>
          <a:p>
            <a:pPr>
              <a:spcAft>
                <a:spcPts val="800"/>
              </a:spcAft>
            </a:pPr>
            <a:r>
              <a:rPr sz="1700" b="0">
                <a:solidFill>
                  <a:srgbClr val="0B1F3A"/>
                </a:solidFill>
              </a:rPr>
              <a:t>approvare, correggere, rifiutare, chiedere aiuto</a:t>
            </a:r>
          </a:p>
        </p:txBody>
      </p:sp>
      <p:sp>
        <p:nvSpPr>
          <p:cNvPr id="16" name="Rectangle 15"/>
          <p:cNvSpPr/>
          <p:nvPr/>
        </p:nvSpPr>
        <p:spPr>
          <a:xfrm>
            <a:off x="7040880" y="507492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40880" y="507492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5166360"/>
            <a:ext cx="4297680" cy="914400"/>
          </a:xfrm>
          <a:prstGeom prst="rect">
            <a:avLst/>
          </a:prstGeom>
          <a:noFill/>
        </p:spPr>
        <p:txBody>
          <a:bodyPr wrap="square">
            <a:spAutoFit/>
          </a:bodyPr>
          <a:lstStyle/>
          <a:p>
            <a:pPr>
              <a:spcAft>
                <a:spcPts val="800"/>
              </a:spcAft>
            </a:pPr>
            <a:r>
              <a:rPr sz="1700" b="1">
                <a:solidFill>
                  <a:srgbClr val="0B1F3A"/>
                </a:solidFill>
              </a:rPr>
              <a:t>FERMARE</a:t>
            </a:r>
          </a:p>
          <a:p>
            <a:pPr>
              <a:spcAft>
                <a:spcPts val="800"/>
              </a:spcAft>
            </a:pPr>
            <a:r>
              <a:rPr sz="1700" b="0">
                <a:solidFill>
                  <a:srgbClr val="0B1F3A"/>
                </a:solidFill>
              </a:rPr>
              <a:t>tutto o solo una parte, con un click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Le parole che useremo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Glossario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25296"/>
            <a:ext cx="5349240" cy="914400"/>
          </a:xfrm>
          <a:prstGeom prst="rect">
            <a:avLst/>
          </a:prstGeom>
          <a:noFill/>
        </p:spPr>
        <p:txBody>
          <a:bodyPr wrap="square">
            <a:spAutoFit/>
          </a:bodyPr>
          <a:lstStyle/>
          <a:p>
            <a:pPr>
              <a:spcAft>
                <a:spcPts val="800"/>
              </a:spcAft>
            </a:pPr>
            <a:r>
              <a:rPr sz="1400" b="1">
                <a:solidFill>
                  <a:srgbClr val="0B1F3A"/>
                </a:solidFill>
              </a:rPr>
              <a:t>Recall ("quanti ne vede")</a:t>
            </a:r>
          </a:p>
          <a:p>
            <a:pPr>
              <a:spcAft>
                <a:spcPts val="800"/>
              </a:spcAft>
            </a:pPr>
            <a:r>
              <a:rPr sz="1400" b="0">
                <a:solidFill>
                  <a:srgbClr val="0B1F3A"/>
                </a:solidFill>
              </a:rPr>
              <a:t>Su 10 guasti veri, quanti il sistema ne segnala in anticipo. 8 su 10 = ne perde 2.</a:t>
            </a:r>
          </a:p>
        </p:txBody>
      </p:sp>
      <p:sp>
        <p:nvSpPr>
          <p:cNvPr id="9" name="Rectangle 8"/>
          <p:cNvSpPr/>
          <p:nvPr/>
        </p:nvSpPr>
        <p:spPr>
          <a:xfrm>
            <a:off x="617220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225296"/>
            <a:ext cx="5349240" cy="914400"/>
          </a:xfrm>
          <a:prstGeom prst="rect">
            <a:avLst/>
          </a:prstGeom>
          <a:noFill/>
        </p:spPr>
        <p:txBody>
          <a:bodyPr wrap="square">
            <a:spAutoFit/>
          </a:bodyPr>
          <a:lstStyle/>
          <a:p>
            <a:pPr>
              <a:spcAft>
                <a:spcPts val="800"/>
              </a:spcAft>
            </a:pPr>
            <a:r>
              <a:rPr sz="1400" b="1">
                <a:solidFill>
                  <a:srgbClr val="0B1F3A"/>
                </a:solidFill>
              </a:rPr>
              <a:t>Falso allarme</a:t>
            </a:r>
          </a:p>
          <a:p>
            <a:pPr>
              <a:spcAft>
                <a:spcPts val="800"/>
              </a:spcAft>
            </a:pPr>
            <a:r>
              <a:rPr sz="1400" b="0">
                <a:solidFill>
                  <a:srgbClr val="0B1F3A"/>
                </a:solidFill>
              </a:rPr>
              <a:t>Il sistema segnala un guasto che poi non c'è: una squadra va a vuoto.</a:t>
            </a:r>
          </a:p>
        </p:txBody>
      </p:sp>
      <p:sp>
        <p:nvSpPr>
          <p:cNvPr id="12" name="Rectangle 11"/>
          <p:cNvSpPr/>
          <p:nvPr/>
        </p:nvSpPr>
        <p:spPr>
          <a:xfrm>
            <a:off x="36576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22576"/>
            <a:ext cx="5349240" cy="914400"/>
          </a:xfrm>
          <a:prstGeom prst="rect">
            <a:avLst/>
          </a:prstGeom>
          <a:noFill/>
        </p:spPr>
        <p:txBody>
          <a:bodyPr wrap="square">
            <a:spAutoFit/>
          </a:bodyPr>
          <a:lstStyle/>
          <a:p>
            <a:pPr>
              <a:spcAft>
                <a:spcPts val="800"/>
              </a:spcAft>
            </a:pPr>
            <a:r>
              <a:rPr sz="1400" b="1">
                <a:solidFill>
                  <a:srgbClr val="0B1F3A"/>
                </a:solidFill>
              </a:rPr>
              <a:t>Probabilità e confidenza</a:t>
            </a:r>
          </a:p>
          <a:p>
            <a:pPr>
              <a:spcAft>
                <a:spcPts val="800"/>
              </a:spcAft>
            </a:pPr>
            <a:r>
              <a:rPr sz="1400" b="0">
                <a:solidFill>
                  <a:srgbClr val="0B1F3A"/>
                </a:solidFill>
              </a:rPr>
              <a:t>"6 su 10" è il rischio; la confidenza dice quanto il sistema è sicuro di quel numero.</a:t>
            </a:r>
          </a:p>
        </p:txBody>
      </p:sp>
      <p:sp>
        <p:nvSpPr>
          <p:cNvPr id="15" name="Rectangle 14"/>
          <p:cNvSpPr/>
          <p:nvPr/>
        </p:nvSpPr>
        <p:spPr>
          <a:xfrm>
            <a:off x="617220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322576"/>
            <a:ext cx="5349240" cy="914400"/>
          </a:xfrm>
          <a:prstGeom prst="rect">
            <a:avLst/>
          </a:prstGeom>
          <a:noFill/>
        </p:spPr>
        <p:txBody>
          <a:bodyPr wrap="square">
            <a:spAutoFit/>
          </a:bodyPr>
          <a:lstStyle/>
          <a:p>
            <a:pPr>
              <a:spcAft>
                <a:spcPts val="800"/>
              </a:spcAft>
            </a:pPr>
            <a:r>
              <a:rPr sz="1400" b="1">
                <a:solidFill>
                  <a:srgbClr val="0B1F3A"/>
                </a:solidFill>
              </a:rPr>
              <a:t>Etichetta / dato registrato</a:t>
            </a:r>
          </a:p>
          <a:p>
            <a:pPr>
              <a:spcAft>
                <a:spcPts val="800"/>
              </a:spcAft>
            </a:pPr>
            <a:r>
              <a:rPr sz="1400" b="0">
                <a:solidFill>
                  <a:srgbClr val="0B1F3A"/>
                </a:solidFill>
              </a:rPr>
              <a:t>Quello che risulta negli archivi. Non sempre coincide con quello che è successo davvero.</a:t>
            </a:r>
          </a:p>
        </p:txBody>
      </p:sp>
      <p:sp>
        <p:nvSpPr>
          <p:cNvPr id="18" name="Rectangle 17"/>
          <p:cNvSpPr/>
          <p:nvPr/>
        </p:nvSpPr>
        <p:spPr>
          <a:xfrm>
            <a:off x="36576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419856"/>
            <a:ext cx="5349240" cy="914400"/>
          </a:xfrm>
          <a:prstGeom prst="rect">
            <a:avLst/>
          </a:prstGeom>
          <a:noFill/>
        </p:spPr>
        <p:txBody>
          <a:bodyPr wrap="square">
            <a:spAutoFit/>
          </a:bodyPr>
          <a:lstStyle/>
          <a:p>
            <a:pPr>
              <a:spcAft>
                <a:spcPts val="800"/>
              </a:spcAft>
            </a:pPr>
            <a:r>
              <a:rPr sz="1400" b="1">
                <a:solidFill>
                  <a:srgbClr val="0B1F3A"/>
                </a:solidFill>
              </a:rPr>
              <a:t>Bias</a:t>
            </a:r>
          </a:p>
          <a:p>
            <a:pPr>
              <a:spcAft>
                <a:spcPts val="800"/>
              </a:spcAft>
            </a:pPr>
            <a:r>
              <a:rPr sz="1400" b="0">
                <a:solidFill>
                  <a:srgbClr val="0B1F3A"/>
                </a:solidFill>
              </a:rPr>
              <a:t>Un errore sistematico che pesa di più su un gruppo, qui su una zona d'Italia.</a:t>
            </a:r>
          </a:p>
        </p:txBody>
      </p:sp>
      <p:sp>
        <p:nvSpPr>
          <p:cNvPr id="21" name="Rectangle 20"/>
          <p:cNvSpPr/>
          <p:nvPr/>
        </p:nvSpPr>
        <p:spPr>
          <a:xfrm>
            <a:off x="617220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3419856"/>
            <a:ext cx="5349240" cy="914400"/>
          </a:xfrm>
          <a:prstGeom prst="rect">
            <a:avLst/>
          </a:prstGeom>
          <a:noFill/>
        </p:spPr>
        <p:txBody>
          <a:bodyPr wrap="square">
            <a:spAutoFit/>
          </a:bodyPr>
          <a:lstStyle/>
          <a:p>
            <a:pPr>
              <a:spcAft>
                <a:spcPts val="800"/>
              </a:spcAft>
            </a:pPr>
            <a:r>
              <a:rPr sz="1400" b="1">
                <a:solidFill>
                  <a:srgbClr val="0B1F3A"/>
                </a:solidFill>
              </a:rPr>
              <a:t>Calibrazione</a:t>
            </a:r>
          </a:p>
          <a:p>
            <a:pPr>
              <a:spcAft>
                <a:spcPts val="800"/>
              </a:spcAft>
            </a:pPr>
            <a:r>
              <a:rPr sz="1400" b="0">
                <a:solidFill>
                  <a:srgbClr val="0B1F3A"/>
                </a:solidFill>
              </a:rPr>
              <a:t>Confronto tra i guasti che il sistema si aspetta e quelli registrati. Se non tornano, qualcosa non va.</a:t>
            </a:r>
          </a:p>
        </p:txBody>
      </p:sp>
      <p:sp>
        <p:nvSpPr>
          <p:cNvPr id="24" name="Rectangle 23"/>
          <p:cNvSpPr/>
          <p:nvPr/>
        </p:nvSpPr>
        <p:spPr>
          <a:xfrm>
            <a:off x="36576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576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517135"/>
            <a:ext cx="5349240" cy="914400"/>
          </a:xfrm>
          <a:prstGeom prst="rect">
            <a:avLst/>
          </a:prstGeom>
          <a:noFill/>
        </p:spPr>
        <p:txBody>
          <a:bodyPr wrap="square">
            <a:spAutoFit/>
          </a:bodyPr>
          <a:lstStyle/>
          <a:p>
            <a:pPr>
              <a:spcAft>
                <a:spcPts val="800"/>
              </a:spcAft>
            </a:pPr>
            <a:r>
              <a:rPr sz="1400" b="1">
                <a:solidFill>
                  <a:srgbClr val="0B1F3A"/>
                </a:solidFill>
              </a:rPr>
              <a:t>Proxy</a:t>
            </a:r>
          </a:p>
          <a:p>
            <a:pPr>
              <a:spcAft>
                <a:spcPts val="800"/>
              </a:spcAft>
            </a:pPr>
            <a:r>
              <a:rPr sz="1400" b="0">
                <a:solidFill>
                  <a:srgbClr val="0B1F3A"/>
                </a:solidFill>
              </a:rPr>
              <a:t>Un dato che "fa la spia" su un altro: l'età degli impianti rivela in che zona sono.</a:t>
            </a:r>
          </a:p>
        </p:txBody>
      </p:sp>
      <p:sp>
        <p:nvSpPr>
          <p:cNvPr id="27" name="Rectangle 26"/>
          <p:cNvSpPr/>
          <p:nvPr/>
        </p:nvSpPr>
        <p:spPr>
          <a:xfrm>
            <a:off x="617220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4517135"/>
            <a:ext cx="5349240" cy="914400"/>
          </a:xfrm>
          <a:prstGeom prst="rect">
            <a:avLst/>
          </a:prstGeom>
          <a:noFill/>
        </p:spPr>
        <p:txBody>
          <a:bodyPr wrap="square">
            <a:spAutoFit/>
          </a:bodyPr>
          <a:lstStyle/>
          <a:p>
            <a:pPr>
              <a:spcAft>
                <a:spcPts val="800"/>
              </a:spcAft>
            </a:pPr>
            <a:r>
              <a:rPr sz="1400" b="1">
                <a:solidFill>
                  <a:srgbClr val="0B1F3A"/>
                </a:solidFill>
              </a:rPr>
              <a:t>Drift</a:t>
            </a:r>
          </a:p>
          <a:p>
            <a:pPr>
              <a:spcAft>
                <a:spcPts val="800"/>
              </a:spcAft>
            </a:pPr>
            <a:r>
              <a:rPr sz="1400" b="0">
                <a:solidFill>
                  <a:srgbClr val="0B1F3A"/>
                </a:solidFill>
              </a:rPr>
              <a:t>Il sistema peggiora col tempo perché il mondo cambia.</a:t>
            </a:r>
          </a:p>
        </p:txBody>
      </p:sp>
      <p:sp>
        <p:nvSpPr>
          <p:cNvPr id="30" name="Rectangle 29"/>
          <p:cNvSpPr/>
          <p:nvPr/>
        </p:nvSpPr>
        <p:spPr>
          <a:xfrm>
            <a:off x="36576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5614416"/>
            <a:ext cx="5349240" cy="914400"/>
          </a:xfrm>
          <a:prstGeom prst="rect">
            <a:avLst/>
          </a:prstGeom>
          <a:noFill/>
        </p:spPr>
        <p:txBody>
          <a:bodyPr wrap="square">
            <a:spAutoFit/>
          </a:bodyPr>
          <a:lstStyle/>
          <a:p>
            <a:pPr>
              <a:spcAft>
                <a:spcPts val="800"/>
              </a:spcAft>
            </a:pPr>
            <a:r>
              <a:rPr sz="1400" b="1">
                <a:solidFill>
                  <a:srgbClr val="0B1F3A"/>
                </a:solidFill>
              </a:rPr>
              <a:t>HIC · HITL · HOTL</a:t>
            </a:r>
          </a:p>
          <a:p>
            <a:pPr>
              <a:spcAft>
                <a:spcPts val="800"/>
              </a:spcAft>
            </a:pPr>
            <a:r>
              <a:rPr sz="1400" b="0">
                <a:solidFill>
                  <a:srgbClr val="0B1F3A"/>
                </a:solidFill>
              </a:rPr>
              <a:t>Decide solo la persona · la persona approva prima · il sistema agisce e la persona sorveglia.</a:t>
            </a:r>
          </a:p>
        </p:txBody>
      </p:sp>
      <p:sp>
        <p:nvSpPr>
          <p:cNvPr id="33" name="Rectangle 32"/>
          <p:cNvSpPr/>
          <p:nvPr/>
        </p:nvSpPr>
        <p:spPr>
          <a:xfrm>
            <a:off x="617220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220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5614416"/>
            <a:ext cx="5349240" cy="914400"/>
          </a:xfrm>
          <a:prstGeom prst="rect">
            <a:avLst/>
          </a:prstGeom>
          <a:noFill/>
        </p:spPr>
        <p:txBody>
          <a:bodyPr wrap="square">
            <a:spAutoFit/>
          </a:bodyPr>
          <a:lstStyle/>
          <a:p>
            <a:pPr>
              <a:spcAft>
                <a:spcPts val="800"/>
              </a:spcAft>
            </a:pPr>
            <a:r>
              <a:rPr sz="1400" b="1">
                <a:solidFill>
                  <a:srgbClr val="0B1F3A"/>
                </a:solidFill>
              </a:rPr>
              <a:t>Override · rubber-stamping</a:t>
            </a:r>
          </a:p>
          <a:p>
            <a:pPr>
              <a:spcAft>
                <a:spcPts val="800"/>
              </a:spcAft>
            </a:pPr>
            <a:r>
              <a:rPr sz="1400" b="0">
                <a:solidFill>
                  <a:srgbClr val="0B1F3A"/>
                </a:solidFill>
              </a:rPr>
              <a:t>La persona corregge il sistema · la persona approva tutto senza leggere.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1. Al Sud</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 · test T5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sud_isole.png"/>
          <p:cNvPicPr>
            <a:picLocks noChangeAspect="1"/>
          </p:cNvPicPr>
          <p:nvPr/>
        </p:nvPicPr>
        <p:blipFill>
          <a:blip r:embed="rId2"/>
          <a:stretch>
            <a:fillRect/>
          </a:stretch>
        </p:blipFill>
        <p:spPr>
          <a:xfrm>
            <a:off x="274320" y="1188720"/>
            <a:ext cx="5852160" cy="3845705"/>
          </a:xfrm>
          <a:prstGeom prst="rect">
            <a:avLst/>
          </a:prstGeom>
        </p:spPr>
      </p:pic>
      <p:sp>
        <p:nvSpPr>
          <p:cNvPr id="7" name="TextBox 6"/>
          <p:cNvSpPr txBox="1"/>
          <p:nvPr/>
        </p:nvSpPr>
        <p:spPr>
          <a:xfrm>
            <a:off x="6309360" y="1234440"/>
            <a:ext cx="557784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Sud e Isole hanno impianti </a:t>
            </a:r>
            <a:r>
              <a:rPr sz="1600" b="1">
                <a:solidFill>
                  <a:srgbClr val="0B1F3A"/>
                </a:solidFill>
              </a:rPr>
              <a:t>quasi gemelli</a:t>
            </a:r>
            <a:r>
              <a:rPr sz="1600" b="0">
                <a:solidFill>
                  <a:srgbClr val="0B1F3A"/>
                </a:solidFill>
              </a:rPr>
              <a:t>: età media 23 e 25 anni, circa 2 manutenzioni in 5 anni, sensori identici.</a:t>
            </a:r>
          </a:p>
          <a:p>
            <a:pPr>
              <a:spcAft>
                <a:spcPts val="800"/>
              </a:spcAft>
            </a:pPr>
            <a:r>
              <a:rPr sz="1600" b="1">
                <a:solidFill>
                  <a:srgbClr val="0F6CBD"/>
                </a:solidFill>
              </a:rPr>
              <a:t>•  </a:t>
            </a:r>
            <a:r>
              <a:rPr sz="1600" b="0">
                <a:solidFill>
                  <a:srgbClr val="0B1F3A"/>
                </a:solidFill>
              </a:rPr>
              <a:t>Eppure ogni 100 impianti risultano </a:t>
            </a:r>
            <a:r>
              <a:rPr sz="1600" b="1">
                <a:solidFill>
                  <a:srgbClr val="0B1F3A"/>
                </a:solidFill>
              </a:rPr>
              <a:t>24 guasti al Sud e 45 nelle Isole</a:t>
            </a:r>
            <a:r>
              <a:rPr sz="1600" b="0">
                <a:solidFill>
                  <a:srgbClr val="0B1F3A"/>
                </a:solidFill>
              </a:rPr>
              <a:t>. E più gli impianti invecchiano, più la distanza cresce.</a:t>
            </a:r>
          </a:p>
          <a:p>
            <a:pPr>
              <a:spcAft>
                <a:spcPts val="800"/>
              </a:spcAft>
            </a:pPr>
            <a:r>
              <a:rPr sz="1600" b="1">
                <a:solidFill>
                  <a:srgbClr val="0F6CBD"/>
                </a:solidFill>
              </a:rPr>
              <a:t>•  </a:t>
            </a:r>
            <a:r>
              <a:rPr sz="1600" b="0">
                <a:solidFill>
                  <a:srgbClr val="0B1F3A"/>
                </a:solidFill>
              </a:rPr>
              <a:t>Le macchine non sono più robuste al Sud: è </a:t>
            </a:r>
            <a:r>
              <a:rPr sz="1600" b="1">
                <a:solidFill>
                  <a:srgbClr val="0B1F3A"/>
                </a:solidFill>
              </a:rPr>
              <a:t>più probabile che i guasti siano registrati meno</a:t>
            </a:r>
            <a:r>
              <a:rPr sz="1600" b="0">
                <a:solidFill>
                  <a:srgbClr val="0B1F3A"/>
                </a:solidFill>
              </a:rPr>
              <a:t>.</a:t>
            </a:r>
          </a:p>
          <a:p>
            <a:pPr>
              <a:spcAft>
                <a:spcPts val="800"/>
              </a:spcAft>
            </a:pPr>
            <a:r>
              <a:rPr sz="1600" b="1">
                <a:solidFill>
                  <a:srgbClr val="0F6CBD"/>
                </a:solidFill>
              </a:rPr>
              <a:t>•  </a:t>
            </a:r>
            <a:r>
              <a:rPr sz="1600" b="0">
                <a:solidFill>
                  <a:srgbClr val="0B1F3A"/>
                </a:solidFill>
              </a:rPr>
              <a:t>Un indizio forte: sulle utenze </a:t>
            </a:r>
            <a:r>
              <a:rPr sz="1600" b="1">
                <a:solidFill>
                  <a:srgbClr val="0B1F3A"/>
                </a:solidFill>
              </a:rPr>
              <a:t>critiche</a:t>
            </a:r>
            <a:r>
              <a:rPr sz="1600" b="0">
                <a:solidFill>
                  <a:srgbClr val="0B1F3A"/>
                </a:solidFill>
              </a:rPr>
              <a:t> (ospedali) la differenza quasi sparisce. Un ospedale al buio non passa inosservato; un guasto su un'utenza qualunque, a volte sì.</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257800"/>
            <a:ext cx="91440" cy="13258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Perché conta</a:t>
            </a:r>
          </a:p>
          <a:p>
            <a:pPr>
              <a:spcAft>
                <a:spcPts val="800"/>
              </a:spcAft>
            </a:pPr>
            <a:r>
              <a:rPr sz="1500" b="0">
                <a:solidFill>
                  <a:srgbClr val="0B1F3A"/>
                </a:solidFill>
              </a:rPr>
              <a:t>Il sistema impara dal passato. Se il passato è scritto male, impara che al Sud "si guasta poco" e rischia di sottovalutare impianti che invece sono a rischio. È un'ipotesi: l'alternativa è che le Isole registrino come guasti anche interventi minori. Solo una verifica sul campo può dirlo.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2. Al Nord e al Centro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nord_centro.png"/>
          <p:cNvPicPr>
            <a:picLocks noChangeAspect="1"/>
          </p:cNvPicPr>
          <p:nvPr/>
        </p:nvPicPr>
        <p:blipFill>
          <a:blip r:embed="rId2"/>
          <a:stretch>
            <a:fillRect/>
          </a:stretch>
        </p:blipFill>
        <p:spPr>
          <a:xfrm>
            <a:off x="274320" y="1188720"/>
            <a:ext cx="5669280" cy="3840480"/>
          </a:xfrm>
          <a:prstGeom prst="rect">
            <a:avLst/>
          </a:prstGeom>
        </p:spPr>
      </p:pic>
      <p:sp>
        <p:nvSpPr>
          <p:cNvPr id="7" name="TextBox 6"/>
          <p:cNvSpPr txBox="1"/>
          <p:nvPr/>
        </p:nvSpPr>
        <p:spPr>
          <a:xfrm>
            <a:off x="6217920" y="1234440"/>
            <a:ext cx="566928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Qui i dati sono </a:t>
            </a:r>
            <a:r>
              <a:rPr sz="1600" b="1">
                <a:solidFill>
                  <a:srgbClr val="0B1F3A"/>
                </a:solidFill>
              </a:rPr>
              <a:t>coerenti</a:t>
            </a:r>
            <a:r>
              <a:rPr sz="1600" b="0">
                <a:solidFill>
                  <a:srgbClr val="0B1F3A"/>
                </a:solidFill>
              </a:rPr>
              <a:t>: il sistema si aspetta più o meno i guasti che vengono registrati.</a:t>
            </a:r>
          </a:p>
          <a:p>
            <a:pPr>
              <a:spcAft>
                <a:spcPts val="800"/>
              </a:spcAft>
            </a:pPr>
            <a:r>
              <a:rPr sz="1600" b="1">
                <a:solidFill>
                  <a:srgbClr val="0F6CBD"/>
                </a:solidFill>
              </a:rPr>
              <a:t>•  </a:t>
            </a:r>
            <a:r>
              <a:rPr sz="1600" b="0">
                <a:solidFill>
                  <a:srgbClr val="0B1F3A"/>
                </a:solidFill>
              </a:rPr>
              <a:t>Il problema è un altro: circa </a:t>
            </a:r>
            <a:r>
              <a:rPr sz="1600" b="1">
                <a:solidFill>
                  <a:srgbClr val="0B1F3A"/>
                </a:solidFill>
              </a:rPr>
              <a:t>1 guasto su 4 arriva senza preavviso</a:t>
            </a:r>
            <a:r>
              <a:rPr sz="1600" b="0">
                <a:solidFill>
                  <a:srgbClr val="0B1F3A"/>
                </a:solidFill>
              </a:rPr>
              <a:t>. I sensori non mostrano niente di strano: la vibrazione dei guasti persi è più vicina a quella di un impianto sano che a quella dei guasti visti.</a:t>
            </a:r>
          </a:p>
          <a:p>
            <a:pPr>
              <a:spcAft>
                <a:spcPts val="800"/>
              </a:spcAft>
            </a:pPr>
            <a:r>
              <a:rPr sz="1600" b="1">
                <a:solidFill>
                  <a:srgbClr val="0F6CBD"/>
                </a:solidFill>
              </a:rPr>
              <a:t>•  </a:t>
            </a:r>
            <a:r>
              <a:rPr sz="1600" b="0">
                <a:solidFill>
                  <a:srgbClr val="0B1F3A"/>
                </a:solidFill>
              </a:rPr>
              <a:t>Nessun sistema può vedere quello che i sensori non misurano.</a:t>
            </a:r>
          </a:p>
          <a:p>
            <a:pPr>
              <a:spcAft>
                <a:spcPts val="800"/>
              </a:spcAft>
            </a:pPr>
            <a:r>
              <a:rPr sz="1600" b="1">
                <a:solidFill>
                  <a:srgbClr val="0F6CBD"/>
                </a:solidFill>
              </a:rPr>
              <a:t>•  </a:t>
            </a:r>
            <a:r>
              <a:rPr sz="1600" b="0">
                <a:solidFill>
                  <a:srgbClr val="0B1F3A"/>
                </a:solidFill>
              </a:rPr>
              <a:t>Il gruppo servito peggio sono le </a:t>
            </a:r>
            <a:r>
              <a:rPr sz="1600" b="1">
                <a:solidFill>
                  <a:srgbClr val="0B1F3A"/>
                </a:solidFill>
              </a:rPr>
              <a:t>utenze normali di Nord e Centro</a:t>
            </a:r>
            <a:r>
              <a:rPr sz="1600" b="0">
                <a:solidFill>
                  <a:srgbClr val="0B1F3A"/>
                </a:solidFill>
              </a:rPr>
              <a:t>: il sistema ne vede circa 2 su 3.</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257800"/>
            <a:ext cx="91440" cy="132588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Due problemi, due risposte diverse</a:t>
            </a:r>
          </a:p>
          <a:p>
            <a:pPr>
              <a:spcAft>
                <a:spcPts val="800"/>
              </a:spcAft>
            </a:pPr>
            <a:r>
              <a:rPr sz="1500" b="0">
                <a:solidFill>
                  <a:srgbClr val="0B1F3A"/>
                </a:solidFill>
              </a:rPr>
              <a:t>Al Sud il problema è nei dati: non si corregge il modello, si mette una persona davanti alle decisioni. Al Nord e al Centro il problema è nei sensori: si aggiunge un controllo umano anche sulle decisioni più leggere.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La dashboard di supervisione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home.png"/>
          <p:cNvPicPr>
            <a:picLocks noChangeAspect="1"/>
          </p:cNvPicPr>
          <p:nvPr/>
        </p:nvPicPr>
        <p:blipFill>
          <a:blip r:embed="rId2"/>
          <a:stretch>
            <a:fillRect/>
          </a:stretch>
        </p:blipFill>
        <p:spPr>
          <a:xfrm>
            <a:off x="2197491" y="1188720"/>
            <a:ext cx="7766538" cy="4846320"/>
          </a:xfrm>
          <a:prstGeom prst="rect">
            <a:avLst/>
          </a:prstGeom>
          <a:ln w="12700">
            <a:solidFill>
              <a:srgbClr val="D0D5DD"/>
            </a:solidFill>
          </a:ln>
        </p:spPr>
      </p:pic>
      <p:sp>
        <p:nvSpPr>
          <p:cNvPr id="7" name="TextBox 6"/>
          <p:cNvSpPr txBox="1"/>
          <p:nvPr/>
        </p:nvSpPr>
        <p:spPr>
          <a:xfrm>
            <a:off x="457200" y="6126480"/>
            <a:ext cx="11247120" cy="640080"/>
          </a:xfrm>
          <a:prstGeom prst="rect">
            <a:avLst/>
          </a:prstGeom>
          <a:noFill/>
        </p:spPr>
        <p:txBody>
          <a:bodyPr wrap="square">
            <a:spAutoFit/>
          </a:bodyPr>
          <a:lstStyle/>
          <a:p>
            <a:pPr>
              <a:spcAft>
                <a:spcPts val="800"/>
              </a:spcAft>
            </a:pPr>
            <a:r>
              <a:rPr sz="1500" b="0">
                <a:solidFill>
                  <a:srgbClr val="555F6D"/>
                </a:solidFill>
              </a:rPr>
              <a:t>In alto lo stato, sempre visibile: decisioni in attesa, quante correzioni fanno le persone, allarmi attivi, integrità del registro. A sinistra il pulsante di stop, a un click.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decide cosa</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2A · KPI A6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365760" y="1188720"/>
          <a:ext cx="6583680" cy="4206240"/>
        </p:xfrm>
        <a:graphic>
          <a:graphicData uri="http://schemas.openxmlformats.org/drawingml/2006/table">
            <a:tbl>
              <a:tblPr firstRow="1" bandRow="1">
                <a:tableStyleId>{5C22544A-7EE6-4342-B048-85BDC9FD1C3A}</a:tableStyleId>
              </a:tblPr>
              <a:tblGrid>
                <a:gridCol w="3017520"/>
                <a:gridCol w="1737360"/>
                <a:gridCol w="1828800"/>
              </a:tblGrid>
              <a:tr h="525780">
                <a:tc>
                  <a:txBody>
                    <a:bodyPr/>
                    <a:lstStyle/>
                    <a:p>
                      <a:r>
                        <a:rPr sz="1200" b="1"/>
                        <a:t>Quando</a:t>
                      </a:r>
                    </a:p>
                  </a:txBody>
                  <a:tcPr/>
                </a:tc>
                <a:tc>
                  <a:txBody>
                    <a:bodyPr/>
                    <a:lstStyle/>
                    <a:p>
                      <a:r>
                        <a:rPr sz="1200" b="1"/>
                        <a:t>Chi decide</a:t>
                      </a:r>
                    </a:p>
                  </a:txBody>
                  <a:tcPr/>
                </a:tc>
                <a:tc>
                  <a:txBody>
                    <a:bodyPr/>
                    <a:lstStyle/>
                    <a:p>
                      <a:r>
                        <a:rPr sz="1200" b="1"/>
                        <a:t>Perché</a:t>
                      </a:r>
                    </a:p>
                  </a:txBody>
                  <a:tcPr/>
                </a:tc>
              </a:tr>
              <a:tr h="525780">
                <a:tc>
                  <a:txBody>
                    <a:bodyPr/>
                    <a:lstStyle/>
                    <a:p>
                      <a:r>
                        <a:rPr sz="1200" b="0"/>
                        <a:t>Utenza critica (es. ospedale)</a:t>
                      </a:r>
                    </a:p>
                  </a:txBody>
                  <a:tcPr/>
                </a:tc>
                <a:tc>
                  <a:txBody>
                    <a:bodyPr/>
                    <a:lstStyle/>
                    <a:p>
                      <a:r>
                        <a:rPr sz="1200" b="1"/>
                        <a:t>Solo la persona</a:t>
                      </a:r>
                    </a:p>
                  </a:txBody>
                  <a:tcPr/>
                </a:tc>
                <a:tc>
                  <a:txBody>
                    <a:bodyPr/>
                    <a:lstStyle/>
                    <a:p>
                      <a:r>
                        <a:rPr sz="1200" b="0"/>
                        <a:t>un errore non si recupera</a:t>
                      </a:r>
                    </a:p>
                  </a:txBody>
                  <a:tcPr/>
                </a:tc>
              </a:tr>
              <a:tr h="525780">
                <a:tc>
                  <a:txBody>
                    <a:bodyPr/>
                    <a:lstStyle/>
                    <a:p>
                      <a:r>
                        <a:rPr sz="1200" b="0"/>
                        <a:t>Ridurre la corrente a un'utenza importante</a:t>
                      </a:r>
                    </a:p>
                  </a:txBody>
                  <a:tcPr/>
                </a:tc>
                <a:tc>
                  <a:txBody>
                    <a:bodyPr/>
                    <a:lstStyle/>
                    <a:p>
                      <a:r>
                        <a:rPr sz="1200" b="1"/>
                        <a:t>Solo la persona</a:t>
                      </a:r>
                    </a:p>
                  </a:txBody>
                  <a:tcPr/>
                </a:tc>
                <a:tc>
                  <a:txBody>
                    <a:bodyPr/>
                    <a:lstStyle/>
                    <a:p>
                      <a:r>
                        <a:rPr sz="1200" b="0"/>
                        <a:t>tocca direttamente chi è servito</a:t>
                      </a:r>
                    </a:p>
                  </a:txBody>
                  <a:tcPr/>
                </a:tc>
              </a:tr>
              <a:tr h="525780">
                <a:tc>
                  <a:txBody>
                    <a:bodyPr/>
                    <a:lstStyle/>
                    <a:p>
                      <a:r>
                        <a:rPr sz="1200" b="0"/>
                        <a:t>Rischio alto (6 su 10 o più) o sistema poco sicuro</a:t>
                      </a:r>
                    </a:p>
                  </a:txBody>
                  <a:tcPr/>
                </a:tc>
                <a:tc>
                  <a:txBody>
                    <a:bodyPr/>
                    <a:lstStyle/>
                    <a:p>
                      <a:r>
                        <a:rPr sz="1200" b="1"/>
                        <a:t>La persona approva prima</a:t>
                      </a:r>
                    </a:p>
                  </a:txBody>
                  <a:tcPr/>
                </a:tc>
                <a:tc>
                  <a:txBody>
                    <a:bodyPr/>
                    <a:lstStyle/>
                    <a:p>
                      <a:r>
                        <a:rPr sz="1200" b="0"/>
                        <a:t>serve giudizio umano</a:t>
                      </a:r>
                    </a:p>
                  </a:txBody>
                  <a:tcPr/>
                </a:tc>
              </a:tr>
              <a:tr h="525780">
                <a:tc>
                  <a:txBody>
                    <a:bodyPr/>
                    <a:lstStyle/>
                    <a:p>
                      <a:r>
                        <a:rPr sz="1200" b="0"/>
                        <a:t>Zona dove i dati storici non tornano (Sud)</a:t>
                      </a:r>
                    </a:p>
                  </a:txBody>
                  <a:tcPr/>
                </a:tc>
                <a:tc>
                  <a:txBody>
                    <a:bodyPr/>
                    <a:lstStyle/>
                    <a:p>
                      <a:r>
                        <a:rPr sz="1200" b="1"/>
                        <a:t>La persona approva prima</a:t>
                      </a:r>
                    </a:p>
                  </a:txBody>
                  <a:tcPr/>
                </a:tc>
                <a:tc>
                  <a:txBody>
                    <a:bodyPr/>
                    <a:lstStyle/>
                    <a:p>
                      <a:r>
                        <a:rPr sz="1200" b="0"/>
                        <a:t>non ci fidiamo dello storico</a:t>
                      </a:r>
                    </a:p>
                  </a:txBody>
                  <a:tcPr/>
                </a:tc>
              </a:tr>
              <a:tr h="525780">
                <a:tc>
                  <a:txBody>
                    <a:bodyPr/>
                    <a:lstStyle/>
                    <a:p>
                      <a:r>
                        <a:rPr sz="1200" b="0"/>
                        <a:t>Zona dove il sistema vede meno guasti (Nord, Centro), rischio da 1 su 10</a:t>
                      </a:r>
                    </a:p>
                  </a:txBody>
                  <a:tcPr/>
                </a:tc>
                <a:tc>
                  <a:txBody>
                    <a:bodyPr/>
                    <a:lstStyle/>
                    <a:p>
                      <a:r>
                        <a:rPr sz="1200" b="1"/>
                        <a:t>La persona approva prima</a:t>
                      </a:r>
                    </a:p>
                  </a:txBody>
                  <a:tcPr/>
                </a:tc>
                <a:tc>
                  <a:txBody>
                    <a:bodyPr/>
                    <a:lstStyle/>
                    <a:p>
                      <a:r>
                        <a:rPr sz="1200" b="0"/>
                        <a:t>lì sbaglia di più</a:t>
                      </a:r>
                    </a:p>
                  </a:txBody>
                  <a:tcPr/>
                </a:tc>
              </a:tr>
              <a:tr h="525780">
                <a:tc>
                  <a:txBody>
                    <a:bodyPr/>
                    <a:lstStyle/>
                    <a:p>
                      <a:r>
                        <a:rPr sz="1200" b="0"/>
                        <a:t>Controllo leggero e rischio basso</a:t>
                      </a:r>
                    </a:p>
                  </a:txBody>
                  <a:tcPr/>
                </a:tc>
                <a:tc>
                  <a:txBody>
                    <a:bodyPr/>
                    <a:lstStyle/>
                    <a:p>
                      <a:r>
                        <a:rPr sz="1200" b="1"/>
                        <a:t>Il sistema agisce, la persona sorveglia</a:t>
                      </a:r>
                    </a:p>
                  </a:txBody>
                  <a:tcPr/>
                </a:tc>
                <a:tc>
                  <a:txBody>
                    <a:bodyPr/>
                    <a:lstStyle/>
                    <a:p>
                      <a:r>
                        <a:rPr sz="1200" b="0"/>
                        <a:t>errore economico e reversibile</a:t>
                      </a:r>
                    </a:p>
                  </a:txBody>
                  <a:tcPr/>
                </a:tc>
              </a:tr>
              <a:tr h="525780">
                <a:tc>
                  <a:txBody>
                    <a:bodyPr/>
                    <a:lstStyle/>
                    <a:p>
                      <a:r>
                        <a:rPr sz="1200" b="0"/>
                        <a:t>Tutto il resto</a:t>
                      </a:r>
                    </a:p>
                  </a:txBody>
                  <a:tcPr/>
                </a:tc>
                <a:tc>
                  <a:txBody>
                    <a:bodyPr/>
                    <a:lstStyle/>
                    <a:p>
                      <a:r>
                        <a:rPr sz="1200" b="1"/>
                        <a:t>La persona approva prima</a:t>
                      </a:r>
                    </a:p>
                  </a:txBody>
                  <a:tcPr/>
                </a:tc>
                <a:tc>
                  <a:txBody>
                    <a:bodyPr/>
                    <a:lstStyle/>
                    <a:p>
                      <a:r>
                        <a:rPr sz="1200" b="0"/>
                        <a:t>nel dubbio, decide l'umano</a:t>
                      </a:r>
                    </a:p>
                  </a:txBody>
                  <a:tcPr/>
                </a:tc>
              </a:tr>
            </a:tbl>
          </a:graphicData>
        </a:graphic>
      </p:graphicFrame>
      <p:pic>
        <p:nvPicPr>
          <p:cNvPr id="7" name="Picture 6" descr="matrice_1.png"/>
          <p:cNvPicPr>
            <a:picLocks noChangeAspect="1"/>
          </p:cNvPicPr>
          <p:nvPr/>
        </p:nvPicPr>
        <p:blipFill>
          <a:blip r:embed="rId2"/>
          <a:stretch>
            <a:fillRect/>
          </a:stretch>
        </p:blipFill>
        <p:spPr>
          <a:xfrm>
            <a:off x="7178040" y="1188720"/>
            <a:ext cx="4663440" cy="3342716"/>
          </a:xfrm>
          <a:prstGeom prst="rect">
            <a:avLst/>
          </a:prstGeom>
          <a:ln w="12700">
            <a:solidFill>
              <a:srgbClr val="D0D5DD"/>
            </a:solidFill>
          </a:ln>
        </p:spPr>
      </p:pic>
      <p:sp>
        <p:nvSpPr>
          <p:cNvPr id="8" name="TextBox 7"/>
          <p:cNvSpPr txBox="1"/>
          <p:nvPr/>
        </p:nvSpPr>
        <p:spPr>
          <a:xfrm>
            <a:off x="7178040" y="4892040"/>
            <a:ext cx="4663440" cy="914400"/>
          </a:xfrm>
          <a:prstGeom prst="rect">
            <a:avLst/>
          </a:prstGeom>
          <a:noFill/>
        </p:spPr>
        <p:txBody>
          <a:bodyPr wrap="square">
            <a:spAutoFit/>
          </a:bodyPr>
          <a:lstStyle/>
          <a:p>
            <a:pPr>
              <a:spcAft>
                <a:spcPts val="800"/>
              </a:spcAft>
            </a:pPr>
            <a:r>
              <a:rPr sz="1200" b="0">
                <a:solidFill>
                  <a:srgbClr val="555F6D"/>
                </a:solidFill>
              </a:rPr>
              <a:t>Ogni punto è un impianto: in alto il rischio, a destra quanto il sistema è sicuro. </a:t>
            </a:r>
            <a:r>
              <a:rPr sz="1200" b="1">
                <a:solidFill>
                  <a:srgbClr val="555F6D"/>
                </a:solidFill>
              </a:rPr>
              <a:t>Rosso</a:t>
            </a:r>
            <a:r>
              <a:rPr sz="1200" b="0">
                <a:solidFill>
                  <a:srgbClr val="555F6D"/>
                </a:solidFill>
              </a:rPr>
              <a:t> decide solo la persona, </a:t>
            </a:r>
            <a:r>
              <a:rPr sz="1200" b="1">
                <a:solidFill>
                  <a:srgbClr val="555F6D"/>
                </a:solidFill>
              </a:rPr>
              <a:t>arancio</a:t>
            </a:r>
            <a:r>
              <a:rPr sz="1200" b="0">
                <a:solidFill>
                  <a:srgbClr val="555F6D"/>
                </a:solidFill>
              </a:rPr>
              <a:t> la persona approva prima, </a:t>
            </a:r>
            <a:r>
              <a:rPr sz="1200" b="1">
                <a:solidFill>
                  <a:srgbClr val="555F6D"/>
                </a:solidFill>
              </a:rPr>
              <a:t>verde</a:t>
            </a:r>
            <a:r>
              <a:rPr sz="1200" b="0">
                <a:solidFill>
                  <a:srgbClr val="555F6D"/>
                </a:solidFill>
              </a:rPr>
              <a:t> il sistema agisce.</a:t>
            </a:r>
          </a:p>
        </p:txBody>
      </p:sp>
      <p:sp>
        <p:nvSpPr>
          <p:cNvPr id="9" name="TextBox 8"/>
          <p:cNvSpPr txBox="1"/>
          <p:nvPr/>
        </p:nvSpPr>
        <p:spPr>
          <a:xfrm>
            <a:off x="457200" y="5806440"/>
            <a:ext cx="11247120" cy="914400"/>
          </a:xfrm>
          <a:prstGeom prst="rect">
            <a:avLst/>
          </a:prstGeom>
          <a:noFill/>
        </p:spPr>
        <p:txBody>
          <a:bodyPr wrap="square">
            <a:spAutoFit/>
          </a:bodyPr>
          <a:lstStyle/>
          <a:p>
            <a:pPr>
              <a:spcAft>
                <a:spcPts val="800"/>
              </a:spcAft>
            </a:pPr>
            <a:r>
              <a:rPr sz="1500" b="0">
                <a:solidFill>
                  <a:srgbClr val="555F6D"/>
                </a:solidFill>
              </a:rPr>
              <a:t>Il sistema agisce da solo solo quando è quasi certo che </a:t>
            </a:r>
            <a:r>
              <a:rPr sz="1500" b="1">
                <a:solidFill>
                  <a:srgbClr val="555F6D"/>
                </a:solidFill>
              </a:rPr>
              <a:t>non</a:t>
            </a:r>
            <a:r>
              <a:rPr sz="1500" b="0">
                <a:solidFill>
                  <a:srgbClr val="555F6D"/>
                </a:solidFill>
              </a:rPr>
              <a:t> ci sia un guasto (rischio sotto 2 su 10). Il codice applica esattamente queste regole: verificato al 100%.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Una decisione: AST-01148</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3A · test T4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d_0.png"/>
          <p:cNvPicPr>
            <a:picLocks noChangeAspect="1"/>
          </p:cNvPicPr>
          <p:nvPr/>
        </p:nvPicPr>
        <p:blipFill>
          <a:blip r:embed="rId2"/>
          <a:stretch>
            <a:fillRect/>
          </a:stretch>
        </p:blipFill>
        <p:spPr>
          <a:xfrm>
            <a:off x="715640" y="1188720"/>
            <a:ext cx="4969520" cy="5486400"/>
          </a:xfrm>
          <a:prstGeom prst="rect">
            <a:avLst/>
          </a:prstGeom>
          <a:ln w="12700">
            <a:solidFill>
              <a:srgbClr val="D0D5DD"/>
            </a:solidFill>
          </a:ln>
        </p:spPr>
      </p:pic>
      <p:sp>
        <p:nvSpPr>
          <p:cNvPr id="7" name="TextBox 6"/>
          <p:cNvSpPr txBox="1"/>
          <p:nvPr/>
        </p:nvSpPr>
        <p:spPr>
          <a:xfrm>
            <a:off x="6309360" y="1234440"/>
            <a:ext cx="5577840" cy="329184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Cabina del </a:t>
            </a:r>
            <a:r>
              <a:rPr sz="1500" b="1">
                <a:solidFill>
                  <a:srgbClr val="0B1F3A"/>
                </a:solidFill>
              </a:rPr>
              <a:t>Sud</a:t>
            </a:r>
            <a:r>
              <a:rPr sz="1500" b="0">
                <a:solidFill>
                  <a:srgbClr val="0B1F3A"/>
                </a:solidFill>
              </a:rPr>
              <a:t> che alimenta un </a:t>
            </a:r>
            <a:r>
              <a:rPr sz="1500" b="1">
                <a:solidFill>
                  <a:srgbClr val="0B1F3A"/>
                </a:solidFill>
              </a:rPr>
              <a:t>ospedale</a:t>
            </a:r>
            <a:r>
              <a:rPr sz="1500" b="0">
                <a:solidFill>
                  <a:srgbClr val="0B1F3A"/>
                </a:solidFill>
              </a:rPr>
              <a:t>: decide solo la persona.</a:t>
            </a:r>
          </a:p>
          <a:p>
            <a:pPr>
              <a:spcAft>
                <a:spcPts val="800"/>
              </a:spcAft>
            </a:pPr>
            <a:r>
              <a:rPr sz="1500" b="1">
                <a:solidFill>
                  <a:srgbClr val="0F6CBD"/>
                </a:solidFill>
              </a:rPr>
              <a:t>•  </a:t>
            </a:r>
            <a:r>
              <a:rPr sz="1500" b="1">
                <a:solidFill>
                  <a:srgbClr val="0B1F3A"/>
                </a:solidFill>
              </a:rPr>
              <a:t>In parole semplici</a:t>
            </a:r>
            <a:r>
              <a:rPr sz="1500" b="0">
                <a:solidFill>
                  <a:srgbClr val="0B1F3A"/>
                </a:solidFill>
              </a:rPr>
              <a:t>: "circa 6 su 10", cosa fare, il motivo principale (vibrazione molto alta).</a:t>
            </a:r>
          </a:p>
          <a:p>
            <a:pPr>
              <a:spcAft>
                <a:spcPts val="800"/>
              </a:spcAft>
            </a:pPr>
            <a:r>
              <a:rPr sz="1500" b="1">
                <a:solidFill>
                  <a:srgbClr val="0F6CBD"/>
                </a:solidFill>
              </a:rPr>
              <a:t>•  </a:t>
            </a:r>
            <a:r>
              <a:rPr sz="1500" b="1">
                <a:solidFill>
                  <a:srgbClr val="0B1F3A"/>
                </a:solidFill>
              </a:rPr>
              <a:t>E se...</a:t>
            </a:r>
            <a:r>
              <a:rPr sz="1500" b="0">
                <a:solidFill>
                  <a:srgbClr val="0B1F3A"/>
                </a:solidFill>
              </a:rPr>
              <a:t>: con vibrazione normale il rischio scenderebbe a 3 su 10.</a:t>
            </a:r>
          </a:p>
          <a:p>
            <a:pPr>
              <a:spcAft>
                <a:spcPts val="800"/>
              </a:spcAft>
            </a:pPr>
            <a:r>
              <a:rPr sz="1500" b="1">
                <a:solidFill>
                  <a:srgbClr val="0F6CBD"/>
                </a:solidFill>
              </a:rPr>
              <a:t>•  </a:t>
            </a:r>
            <a:r>
              <a:rPr sz="1500" b="1">
                <a:solidFill>
                  <a:srgbClr val="0B1F3A"/>
                </a:solidFill>
              </a:rPr>
              <a:t>Casi simili</a:t>
            </a:r>
            <a:r>
              <a:rPr sz="1500" b="0">
                <a:solidFill>
                  <a:srgbClr val="0B1F3A"/>
                </a:solidFill>
              </a:rPr>
              <a:t>: 3 impianti con sensori simili si sono guastati tutti.</a:t>
            </a:r>
          </a:p>
          <a:p>
            <a:pPr>
              <a:spcAft>
                <a:spcPts val="800"/>
              </a:spcAft>
            </a:pPr>
            <a:r>
              <a:rPr sz="1500" b="1">
                <a:solidFill>
                  <a:srgbClr val="0F6CBD"/>
                </a:solidFill>
              </a:rPr>
              <a:t>•  </a:t>
            </a:r>
            <a:r>
              <a:rPr sz="1500" b="1">
                <a:solidFill>
                  <a:srgbClr val="0B1F3A"/>
                </a:solidFill>
              </a:rPr>
              <a:t>Avviso</a:t>
            </a:r>
            <a:r>
              <a:rPr sz="1500" b="0">
                <a:solidFill>
                  <a:srgbClr val="0B1F3A"/>
                </a:solidFill>
              </a:rPr>
              <a:t>: al Sud lo storico può sottostimare i guasti.</a:t>
            </a:r>
          </a:p>
        </p:txBody>
      </p:sp>
      <p:sp>
        <p:nvSpPr>
          <p:cNvPr id="8" name="Rectangle 7"/>
          <p:cNvSpPr/>
          <p:nvPr/>
        </p:nvSpPr>
        <p:spPr>
          <a:xfrm>
            <a:off x="6309360" y="4572000"/>
            <a:ext cx="5577840" cy="2011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4572000"/>
            <a:ext cx="91440" cy="20116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4645152"/>
            <a:ext cx="5257800" cy="1920240"/>
          </a:xfrm>
          <a:prstGeom prst="rect">
            <a:avLst/>
          </a:prstGeom>
          <a:noFill/>
        </p:spPr>
        <p:txBody>
          <a:bodyPr wrap="square">
            <a:spAutoFit/>
          </a:bodyPr>
          <a:lstStyle/>
          <a:p>
            <a:pPr>
              <a:spcAft>
                <a:spcPts val="800"/>
              </a:spcAft>
            </a:pPr>
            <a:r>
              <a:rPr sz="1300" b="1">
                <a:solidFill>
                  <a:srgbClr val="0B1F3A"/>
                </a:solidFill>
              </a:rPr>
              <a:t>Il modello non si corregge da solo</a:t>
            </a:r>
          </a:p>
          <a:p>
            <a:pPr>
              <a:spcAft>
                <a:spcPts val="800"/>
              </a:spcAft>
            </a:pPr>
            <a:r>
              <a:rPr sz="1300" b="0">
                <a:solidFill>
                  <a:srgbClr val="0B1F3A"/>
                </a:solidFill>
              </a:rPr>
              <a:t>Impara dai guasti registrati: se al Sud molti non lo sono, impara che certi segnali sono meno pericolosi di quanto siano. Togliere la zona dal modello attenua il problema ma non lo elimina. Oggi lo compensano avvisi e persone; un miglioramento futuro è riaddestrare su dati verificati sul campo.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Giudizio umano: motivare, decidere, tracciare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2B · test T1 T2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d_1.png"/>
          <p:cNvPicPr>
            <a:picLocks noChangeAspect="1"/>
          </p:cNvPicPr>
          <p:nvPr/>
        </p:nvPicPr>
        <p:blipFill>
          <a:blip r:embed="rId2"/>
          <a:stretch>
            <a:fillRect/>
          </a:stretch>
        </p:blipFill>
        <p:spPr>
          <a:xfrm>
            <a:off x="365760" y="1188720"/>
            <a:ext cx="6035040" cy="4877945"/>
          </a:xfrm>
          <a:prstGeom prst="rect">
            <a:avLst/>
          </a:prstGeom>
          <a:ln w="12700">
            <a:solidFill>
              <a:srgbClr val="D0D5DD"/>
            </a:solidFill>
          </a:ln>
        </p:spPr>
      </p:pic>
      <p:sp>
        <p:nvSpPr>
          <p:cNvPr id="7" name="TextBox 6"/>
          <p:cNvSpPr txBox="1"/>
          <p:nvPr/>
        </p:nvSpPr>
        <p:spPr>
          <a:xfrm>
            <a:off x="6583680" y="1280160"/>
            <a:ext cx="53035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Per l'esperto: i </a:t>
            </a:r>
            <a:r>
              <a:rPr sz="1500" b="1">
                <a:solidFill>
                  <a:srgbClr val="0B1F3A"/>
                </a:solidFill>
              </a:rPr>
              <a:t>3 motivi principali</a:t>
            </a:r>
            <a:r>
              <a:rPr sz="1500" b="0">
                <a:solidFill>
                  <a:srgbClr val="0B1F3A"/>
                </a:solidFill>
              </a:rPr>
              <a:t>, scritti da un LLM e con la </a:t>
            </a:r>
            <a:r>
              <a:rPr sz="1500" b="1">
                <a:solidFill>
                  <a:srgbClr val="0B1F3A"/>
                </a:solidFill>
              </a:rPr>
              <a:t>fonte</a:t>
            </a:r>
            <a:r>
              <a:rPr sz="1500" b="0">
                <a:solidFill>
                  <a:srgbClr val="0B1F3A"/>
                </a:solidFill>
              </a:rPr>
              <a:t> sempre dichiarata.</a:t>
            </a:r>
          </a:p>
          <a:p>
            <a:pPr>
              <a:spcAft>
                <a:spcPts val="800"/>
              </a:spcAft>
            </a:pPr>
            <a:r>
              <a:rPr sz="1500" b="1">
                <a:solidFill>
                  <a:srgbClr val="0F6CBD"/>
                </a:solidFill>
              </a:rPr>
              <a:t>•  </a:t>
            </a:r>
            <a:r>
              <a:rPr sz="1500" b="0">
                <a:solidFill>
                  <a:srgbClr val="0B1F3A"/>
                </a:solidFill>
              </a:rPr>
              <a:t>L'LLM </a:t>
            </a:r>
            <a:r>
              <a:rPr sz="1500" b="1">
                <a:solidFill>
                  <a:srgbClr val="0B1F3A"/>
                </a:solidFill>
              </a:rPr>
              <a:t>traduce, non decide</a:t>
            </a:r>
            <a:r>
              <a:rPr sz="1500" b="0">
                <a:solidFill>
                  <a:srgbClr val="0B1F3A"/>
                </a:solidFill>
              </a:rPr>
              <a:t>: se inventa numeri o usa gergo la risposta viene scartata e si usa un testo fisso.</a:t>
            </a:r>
          </a:p>
          <a:p>
            <a:pPr>
              <a:spcAft>
                <a:spcPts val="800"/>
              </a:spcAft>
            </a:pPr>
            <a:r>
              <a:rPr sz="1500" b="1">
                <a:solidFill>
                  <a:srgbClr val="0F6CBD"/>
                </a:solidFill>
              </a:rPr>
              <a:t>•  </a:t>
            </a:r>
            <a:r>
              <a:rPr sz="1500" b="0">
                <a:solidFill>
                  <a:srgbClr val="0B1F3A"/>
                </a:solidFill>
              </a:rPr>
              <a:t>Quattro scelte: </a:t>
            </a:r>
            <a:r>
              <a:rPr sz="1500" b="1">
                <a:solidFill>
                  <a:srgbClr val="0B1F3A"/>
                </a:solidFill>
              </a:rPr>
              <a:t>approva · correggi · rifiuta · chiedi aiuto</a:t>
            </a:r>
            <a:r>
              <a:rPr sz="1500" b="0">
                <a:solidFill>
                  <a:srgbClr val="0B1F3A"/>
                </a:solidFill>
              </a:rPr>
              <a:t> (escalation).</a:t>
            </a:r>
          </a:p>
          <a:p>
            <a:pPr>
              <a:spcAft>
                <a:spcPts val="800"/>
              </a:spcAft>
            </a:pPr>
            <a:r>
              <a:rPr sz="1500" b="1">
                <a:solidFill>
                  <a:srgbClr val="0F6CBD"/>
                </a:solidFill>
              </a:rPr>
              <a:t>•  </a:t>
            </a:r>
            <a:r>
              <a:rPr sz="1500" b="0">
                <a:solidFill>
                  <a:srgbClr val="0B1F3A"/>
                </a:solidFill>
              </a:rPr>
              <a:t>Serve una </a:t>
            </a:r>
            <a:r>
              <a:rPr sz="1500" b="1">
                <a:solidFill>
                  <a:srgbClr val="0B1F3A"/>
                </a:solidFill>
              </a:rPr>
              <a:t>motivazione vera</a:t>
            </a:r>
            <a:r>
              <a:rPr sz="1500" b="0">
                <a:solidFill>
                  <a:srgbClr val="0B1F3A"/>
                </a:solidFill>
              </a:rPr>
              <a:t>: "ok" viene respinto, le frasi copiate anche.</a:t>
            </a:r>
          </a:p>
          <a:p>
            <a:pPr>
              <a:spcAft>
                <a:spcPts val="800"/>
              </a:spcAft>
            </a:pPr>
            <a:r>
              <a:rPr sz="1500" b="1">
                <a:solidFill>
                  <a:srgbClr val="0F6CBD"/>
                </a:solidFill>
              </a:rPr>
              <a:t>•  </a:t>
            </a:r>
            <a:r>
              <a:rPr sz="1500" b="0">
                <a:solidFill>
                  <a:srgbClr val="0B1F3A"/>
                </a:solidFill>
              </a:rPr>
              <a:t>Nel codice c'è </a:t>
            </a:r>
            <a:r>
              <a:rPr sz="1500" b="1">
                <a:solidFill>
                  <a:srgbClr val="0B1F3A"/>
                </a:solidFill>
              </a:rPr>
              <a:t>un solo punto</a:t>
            </a:r>
            <a:r>
              <a:rPr sz="1500" b="0">
                <a:solidFill>
                  <a:srgbClr val="0B1F3A"/>
                </a:solidFill>
              </a:rPr>
              <a:t> che esegue le azioni: una decisione rifiutata o in attesa non ci arriva.</a:t>
            </a:r>
          </a:p>
          <a:p>
            <a:pPr>
              <a:spcAft>
                <a:spcPts val="800"/>
              </a:spcAft>
            </a:pPr>
            <a:r>
              <a:rPr sz="1500" b="1">
                <a:solidFill>
                  <a:srgbClr val="0F6CBD"/>
                </a:solidFill>
              </a:rPr>
              <a:t>•  </a:t>
            </a:r>
            <a:r>
              <a:rPr sz="1500" b="0">
                <a:solidFill>
                  <a:srgbClr val="0B1F3A"/>
                </a:solidFill>
              </a:rPr>
              <a:t>Se nessuno decide entro 30 minuti, la decisione sale di livello: </a:t>
            </a:r>
            <a:r>
              <a:rPr sz="1500" b="1">
                <a:solidFill>
                  <a:srgbClr val="0B1F3A"/>
                </a:solidFill>
              </a:rPr>
              <a:t>mai eseguita in silenzio</a:t>
            </a:r>
            <a:r>
              <a:rPr sz="1500" b="0">
                <a:solidFill>
                  <a:srgbClr val="0B1F3A"/>
                </a:solidFill>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Fermare il sistema, anche solo in parte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2C · test T3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7_stop.png"/>
          <p:cNvPicPr>
            <a:picLocks noChangeAspect="1"/>
          </p:cNvPicPr>
          <p:nvPr/>
        </p:nvPicPr>
        <p:blipFill>
          <a:blip r:embed="rId2"/>
          <a:stretch>
            <a:fillRect/>
          </a:stretch>
        </p:blipFill>
        <p:spPr>
          <a:xfrm>
            <a:off x="365760" y="1188720"/>
            <a:ext cx="7498079" cy="4678801"/>
          </a:xfrm>
          <a:prstGeom prst="rect">
            <a:avLst/>
          </a:prstGeom>
          <a:ln w="12700">
            <a:solidFill>
              <a:srgbClr val="D0D5DD"/>
            </a:solidFill>
          </a:ln>
        </p:spPr>
      </p:pic>
      <p:sp>
        <p:nvSpPr>
          <p:cNvPr id="7" name="TextBox 6"/>
          <p:cNvSpPr txBox="1"/>
          <p:nvPr/>
        </p:nvSpPr>
        <p:spPr>
          <a:xfrm>
            <a:off x="8046720" y="1280160"/>
            <a:ext cx="3840480" cy="530352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Si può fermare </a:t>
            </a:r>
            <a:r>
              <a:rPr sz="1600" b="1">
                <a:solidFill>
                  <a:srgbClr val="0B1F3A"/>
                </a:solidFill>
              </a:rPr>
              <a:t>tutto</a:t>
            </a:r>
            <a:r>
              <a:rPr sz="1600" b="0">
                <a:solidFill>
                  <a:srgbClr val="0B1F3A"/>
                </a:solidFill>
              </a:rPr>
              <a:t>, una </a:t>
            </a:r>
            <a:r>
              <a:rPr sz="1600" b="1">
                <a:solidFill>
                  <a:srgbClr val="0B1F3A"/>
                </a:solidFill>
              </a:rPr>
              <a:t>zona</a:t>
            </a:r>
            <a:r>
              <a:rPr sz="1600" b="0">
                <a:solidFill>
                  <a:srgbClr val="0B1F3A"/>
                </a:solidFill>
              </a:rPr>
              <a:t>, un </a:t>
            </a:r>
            <a:r>
              <a:rPr sz="1600" b="1">
                <a:solidFill>
                  <a:srgbClr val="0B1F3A"/>
                </a:solidFill>
              </a:rPr>
              <a:t>tipo di impianto</a:t>
            </a:r>
            <a:r>
              <a:rPr sz="1600" b="0">
                <a:solidFill>
                  <a:srgbClr val="0B1F3A"/>
                </a:solidFill>
              </a:rPr>
              <a:t> o una combinazione.</a:t>
            </a:r>
          </a:p>
          <a:p>
            <a:pPr>
              <a:spcAft>
                <a:spcPts val="800"/>
              </a:spcAft>
            </a:pPr>
            <a:r>
              <a:rPr sz="1600" b="1">
                <a:solidFill>
                  <a:srgbClr val="0F6CBD"/>
                </a:solidFill>
              </a:rPr>
              <a:t>•  </a:t>
            </a:r>
            <a:r>
              <a:rPr sz="1600" b="0">
                <a:solidFill>
                  <a:srgbClr val="0B1F3A"/>
                </a:solidFill>
              </a:rPr>
              <a:t>Esempio: solo le </a:t>
            </a:r>
            <a:r>
              <a:rPr sz="1600" b="1">
                <a:solidFill>
                  <a:srgbClr val="0B1F3A"/>
                </a:solidFill>
              </a:rPr>
              <a:t>linee alta tensione del Sud</a:t>
            </a:r>
            <a:r>
              <a:rPr sz="1600" b="0">
                <a:solidFill>
                  <a:srgbClr val="0B1F3A"/>
                </a:solidFill>
              </a:rPr>
              <a:t>, il resto continua.</a:t>
            </a:r>
          </a:p>
          <a:p>
            <a:pPr>
              <a:spcAft>
                <a:spcPts val="800"/>
              </a:spcAft>
            </a:pPr>
            <a:r>
              <a:rPr sz="1600" b="1">
                <a:solidFill>
                  <a:srgbClr val="0F6CBD"/>
                </a:solidFill>
              </a:rPr>
              <a:t>•  </a:t>
            </a:r>
            <a:r>
              <a:rPr sz="1600" b="1">
                <a:solidFill>
                  <a:srgbClr val="0B1F3A"/>
                </a:solidFill>
              </a:rPr>
              <a:t>Un click più una conferma</a:t>
            </a:r>
            <a:r>
              <a:rPr sz="1600" b="0">
                <a:solidFill>
                  <a:srgbClr val="0B1F3A"/>
                </a:solidFill>
              </a:rPr>
              <a:t>, con il motivo.</a:t>
            </a:r>
          </a:p>
          <a:p>
            <a:pPr>
              <a:spcAft>
                <a:spcPts val="800"/>
              </a:spcAft>
            </a:pPr>
            <a:r>
              <a:rPr sz="1600" b="1">
                <a:solidFill>
                  <a:srgbClr val="0F6CBD"/>
                </a:solidFill>
              </a:rPr>
              <a:t>•  </a:t>
            </a:r>
            <a:r>
              <a:rPr sz="1600" b="0">
                <a:solidFill>
                  <a:srgbClr val="0B1F3A"/>
                </a:solidFill>
              </a:rPr>
              <a:t>Blocca anche le decisioni </a:t>
            </a:r>
            <a:r>
              <a:rPr sz="1600" b="1">
                <a:solidFill>
                  <a:srgbClr val="0B1F3A"/>
                </a:solidFill>
              </a:rPr>
              <a:t>già in coda</a:t>
            </a:r>
            <a:r>
              <a:rPr sz="1600" b="0">
                <a:solidFill>
                  <a:srgbClr val="0B1F3A"/>
                </a:solidFill>
              </a:rPr>
              <a:t>.</a:t>
            </a:r>
          </a:p>
          <a:p>
            <a:pPr>
              <a:spcAft>
                <a:spcPts val="800"/>
              </a:spcAft>
            </a:pPr>
            <a:r>
              <a:rPr sz="1600" b="1">
                <a:solidFill>
                  <a:srgbClr val="0F6CBD"/>
                </a:solidFill>
              </a:rPr>
              <a:t>•  </a:t>
            </a:r>
            <a:r>
              <a:rPr sz="1600" b="0">
                <a:solidFill>
                  <a:srgbClr val="0B1F3A"/>
                </a:solidFill>
              </a:rPr>
              <a:t>Per ripartire servono </a:t>
            </a:r>
            <a:r>
              <a:rPr sz="1600" b="1">
                <a:solidFill>
                  <a:srgbClr val="0B1F3A"/>
                </a:solidFill>
              </a:rPr>
              <a:t>due persone diverse</a:t>
            </a:r>
            <a:r>
              <a:rPr sz="1600" b="0">
                <a:solidFill>
                  <a:srgbClr val="0B1F3A"/>
                </a:solidFill>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registro: chi, cosa, quando, perché</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12 · test T6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udit.png"/>
          <p:cNvPicPr>
            <a:picLocks noChangeAspect="1"/>
          </p:cNvPicPr>
          <p:nvPr/>
        </p:nvPicPr>
        <p:blipFill>
          <a:blip r:embed="rId2"/>
          <a:stretch>
            <a:fillRect/>
          </a:stretch>
        </p:blipFill>
        <p:spPr>
          <a:xfrm>
            <a:off x="1259025" y="1188720"/>
            <a:ext cx="5162909" cy="5486400"/>
          </a:xfrm>
          <a:prstGeom prst="rect">
            <a:avLst/>
          </a:prstGeom>
          <a:ln w="12700">
            <a:solidFill>
              <a:srgbClr val="D0D5DD"/>
            </a:solidFill>
          </a:ln>
        </p:spPr>
      </p:pic>
      <p:sp>
        <p:nvSpPr>
          <p:cNvPr id="7" name="TextBox 6"/>
          <p:cNvSpPr txBox="1"/>
          <p:nvPr/>
        </p:nvSpPr>
        <p:spPr>
          <a:xfrm>
            <a:off x="7498079" y="1280160"/>
            <a:ext cx="43891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Ogni decisione si ricostruisce </a:t>
            </a:r>
            <a:r>
              <a:rPr sz="1500" b="1">
                <a:solidFill>
                  <a:srgbClr val="0B1F3A"/>
                </a:solidFill>
              </a:rPr>
              <a:t>in pochi secondi</a:t>
            </a:r>
            <a:r>
              <a:rPr sz="1500" b="0">
                <a:solidFill>
                  <a:srgbClr val="0B1F3A"/>
                </a:solidFill>
              </a:rPr>
              <a:t>: qui AST-01909, rifiutata da OP-014 con il suo motivo.</a:t>
            </a:r>
          </a:p>
          <a:p>
            <a:pPr>
              <a:spcAft>
                <a:spcPts val="800"/>
              </a:spcAft>
            </a:pPr>
            <a:r>
              <a:rPr sz="1500" b="1">
                <a:solidFill>
                  <a:srgbClr val="0F6CBD"/>
                </a:solidFill>
              </a:rPr>
              <a:t>•  </a:t>
            </a:r>
            <a:r>
              <a:rPr sz="1500" b="0">
                <a:solidFill>
                  <a:srgbClr val="0B1F3A"/>
                </a:solidFill>
              </a:rPr>
              <a:t>Ogni riga è "cucita" alla precedente con un codice: se qualcuno cambia una riga, la cucitura si rompe e la dashboard lo segnala.</a:t>
            </a:r>
          </a:p>
          <a:p>
            <a:pPr>
              <a:spcAft>
                <a:spcPts val="800"/>
              </a:spcAft>
            </a:pPr>
            <a:r>
              <a:rPr sz="1500" b="1">
                <a:solidFill>
                  <a:srgbClr val="0F6CBD"/>
                </a:solidFill>
              </a:rPr>
              <a:t>•  </a:t>
            </a:r>
            <a:r>
              <a:rPr sz="1500" b="0">
                <a:solidFill>
                  <a:srgbClr val="0B1F3A"/>
                </a:solidFill>
              </a:rPr>
              <a:t>Si esporta per un controllo esterno.</a:t>
            </a:r>
          </a:p>
          <a:p>
            <a:pPr>
              <a:spcAft>
                <a:spcPts val="800"/>
              </a:spcAft>
            </a:pPr>
            <a:r>
              <a:rPr sz="1500" b="1">
                <a:solidFill>
                  <a:srgbClr val="0F6CBD"/>
                </a:solidFill>
              </a:rPr>
              <a:t>•  </a:t>
            </a:r>
            <a:r>
              <a:rPr sz="1500" b="0">
                <a:solidFill>
                  <a:srgbClr val="0B1F3A"/>
                </a:solidFill>
              </a:rPr>
              <a:t>Limite: chi riscrivesse </a:t>
            </a:r>
            <a:r>
              <a:rPr sz="1500" b="1">
                <a:solidFill>
                  <a:srgbClr val="0B1F3A"/>
                </a:solidFill>
              </a:rPr>
              <a:t>tutto</a:t>
            </a:r>
            <a:r>
              <a:rPr sz="1500" b="0">
                <a:solidFill>
                  <a:srgbClr val="0B1F3A"/>
                </a:solidFill>
              </a:rPr>
              <a:t> il registro da capo non verrebbe scoperto.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fatto contro il bias, e quanto ha funzionato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3B-3C</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attesi_registrati.png"/>
          <p:cNvPicPr>
            <a:picLocks noChangeAspect="1"/>
          </p:cNvPicPr>
          <p:nvPr/>
        </p:nvPicPr>
        <p:blipFill>
          <a:blip r:embed="rId2"/>
          <a:stretch>
            <a:fillRect/>
          </a:stretch>
        </p:blipFill>
        <p:spPr>
          <a:xfrm>
            <a:off x="274320" y="1143000"/>
            <a:ext cx="5120640" cy="3364992"/>
          </a:xfrm>
          <a:prstGeom prst="rect">
            <a:avLst/>
          </a:prstGeom>
        </p:spPr>
      </p:pic>
      <p:sp>
        <p:nvSpPr>
          <p:cNvPr id="7" name="Rectangle 6"/>
          <p:cNvSpPr/>
          <p:nvPr/>
        </p:nvSpPr>
        <p:spPr>
          <a:xfrm>
            <a:off x="5577840" y="11430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0" y="11430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1188720"/>
            <a:ext cx="6126480" cy="1188720"/>
          </a:xfrm>
          <a:prstGeom prst="rect">
            <a:avLst/>
          </a:prstGeom>
          <a:noFill/>
        </p:spPr>
        <p:txBody>
          <a:bodyPr wrap="square">
            <a:spAutoFit/>
          </a:bodyPr>
          <a:lstStyle/>
          <a:p>
            <a:pPr>
              <a:spcAft>
                <a:spcPts val="800"/>
              </a:spcAft>
            </a:pPr>
            <a:r>
              <a:rPr sz="1300" b="1">
                <a:solidFill>
                  <a:srgbClr val="0B1F3A"/>
                </a:solidFill>
              </a:rPr>
              <a:t>Abbiamo tolto la zona dal modello</a:t>
            </a:r>
          </a:p>
          <a:p>
            <a:pPr>
              <a:spcAft>
                <a:spcPts val="800"/>
              </a:spcAft>
            </a:pPr>
            <a:r>
              <a:rPr sz="1300" b="0">
                <a:solidFill>
                  <a:srgbClr val="0B1F3A"/>
                </a:solidFill>
              </a:rPr>
              <a:t>Giudica un impianto dai suoi sensori, non da dove si trova.</a:t>
            </a:r>
          </a:p>
          <a:p>
            <a:pPr>
              <a:spcAft>
                <a:spcPts val="800"/>
              </a:spcAft>
            </a:pPr>
            <a:r>
              <a:rPr sz="1300" b="0">
                <a:solidFill>
                  <a:srgbClr val="0B1F3A"/>
                </a:solidFill>
              </a:rPr>
              <a:t>→ La differenza tra zone nel trovare guasti si è dimezzata.</a:t>
            </a:r>
          </a:p>
        </p:txBody>
      </p:sp>
      <p:sp>
        <p:nvSpPr>
          <p:cNvPr id="10" name="Rectangle 9"/>
          <p:cNvSpPr/>
          <p:nvPr/>
        </p:nvSpPr>
        <p:spPr>
          <a:xfrm>
            <a:off x="5577840" y="25146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77840" y="25146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06440" y="2560320"/>
            <a:ext cx="6126480" cy="1188720"/>
          </a:xfrm>
          <a:prstGeom prst="rect">
            <a:avLst/>
          </a:prstGeom>
          <a:noFill/>
        </p:spPr>
        <p:txBody>
          <a:bodyPr wrap="square">
            <a:spAutoFit/>
          </a:bodyPr>
          <a:lstStyle/>
          <a:p>
            <a:pPr>
              <a:spcAft>
                <a:spcPts val="800"/>
              </a:spcAft>
            </a:pPr>
            <a:r>
              <a:rPr sz="1300" b="1">
                <a:solidFill>
                  <a:srgbClr val="0B1F3A"/>
                </a:solidFill>
              </a:rPr>
              <a:t>Non abbiamo reso il sistema "più tranquillo" al Sud</a:t>
            </a:r>
          </a:p>
          <a:p>
            <a:pPr>
              <a:spcAft>
                <a:spcPts val="800"/>
              </a:spcAft>
            </a:pPr>
            <a:r>
              <a:rPr sz="1300" b="0">
                <a:solidFill>
                  <a:srgbClr val="0B1F3A"/>
                </a:solidFill>
              </a:rPr>
              <a:t>I suoi falsi allarmi al Sud potrebbero essere guasti veri mai registrati.</a:t>
            </a:r>
          </a:p>
          <a:p>
            <a:pPr>
              <a:spcAft>
                <a:spcPts val="800"/>
              </a:spcAft>
            </a:pPr>
            <a:r>
              <a:rPr sz="1300" b="0">
                <a:solidFill>
                  <a:srgbClr val="0B1F3A"/>
                </a:solidFill>
              </a:rPr>
              <a:t>→ Altrimenti avrebbe visto 65 guasti su 100 invece di 88.</a:t>
            </a:r>
          </a:p>
        </p:txBody>
      </p:sp>
      <p:sp>
        <p:nvSpPr>
          <p:cNvPr id="13" name="Rectangle 12"/>
          <p:cNvSpPr/>
          <p:nvPr/>
        </p:nvSpPr>
        <p:spPr>
          <a:xfrm>
            <a:off x="5577840" y="38862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8862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06440" y="3931920"/>
            <a:ext cx="6126480" cy="1188720"/>
          </a:xfrm>
          <a:prstGeom prst="rect">
            <a:avLst/>
          </a:prstGeom>
          <a:noFill/>
        </p:spPr>
        <p:txBody>
          <a:bodyPr wrap="square">
            <a:spAutoFit/>
          </a:bodyPr>
          <a:lstStyle/>
          <a:p>
            <a:pPr>
              <a:spcAft>
                <a:spcPts val="800"/>
              </a:spcAft>
            </a:pPr>
            <a:r>
              <a:rPr sz="1300" b="1">
                <a:solidFill>
                  <a:srgbClr val="0B1F3A"/>
                </a:solidFill>
              </a:rPr>
              <a:t>Allarme che agisce da solo</a:t>
            </a:r>
          </a:p>
          <a:p>
            <a:pPr>
              <a:spcAft>
                <a:spcPts val="800"/>
              </a:spcAft>
            </a:pPr>
            <a:r>
              <a:rPr sz="1300" b="0">
                <a:solidFill>
                  <a:srgbClr val="0B1F3A"/>
                </a:solidFill>
              </a:rPr>
              <a:t>Quando in una zona attesi e registrati non tornano, decide una persona.</a:t>
            </a:r>
          </a:p>
          <a:p>
            <a:pPr>
              <a:spcAft>
                <a:spcPts val="800"/>
              </a:spcAft>
            </a:pPr>
            <a:r>
              <a:rPr sz="1300" b="0">
                <a:solidFill>
                  <a:srgbClr val="0B1F3A"/>
                </a:solidFill>
              </a:rPr>
              <a:t>→ Al Sud il sistema non agisce mai da solo.</a:t>
            </a:r>
          </a:p>
        </p:txBody>
      </p:sp>
      <p:sp>
        <p:nvSpPr>
          <p:cNvPr id="16" name="Rectangle 15"/>
          <p:cNvSpPr/>
          <p:nvPr/>
        </p:nvSpPr>
        <p:spPr>
          <a:xfrm>
            <a:off x="5577840" y="52578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0" y="52578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06440" y="5303520"/>
            <a:ext cx="6126480" cy="1188720"/>
          </a:xfrm>
          <a:prstGeom prst="rect">
            <a:avLst/>
          </a:prstGeom>
          <a:noFill/>
        </p:spPr>
        <p:txBody>
          <a:bodyPr wrap="square">
            <a:spAutoFit/>
          </a:bodyPr>
          <a:lstStyle/>
          <a:p>
            <a:pPr>
              <a:spcAft>
                <a:spcPts val="800"/>
              </a:spcAft>
            </a:pPr>
            <a:r>
              <a:rPr sz="1300" b="1">
                <a:solidFill>
                  <a:srgbClr val="0B1F3A"/>
                </a:solidFill>
              </a:rPr>
              <a:t>Più controllo dove vede meno</a:t>
            </a:r>
          </a:p>
          <a:p>
            <a:pPr>
              <a:spcAft>
                <a:spcPts val="800"/>
              </a:spcAft>
            </a:pPr>
            <a:r>
              <a:rPr sz="1300" b="0">
                <a:solidFill>
                  <a:srgbClr val="0B1F3A"/>
                </a:solidFill>
              </a:rPr>
              <a:t>A Nord e Centro anche i controlli leggeri li approva una persona.</a:t>
            </a:r>
          </a:p>
          <a:p>
            <a:pPr>
              <a:spcAft>
                <a:spcPts val="800"/>
              </a:spcAft>
            </a:pPr>
            <a:r>
              <a:rPr sz="1300" b="0">
                <a:solidFill>
                  <a:srgbClr val="0B1F3A"/>
                </a:solidFill>
              </a:rPr>
              <a:t>→ Guasti veri che sarebbero passati senza controllo: da 6 a 2. Costo: 83 decisioni umane in più su 720.</a:t>
            </a:r>
          </a:p>
        </p:txBody>
      </p:sp>
      <p:sp>
        <p:nvSpPr>
          <p:cNvPr id="19" name="TextBox 18"/>
          <p:cNvSpPr txBox="1"/>
          <p:nvPr/>
        </p:nvSpPr>
        <p:spPr>
          <a:xfrm>
            <a:off x="365760" y="4663440"/>
            <a:ext cx="5120640" cy="2011680"/>
          </a:xfrm>
          <a:prstGeom prst="rect">
            <a:avLst/>
          </a:prstGeom>
          <a:noFill/>
        </p:spPr>
        <p:txBody>
          <a:bodyPr wrap="square">
            <a:spAutoFit/>
          </a:bodyPr>
          <a:lstStyle/>
          <a:p>
            <a:pPr>
              <a:spcAft>
                <a:spcPts val="800"/>
              </a:spcAft>
            </a:pPr>
            <a:r>
              <a:rPr sz="1400" b="0">
                <a:solidFill>
                  <a:srgbClr val="555F6D"/>
                </a:solidFill>
              </a:rPr>
              <a:t>Grigio: guasti che il sistema si aspetta guardando i sensori. Colore: guasti registrati. </a:t>
            </a:r>
            <a:r>
              <a:rPr sz="1400" b="1">
                <a:solidFill>
                  <a:srgbClr val="555F6D"/>
                </a:solidFill>
              </a:rPr>
              <a:t>Solo al Sud</a:t>
            </a:r>
            <a:r>
              <a:rPr sz="1400" b="0">
                <a:solidFill>
                  <a:srgbClr val="555F6D"/>
                </a:solidFill>
              </a:rPr>
              <a:t> la differenza è grande (42 contro 24): è il segnale che fa scattare l'allarme.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Segnali, non prove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D-44 · D-45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recall_ic.png"/>
          <p:cNvPicPr>
            <a:picLocks noChangeAspect="1"/>
          </p:cNvPicPr>
          <p:nvPr/>
        </p:nvPicPr>
        <p:blipFill>
          <a:blip r:embed="rId2"/>
          <a:stretch>
            <a:fillRect/>
          </a:stretch>
        </p:blipFill>
        <p:spPr>
          <a:xfrm>
            <a:off x="274320" y="1188720"/>
            <a:ext cx="6035040" cy="3965883"/>
          </a:xfrm>
          <a:prstGeom prst="rect">
            <a:avLst/>
          </a:prstGeom>
        </p:spPr>
      </p:pic>
      <p:sp>
        <p:nvSpPr>
          <p:cNvPr id="7" name="TextBox 6"/>
          <p:cNvSpPr txBox="1"/>
          <p:nvPr/>
        </p:nvSpPr>
        <p:spPr>
          <a:xfrm>
            <a:off x="6492240" y="1234440"/>
            <a:ext cx="5394960" cy="411480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Il pallino dice </a:t>
            </a:r>
            <a:r>
              <a:rPr sz="1600" b="1">
                <a:solidFill>
                  <a:srgbClr val="0B1F3A"/>
                </a:solidFill>
              </a:rPr>
              <a:t>quanti guasti su 10</a:t>
            </a:r>
            <a:r>
              <a:rPr sz="1600" b="0">
                <a:solidFill>
                  <a:srgbClr val="0B1F3A"/>
                </a:solidFill>
              </a:rPr>
              <a:t> il sistema vede in ogni zona: Nord 7, Isole più di 9.</a:t>
            </a:r>
          </a:p>
          <a:p>
            <a:pPr>
              <a:spcAft>
                <a:spcPts val="800"/>
              </a:spcAft>
            </a:pPr>
            <a:r>
              <a:rPr sz="1600" b="1">
                <a:solidFill>
                  <a:srgbClr val="0F6CBD"/>
                </a:solidFill>
              </a:rPr>
              <a:t>•  </a:t>
            </a:r>
            <a:r>
              <a:rPr sz="1600" b="0">
                <a:solidFill>
                  <a:srgbClr val="0B1F3A"/>
                </a:solidFill>
              </a:rPr>
              <a:t>Ma per ogni zona abbiamo solo </a:t>
            </a:r>
            <a:r>
              <a:rPr sz="1600" b="1">
                <a:solidFill>
                  <a:srgbClr val="0B1F3A"/>
                </a:solidFill>
              </a:rPr>
              <a:t>24-43 guasti veri</a:t>
            </a:r>
            <a:r>
              <a:rPr sz="1600" b="0">
                <a:solidFill>
                  <a:srgbClr val="0B1F3A"/>
                </a:solidFill>
              </a:rPr>
              <a:t>: pochi. Con pochi casi i numeri "ballano", come 10 lanci di moneta che danno 7 teste senza che la moneta sia truccata.</a:t>
            </a:r>
          </a:p>
          <a:p>
            <a:pPr>
              <a:spcAft>
                <a:spcPts val="800"/>
              </a:spcAft>
            </a:pPr>
            <a:r>
              <a:rPr sz="1600" b="1">
                <a:solidFill>
                  <a:srgbClr val="0F6CBD"/>
                </a:solidFill>
              </a:rPr>
              <a:t>•  </a:t>
            </a:r>
            <a:r>
              <a:rPr sz="1600" b="0">
                <a:solidFill>
                  <a:srgbClr val="0B1F3A"/>
                </a:solidFill>
              </a:rPr>
              <a:t>Le barre mostrano quanto possono ballare: </a:t>
            </a:r>
            <a:r>
              <a:rPr sz="1600" b="1">
                <a:solidFill>
                  <a:srgbClr val="0B1F3A"/>
                </a:solidFill>
              </a:rPr>
              <a:t>si sovrappongono</a:t>
            </a:r>
            <a:r>
              <a:rPr sz="1600" b="0">
                <a:solidFill>
                  <a:srgbClr val="0B1F3A"/>
                </a:solidFill>
              </a:rPr>
              <a:t>. Non possiamo dire che una zona sia trattata peggio; possiamo dire che </a:t>
            </a:r>
            <a:r>
              <a:rPr sz="1600" b="1">
                <a:solidFill>
                  <a:srgbClr val="0B1F3A"/>
                </a:solidFill>
              </a:rPr>
              <a:t>va tenuta d'occhio</a:t>
            </a:r>
            <a:r>
              <a:rPr sz="1600" b="0">
                <a:solidFill>
                  <a:srgbClr val="0B1F3A"/>
                </a:solidFill>
              </a:rPr>
              <a:t>.</a:t>
            </a:r>
          </a:p>
        </p:txBody>
      </p:sp>
      <p:sp>
        <p:nvSpPr>
          <p:cNvPr id="8" name="Rectangle 7"/>
          <p:cNvSpPr/>
          <p:nvPr/>
        </p:nvSpPr>
        <p:spPr>
          <a:xfrm>
            <a:off x="365760" y="5349240"/>
            <a:ext cx="1143000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349240"/>
            <a:ext cx="91440" cy="1234440"/>
          </a:xfrm>
          <a:prstGeom prst="rect">
            <a:avLst/>
          </a:prstGeom>
          <a:solidFill>
            <a:srgbClr val="E0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422392"/>
            <a:ext cx="11109960" cy="1143000"/>
          </a:xfrm>
          <a:prstGeom prst="rect">
            <a:avLst/>
          </a:prstGeom>
          <a:noFill/>
        </p:spPr>
        <p:txBody>
          <a:bodyPr wrap="square">
            <a:spAutoFit/>
          </a:bodyPr>
          <a:lstStyle/>
          <a:p>
            <a:pPr>
              <a:spcAft>
                <a:spcPts val="800"/>
              </a:spcAft>
            </a:pPr>
            <a:r>
              <a:rPr sz="1500" b="1">
                <a:solidFill>
                  <a:srgbClr val="0B1F3A"/>
                </a:solidFill>
              </a:rPr>
              <a:t>Guardare gli incroci</a:t>
            </a:r>
          </a:p>
          <a:p>
            <a:pPr>
              <a:spcAft>
                <a:spcPts val="800"/>
              </a:spcAft>
            </a:pPr>
            <a:r>
              <a:rPr sz="1500" b="0">
                <a:solidFill>
                  <a:srgbClr val="0B1F3A"/>
                </a:solidFill>
              </a:rPr>
              <a:t>Zona per zona e tipo di utenza per tipo, tutto sembra accettabile. Incrociando le due cose emerge il gruppo servito peggio: le utenze normali di Nord e Centro, dove il sistema vede circa 2 guasti su 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sistema si controlla nel tempo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14(1)-(2)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ias_4.png"/>
          <p:cNvPicPr>
            <a:picLocks noChangeAspect="1"/>
          </p:cNvPicPr>
          <p:nvPr/>
        </p:nvPicPr>
        <p:blipFill>
          <a:blip r:embed="rId2"/>
          <a:stretch>
            <a:fillRect/>
          </a:stretch>
        </p:blipFill>
        <p:spPr>
          <a:xfrm>
            <a:off x="550683" y="1188720"/>
            <a:ext cx="5299433" cy="3566160"/>
          </a:xfrm>
          <a:prstGeom prst="rect">
            <a:avLst/>
          </a:prstGeom>
          <a:ln w="12700">
            <a:solidFill>
              <a:srgbClr val="D0D5DD"/>
            </a:solidFill>
          </a:ln>
        </p:spPr>
      </p:pic>
      <p:sp>
        <p:nvSpPr>
          <p:cNvPr id="7" name="TextBox 6"/>
          <p:cNvSpPr txBox="1"/>
          <p:nvPr/>
        </p:nvSpPr>
        <p:spPr>
          <a:xfrm>
            <a:off x="457200" y="4892040"/>
            <a:ext cx="5577840" cy="1828800"/>
          </a:xfrm>
          <a:prstGeom prst="rect">
            <a:avLst/>
          </a:prstGeom>
          <a:noFill/>
        </p:spPr>
        <p:txBody>
          <a:bodyPr wrap="square">
            <a:spAutoFit/>
          </a:bodyPr>
          <a:lstStyle/>
          <a:p>
            <a:pPr>
              <a:spcAft>
                <a:spcPts val="800"/>
              </a:spcAft>
            </a:pPr>
            <a:r>
              <a:rPr sz="1400" b="1">
                <a:solidFill>
                  <a:srgbClr val="0F6CBD"/>
                </a:solidFill>
              </a:rPr>
              <a:t>•  </a:t>
            </a:r>
            <a:r>
              <a:rPr sz="1400" b="0">
                <a:solidFill>
                  <a:srgbClr val="0B1F3A"/>
                </a:solidFill>
              </a:rPr>
              <a:t>Ogni settimana confronta le sue previsioni con quello che succede.</a:t>
            </a:r>
          </a:p>
          <a:p>
            <a:pPr>
              <a:spcAft>
                <a:spcPts val="800"/>
              </a:spcAft>
            </a:pPr>
            <a:r>
              <a:rPr sz="1400" b="1">
                <a:solidFill>
                  <a:srgbClr val="0F6CBD"/>
                </a:solidFill>
              </a:rPr>
              <a:t>•  </a:t>
            </a:r>
            <a:r>
              <a:rPr sz="1400" b="0">
                <a:solidFill>
                  <a:srgbClr val="0B1F3A"/>
                </a:solidFill>
              </a:rPr>
              <a:t>Se peggiora </a:t>
            </a:r>
            <a:r>
              <a:rPr sz="1400" b="1">
                <a:solidFill>
                  <a:srgbClr val="0B1F3A"/>
                </a:solidFill>
              </a:rPr>
              <a:t>due settimane di fila</a:t>
            </a:r>
            <a:r>
              <a:rPr sz="1400" b="0">
                <a:solidFill>
                  <a:srgbClr val="0B1F3A"/>
                </a:solidFill>
              </a:rPr>
              <a:t>, smette di agire da solo e passa tutto alle persone.</a:t>
            </a:r>
          </a:p>
          <a:p>
            <a:pPr>
              <a:spcAft>
                <a:spcPts val="800"/>
              </a:spcAft>
            </a:pPr>
            <a:r>
              <a:rPr sz="1400" b="1">
                <a:solidFill>
                  <a:srgbClr val="0F6CBD"/>
                </a:solidFill>
              </a:rPr>
              <a:t>•  </a:t>
            </a:r>
            <a:r>
              <a:rPr sz="1400" b="0">
                <a:solidFill>
                  <a:srgbClr val="0B1F3A"/>
                </a:solidFill>
              </a:rPr>
              <a:t>Le settimane sono </a:t>
            </a:r>
            <a:r>
              <a:rPr sz="1400" b="1">
                <a:solidFill>
                  <a:srgbClr val="0B1F3A"/>
                </a:solidFill>
              </a:rPr>
              <a:t>simulate</a:t>
            </a:r>
            <a:r>
              <a:rPr sz="1400" b="0">
                <a:solidFill>
                  <a:srgbClr val="0B1F3A"/>
                </a:solidFill>
              </a:rPr>
              <a:t>: i dati non hanno date.</a:t>
            </a:r>
          </a:p>
        </p:txBody>
      </p:sp>
      <p:sp>
        <p:nvSpPr>
          <p:cNvPr id="8" name="Rectangle 7"/>
          <p:cNvSpPr/>
          <p:nvPr/>
        </p:nvSpPr>
        <p:spPr>
          <a:xfrm>
            <a:off x="6309360" y="1188720"/>
            <a:ext cx="5577840" cy="5440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280160"/>
            <a:ext cx="5303520" cy="5303520"/>
          </a:xfrm>
          <a:prstGeom prst="rect">
            <a:avLst/>
          </a:prstGeom>
          <a:noFill/>
        </p:spPr>
        <p:txBody>
          <a:bodyPr wrap="square">
            <a:spAutoFit/>
          </a:bodyPr>
          <a:lstStyle/>
          <a:p>
            <a:pPr>
              <a:spcAft>
                <a:spcPts val="800"/>
              </a:spcAft>
            </a:pPr>
            <a:r>
              <a:rPr sz="1500" b="1">
                <a:solidFill>
                  <a:srgbClr val="0B1F3A"/>
                </a:solidFill>
              </a:rPr>
              <a:t>La supervisione in numeri (17 decisioni reali, 3 operatori)</a:t>
            </a:r>
          </a:p>
          <a:p>
            <a:pPr>
              <a:spcAft>
                <a:spcPts val="800"/>
              </a:spcAft>
            </a:pPr>
            <a:r>
              <a:rPr sz="1500" b="1">
                <a:solidFill>
                  <a:srgbClr val="0F6CBD"/>
                </a:solidFill>
              </a:rPr>
              <a:t>•  </a:t>
            </a:r>
            <a:r>
              <a:rPr sz="1500" b="1">
                <a:solidFill>
                  <a:srgbClr val="0B1F3A"/>
                </a:solidFill>
              </a:rPr>
              <a:t>0</a:t>
            </a:r>
            <a:r>
              <a:rPr sz="1500" b="0">
                <a:solidFill>
                  <a:srgbClr val="0B1F3A"/>
                </a:solidFill>
              </a:rPr>
              <a:t> decisioni importanti partite senza una persona.</a:t>
            </a:r>
          </a:p>
          <a:p>
            <a:pPr>
              <a:spcAft>
                <a:spcPts val="800"/>
              </a:spcAft>
            </a:pPr>
            <a:r>
              <a:rPr sz="1500" b="1">
                <a:solidFill>
                  <a:srgbClr val="0F6CBD"/>
                </a:solidFill>
              </a:rPr>
              <a:t>•  </a:t>
            </a:r>
            <a:r>
              <a:rPr sz="1500" b="0">
                <a:solidFill>
                  <a:srgbClr val="0B1F3A"/>
                </a:solidFill>
              </a:rPr>
              <a:t>Le persone hanno corretto il sistema </a:t>
            </a:r>
            <a:r>
              <a:rPr sz="1500" b="1">
                <a:solidFill>
                  <a:srgbClr val="0B1F3A"/>
                </a:solidFill>
              </a:rPr>
              <a:t>35 volte su 100</a:t>
            </a:r>
            <a:r>
              <a:rPr sz="1500" b="0">
                <a:solidFill>
                  <a:srgbClr val="0B1F3A"/>
                </a:solidFill>
              </a:rPr>
              <a:t>: né troppo poco (approvano senza leggere) né troppo (sistema inutile).</a:t>
            </a:r>
          </a:p>
          <a:p>
            <a:pPr>
              <a:spcAft>
                <a:spcPts val="800"/>
              </a:spcAft>
            </a:pPr>
            <a:r>
              <a:rPr sz="1500" b="1">
                <a:solidFill>
                  <a:srgbClr val="0F6CBD"/>
                </a:solidFill>
              </a:rPr>
              <a:t>•  </a:t>
            </a:r>
            <a:r>
              <a:rPr sz="1500" b="0">
                <a:solidFill>
                  <a:srgbClr val="0B1F3A"/>
                </a:solidFill>
              </a:rPr>
              <a:t>Solo </a:t>
            </a:r>
            <a:r>
              <a:rPr sz="1500" b="1">
                <a:solidFill>
                  <a:srgbClr val="0B1F3A"/>
                </a:solidFill>
              </a:rPr>
              <a:t>6 motivazioni su 100</a:t>
            </a:r>
            <a:r>
              <a:rPr sz="1500" b="0">
                <a:solidFill>
                  <a:srgbClr val="0B1F3A"/>
                </a:solidFill>
              </a:rPr>
              <a:t> troppo brevi.</a:t>
            </a:r>
          </a:p>
          <a:p>
            <a:pPr>
              <a:spcAft>
                <a:spcPts val="800"/>
              </a:spcAft>
            </a:pPr>
            <a:r>
              <a:rPr sz="1500" b="1">
                <a:solidFill>
                  <a:srgbClr val="0F6CBD"/>
                </a:solidFill>
              </a:rPr>
              <a:t>•  </a:t>
            </a:r>
            <a:r>
              <a:rPr sz="1500" b="0">
                <a:solidFill>
                  <a:srgbClr val="0B1F3A"/>
                </a:solidFill>
              </a:rPr>
              <a:t>Tempo tipico (mediano) dall'arrivo alla decisione: </a:t>
            </a:r>
            <a:r>
              <a:rPr sz="1500" b="1">
                <a:solidFill>
                  <a:srgbClr val="0B1F3A"/>
                </a:solidFill>
              </a:rPr>
              <a:t>8 minuti</a:t>
            </a:r>
            <a:r>
              <a:rPr sz="1500" b="0">
                <a:solidFill>
                  <a:srgbClr val="0B1F3A"/>
                </a:solidFill>
              </a:rPr>
              <a:t> (include l'attesa in coda).</a:t>
            </a:r>
          </a:p>
          <a:p>
            <a:pPr>
              <a:spcAft>
                <a:spcPts val="800"/>
              </a:spcAft>
            </a:pPr>
            <a:r>
              <a:rPr sz="1500" b="1">
                <a:solidFill>
                  <a:srgbClr val="0F6CBD"/>
                </a:solidFill>
              </a:rPr>
              <a:t>•  </a:t>
            </a:r>
            <a:r>
              <a:rPr sz="1500" b="1">
                <a:solidFill>
                  <a:srgbClr val="0B1F3A"/>
                </a:solidFill>
              </a:rPr>
              <a:t>96 spiegazioni su 100</a:t>
            </a:r>
            <a:r>
              <a:rPr sz="1500" b="0">
                <a:solidFill>
                  <a:srgbClr val="0B1F3A"/>
                </a:solidFill>
              </a:rPr>
              <a:t> dall'LLM; le altre scartate dai controlli e sostituite dal testo fisso.</a:t>
            </a:r>
          </a:p>
          <a:p>
            <a:pPr>
              <a:spcAft>
                <a:spcPts val="800"/>
              </a:spcAft>
            </a:pPr>
            <a:r>
              <a:rPr sz="1500" b="1">
                <a:solidFill>
                  <a:srgbClr val="0F6CBD"/>
                </a:solidFill>
              </a:rPr>
              <a:t>•  </a:t>
            </a:r>
            <a:r>
              <a:rPr sz="1500" b="0">
                <a:solidFill>
                  <a:srgbClr val="0B1F3A"/>
                </a:solidFill>
              </a:rPr>
              <a:t>Il registro è </a:t>
            </a:r>
            <a:r>
              <a:rPr sz="1500" b="1">
                <a:solidFill>
                  <a:srgbClr val="0B1F3A"/>
                </a:solidFill>
              </a:rPr>
              <a:t>integro</a:t>
            </a:r>
            <a:r>
              <a:rPr sz="1500" b="0">
                <a:solidFill>
                  <a:srgbClr val="0B1F3A"/>
                </a:solidFill>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controlla i controllori</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14(4)(b) · A2-A4 · C3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pi_3.png"/>
          <p:cNvPicPr>
            <a:picLocks noChangeAspect="1"/>
          </p:cNvPicPr>
          <p:nvPr/>
        </p:nvPicPr>
        <p:blipFill>
          <a:blip r:embed="rId2"/>
          <a:stretch>
            <a:fillRect/>
          </a:stretch>
        </p:blipFill>
        <p:spPr>
          <a:xfrm>
            <a:off x="365760" y="1234440"/>
            <a:ext cx="5760720" cy="2014086"/>
          </a:xfrm>
          <a:prstGeom prst="rect">
            <a:avLst/>
          </a:prstGeom>
          <a:ln w="12700">
            <a:solidFill>
              <a:srgbClr val="D0D5DD"/>
            </a:solidFill>
          </a:ln>
        </p:spPr>
      </p:pic>
      <p:pic>
        <p:nvPicPr>
          <p:cNvPr id="7" name="Picture 6" descr="bias_5.png"/>
          <p:cNvPicPr>
            <a:picLocks noChangeAspect="1"/>
          </p:cNvPicPr>
          <p:nvPr/>
        </p:nvPicPr>
        <p:blipFill>
          <a:blip r:embed="rId3"/>
          <a:stretch>
            <a:fillRect/>
          </a:stretch>
        </p:blipFill>
        <p:spPr>
          <a:xfrm>
            <a:off x="373320" y="3840480"/>
            <a:ext cx="5745600" cy="1828800"/>
          </a:xfrm>
          <a:prstGeom prst="rect">
            <a:avLst/>
          </a:prstGeom>
          <a:ln w="12700">
            <a:solidFill>
              <a:srgbClr val="D0D5DD"/>
            </a:solidFill>
          </a:ln>
        </p:spPr>
      </p:pic>
      <p:sp>
        <p:nvSpPr>
          <p:cNvPr id="8" name="TextBox 7"/>
          <p:cNvSpPr txBox="1"/>
          <p:nvPr/>
        </p:nvSpPr>
        <p:spPr>
          <a:xfrm>
            <a:off x="6400800" y="1280160"/>
            <a:ext cx="5394960" cy="5303520"/>
          </a:xfrm>
          <a:prstGeom prst="rect">
            <a:avLst/>
          </a:prstGeom>
          <a:noFill/>
        </p:spPr>
        <p:txBody>
          <a:bodyPr wrap="square">
            <a:spAutoFit/>
          </a:bodyPr>
          <a:lstStyle/>
          <a:p>
            <a:pPr>
              <a:spcAft>
                <a:spcPts val="800"/>
              </a:spcAft>
            </a:pPr>
            <a:r>
              <a:rPr sz="1600" b="1">
                <a:solidFill>
                  <a:srgbClr val="0F6CBD"/>
                </a:solidFill>
              </a:rPr>
              <a:t>•  </a:t>
            </a:r>
            <a:r>
              <a:rPr sz="1600" b="1">
                <a:solidFill>
                  <a:srgbClr val="0B1F3A"/>
                </a:solidFill>
              </a:rPr>
              <a:t>Per persona</a:t>
            </a:r>
            <a:r>
              <a:rPr sz="1600" b="0">
                <a:solidFill>
                  <a:srgbClr val="0B1F3A"/>
                </a:solidFill>
              </a:rPr>
              <a:t>: OP-031 corregge il sistema spesso (approva 4 volte su 10), OP-022 quasi mai (8 su 10).</a:t>
            </a:r>
          </a:p>
          <a:p>
            <a:pPr>
              <a:spcAft>
                <a:spcPts val="800"/>
              </a:spcAft>
            </a:pPr>
            <a:r>
              <a:rPr sz="1600" b="1">
                <a:solidFill>
                  <a:srgbClr val="0F6CBD"/>
                </a:solidFill>
              </a:rPr>
              <a:t>•  </a:t>
            </a:r>
            <a:r>
              <a:rPr sz="1600" b="0">
                <a:solidFill>
                  <a:srgbClr val="0B1F3A"/>
                </a:solidFill>
              </a:rPr>
              <a:t>Dopo una motivazione troppo breve, l'allarme su OP-022 è </a:t>
            </a:r>
            <a:r>
              <a:rPr sz="1600" b="1">
                <a:solidFill>
                  <a:srgbClr val="0B1F3A"/>
                </a:solidFill>
              </a:rPr>
              <a:t>scattato davvero</a:t>
            </a:r>
            <a:r>
              <a:rPr sz="1600" b="0">
                <a:solidFill>
                  <a:srgbClr val="0B1F3A"/>
                </a:solidFill>
              </a:rPr>
              <a:t>; con le decisioni successive è rientrato.</a:t>
            </a:r>
          </a:p>
          <a:p>
            <a:pPr>
              <a:spcAft>
                <a:spcPts val="800"/>
              </a:spcAft>
            </a:pPr>
            <a:r>
              <a:rPr sz="1600" b="1">
                <a:solidFill>
                  <a:srgbClr val="0F6CBD"/>
                </a:solidFill>
              </a:rPr>
              <a:t>•  </a:t>
            </a:r>
            <a:r>
              <a:rPr sz="1600" b="1">
                <a:solidFill>
                  <a:srgbClr val="0B1F3A"/>
                </a:solidFill>
              </a:rPr>
              <a:t>Per zona</a:t>
            </a:r>
            <a:r>
              <a:rPr sz="1600" b="0">
                <a:solidFill>
                  <a:srgbClr val="0B1F3A"/>
                </a:solidFill>
              </a:rPr>
              <a:t>: nelle Isole le persone correggono il sistema la metà delle volte, contro una media di un terzo. Non abbastanza per un allarme, da seguire.</a:t>
            </a:r>
          </a:p>
          <a:p>
            <a:pPr>
              <a:spcAft>
                <a:spcPts val="800"/>
              </a:spcAft>
            </a:pPr>
            <a:r>
              <a:rPr sz="1600" b="1">
                <a:solidFill>
                  <a:srgbClr val="0F6CBD"/>
                </a:solidFill>
              </a:rPr>
              <a:t>•  </a:t>
            </a:r>
            <a:r>
              <a:rPr sz="1600" b="0">
                <a:solidFill>
                  <a:srgbClr val="0B1F3A"/>
                </a:solidFill>
              </a:rPr>
              <a:t>Queste metriche misurano </a:t>
            </a:r>
            <a:r>
              <a:rPr sz="1600" b="1">
                <a:solidFill>
                  <a:srgbClr val="0B1F3A"/>
                </a:solidFill>
              </a:rPr>
              <a:t>persone</a:t>
            </a:r>
            <a:r>
              <a:rPr sz="1600" b="0">
                <a:solidFill>
                  <a:srgbClr val="0B1F3A"/>
                </a:solidFill>
              </a:rPr>
              <a:t>: in un'azienda vera servono informativa ai lavoratori e regole chiare su come si usano.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NON abbiamo risolto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10% del punteggio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325880"/>
            <a:ext cx="5303520" cy="1508760"/>
          </a:xfrm>
          <a:prstGeom prst="rect">
            <a:avLst/>
          </a:prstGeom>
          <a:noFill/>
        </p:spPr>
        <p:txBody>
          <a:bodyPr wrap="square">
            <a:spAutoFit/>
          </a:bodyPr>
          <a:lstStyle/>
          <a:p>
            <a:pPr>
              <a:spcAft>
                <a:spcPts val="800"/>
              </a:spcAft>
            </a:pPr>
            <a:r>
              <a:rPr sz="1600" b="1">
                <a:solidFill>
                  <a:srgbClr val="0B1F3A"/>
                </a:solidFill>
              </a:rPr>
              <a:t>Il Sud resta un'ipotesi</a:t>
            </a:r>
          </a:p>
          <a:p>
            <a:pPr>
              <a:spcAft>
                <a:spcPts val="800"/>
              </a:spcAft>
            </a:pPr>
            <a:r>
              <a:rPr sz="1600" b="0">
                <a:solidFill>
                  <a:srgbClr val="0B1F3A"/>
                </a:solidFill>
              </a:rPr>
              <a:t>È la spiegazione più probabile, ma va verificata con chi registra i guasti sul territorio.</a:t>
            </a:r>
          </a:p>
        </p:txBody>
      </p:sp>
      <p:sp>
        <p:nvSpPr>
          <p:cNvPr id="9" name="Rectangle 8"/>
          <p:cNvSpPr/>
          <p:nvPr/>
        </p:nvSpPr>
        <p:spPr>
          <a:xfrm>
            <a:off x="617220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325880"/>
            <a:ext cx="5303520" cy="1508760"/>
          </a:xfrm>
          <a:prstGeom prst="rect">
            <a:avLst/>
          </a:prstGeom>
          <a:noFill/>
        </p:spPr>
        <p:txBody>
          <a:bodyPr wrap="square">
            <a:spAutoFit/>
          </a:bodyPr>
          <a:lstStyle/>
          <a:p>
            <a:pPr>
              <a:spcAft>
                <a:spcPts val="800"/>
              </a:spcAft>
            </a:pPr>
            <a:r>
              <a:rPr sz="1600" b="1">
                <a:solidFill>
                  <a:srgbClr val="0B1F3A"/>
                </a:solidFill>
              </a:rPr>
              <a:t>Alcuni guasti arrivano senza preavviso</a:t>
            </a:r>
          </a:p>
          <a:p>
            <a:pPr>
              <a:spcAft>
                <a:spcPts val="800"/>
              </a:spcAft>
            </a:pPr>
            <a:r>
              <a:rPr sz="1600" b="0">
                <a:solidFill>
                  <a:srgbClr val="0B1F3A"/>
                </a:solidFill>
              </a:rPr>
              <a:t>Se i sensori non vedono nulla, nessuna regola li può prevedere.</a:t>
            </a:r>
          </a:p>
        </p:txBody>
      </p:sp>
      <p:sp>
        <p:nvSpPr>
          <p:cNvPr id="12" name="Rectangle 11"/>
          <p:cNvSpPr/>
          <p:nvPr/>
        </p:nvSpPr>
        <p:spPr>
          <a:xfrm>
            <a:off x="36576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108960"/>
            <a:ext cx="5303520" cy="1508760"/>
          </a:xfrm>
          <a:prstGeom prst="rect">
            <a:avLst/>
          </a:prstGeom>
          <a:noFill/>
        </p:spPr>
        <p:txBody>
          <a:bodyPr wrap="square">
            <a:spAutoFit/>
          </a:bodyPr>
          <a:lstStyle/>
          <a:p>
            <a:pPr>
              <a:spcAft>
                <a:spcPts val="800"/>
              </a:spcAft>
            </a:pPr>
            <a:r>
              <a:rPr sz="1600" b="1">
                <a:solidFill>
                  <a:srgbClr val="0B1F3A"/>
                </a:solidFill>
              </a:rPr>
              <a:t>Più squadre a vuoto</a:t>
            </a:r>
          </a:p>
          <a:p>
            <a:pPr>
              <a:spcAft>
                <a:spcPts val="800"/>
              </a:spcAft>
            </a:pPr>
            <a:r>
              <a:rPr sz="1600" b="0">
                <a:solidFill>
                  <a:srgbClr val="0B1F3A"/>
                </a:solidFill>
              </a:rPr>
              <a:t>183 uscite inutili su 720, per non perdere guasti. Il rapporto 10 a 1 tra i costi è una nostra stima.</a:t>
            </a:r>
          </a:p>
        </p:txBody>
      </p:sp>
      <p:sp>
        <p:nvSpPr>
          <p:cNvPr id="15" name="Rectangle 14"/>
          <p:cNvSpPr/>
          <p:nvPr/>
        </p:nvSpPr>
        <p:spPr>
          <a:xfrm>
            <a:off x="617220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108960"/>
            <a:ext cx="5303520" cy="1508760"/>
          </a:xfrm>
          <a:prstGeom prst="rect">
            <a:avLst/>
          </a:prstGeom>
          <a:noFill/>
        </p:spPr>
        <p:txBody>
          <a:bodyPr wrap="square">
            <a:spAutoFit/>
          </a:bodyPr>
          <a:lstStyle/>
          <a:p>
            <a:pPr>
              <a:spcAft>
                <a:spcPts val="800"/>
              </a:spcAft>
            </a:pPr>
            <a:r>
              <a:rPr sz="1600" b="1">
                <a:solidFill>
                  <a:srgbClr val="0B1F3A"/>
                </a:solidFill>
              </a:rPr>
              <a:t>Il bias lo gestiscono le persone</a:t>
            </a:r>
          </a:p>
          <a:p>
            <a:pPr>
              <a:spcAft>
                <a:spcPts val="800"/>
              </a:spcAft>
            </a:pPr>
            <a:r>
              <a:rPr sz="1600" b="0">
                <a:solidFill>
                  <a:srgbClr val="0B1F3A"/>
                </a:solidFill>
              </a:rPr>
              <a:t>Se approvano tutto, la supervisione serve a poco. Per questo misuriamo chi approva cosa.</a:t>
            </a:r>
          </a:p>
        </p:txBody>
      </p:sp>
      <p:sp>
        <p:nvSpPr>
          <p:cNvPr id="18" name="Rectangle 17"/>
          <p:cNvSpPr/>
          <p:nvPr/>
        </p:nvSpPr>
        <p:spPr>
          <a:xfrm>
            <a:off x="36576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892040"/>
            <a:ext cx="5303520" cy="1508760"/>
          </a:xfrm>
          <a:prstGeom prst="rect">
            <a:avLst/>
          </a:prstGeom>
          <a:noFill/>
        </p:spPr>
        <p:txBody>
          <a:bodyPr wrap="square">
            <a:spAutoFit/>
          </a:bodyPr>
          <a:lstStyle/>
          <a:p>
            <a:pPr>
              <a:spcAft>
                <a:spcPts val="800"/>
              </a:spcAft>
            </a:pPr>
            <a:r>
              <a:rPr sz="1600" b="1">
                <a:solidFill>
                  <a:srgbClr val="0B1F3A"/>
                </a:solidFill>
              </a:rPr>
              <a:t>"Quanto è sicuro" è grezzo</a:t>
            </a:r>
          </a:p>
          <a:p>
            <a:pPr>
              <a:spcAft>
                <a:spcPts val="800"/>
              </a:spcAft>
            </a:pPr>
            <a:r>
              <a:rPr sz="1600" b="0">
                <a:solidFill>
                  <a:srgbClr val="0B1F3A"/>
                </a:solidFill>
              </a:rPr>
              <a:t>Oggi ripete la probabilità; servirebbe misurare quanto le parti del modello sono d'accordo tra loro.</a:t>
            </a:r>
          </a:p>
        </p:txBody>
      </p:sp>
      <p:sp>
        <p:nvSpPr>
          <p:cNvPr id="21" name="Rectangle 20"/>
          <p:cNvSpPr/>
          <p:nvPr/>
        </p:nvSpPr>
        <p:spPr>
          <a:xfrm>
            <a:off x="617220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892040"/>
            <a:ext cx="5303520" cy="1508760"/>
          </a:xfrm>
          <a:prstGeom prst="rect">
            <a:avLst/>
          </a:prstGeom>
          <a:noFill/>
        </p:spPr>
        <p:txBody>
          <a:bodyPr wrap="square">
            <a:spAutoFit/>
          </a:bodyPr>
          <a:lstStyle/>
          <a:p>
            <a:pPr>
              <a:spcAft>
                <a:spcPts val="800"/>
              </a:spcAft>
            </a:pPr>
            <a:r>
              <a:rPr sz="1600" b="1">
                <a:solidFill>
                  <a:srgbClr val="0B1F3A"/>
                </a:solidFill>
              </a:rPr>
              <a:t>Prototipo, non produzione</a:t>
            </a:r>
          </a:p>
          <a:p>
            <a:pPr>
              <a:spcAft>
                <a:spcPts val="800"/>
              </a:spcAft>
            </a:pPr>
            <a:r>
              <a:rPr sz="1600" b="0">
                <a:solidFill>
                  <a:srgbClr val="0B1F3A"/>
                </a:solidFill>
              </a:rPr>
              <a:t>Tempo simulato, 2 decisioni nelle Isole ancora automatiche, registro riscrivibile da capo da chi ha accesso al file.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AI Act: ruoli e domande aperte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Discussione</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5394960" cy="5303520"/>
          </a:xfrm>
          <a:prstGeom prst="rect">
            <a:avLst/>
          </a:prstGeom>
          <a:noFill/>
        </p:spPr>
        <p:txBody>
          <a:bodyPr wrap="square">
            <a:spAutoFit/>
          </a:bodyPr>
          <a:lstStyle/>
          <a:p>
            <a:pPr>
              <a:spcAft>
                <a:spcPts val="800"/>
              </a:spcAft>
            </a:pPr>
            <a:r>
              <a:rPr sz="1700" b="1">
                <a:solidFill>
                  <a:srgbClr val="0B1F3A"/>
                </a:solidFill>
              </a:rPr>
              <a:t>Chi costruisce il sistema</a:t>
            </a:r>
            <a:r>
              <a:rPr sz="1700" b="0">
                <a:solidFill>
                  <a:srgbClr val="0B1F3A"/>
                </a:solidFill>
              </a:rPr>
              <a:t> (provider): risponde di dati, documentazione, registro, supervisione già prevista nel progetto, controlli dopo il rilascio, segnalazione degli incidenti gravi.</a:t>
            </a:r>
          </a:p>
          <a:p>
            <a:pPr>
              <a:spcAft>
                <a:spcPts val="800"/>
              </a:spcAft>
            </a:pPr>
            <a:r>
              <a:rPr sz="1700" b="1">
                <a:solidFill>
                  <a:srgbClr val="0B1F3A"/>
                </a:solidFill>
              </a:rPr>
              <a:t>Chi lo usa</a:t>
            </a:r>
            <a:r>
              <a:rPr sz="1700" b="0">
                <a:solidFill>
                  <a:srgbClr val="0B1F3A"/>
                </a:solidFill>
              </a:rPr>
              <a:t> (deployer): l'operatore di rete. Persone formate, uso come da istruzioni, registro conservato almeno 6 mesi, lavoratori informati.</a:t>
            </a:r>
          </a:p>
          <a:p>
            <a:pPr>
              <a:spcAft>
                <a:spcPts val="800"/>
              </a:spcAft>
            </a:pPr>
            <a:r>
              <a:rPr sz="1700" b="0">
                <a:solidFill>
                  <a:srgbClr val="0B1F3A"/>
                </a:solidFill>
              </a:rPr>
              <a:t>Se l'azienda lo sviluppa in casa e lo usa, è </a:t>
            </a:r>
            <a:r>
              <a:rPr sz="1700" b="1">
                <a:solidFill>
                  <a:srgbClr val="0B1F3A"/>
                </a:solidFill>
              </a:rPr>
              <a:t>tutte e due le cose</a:t>
            </a:r>
            <a:r>
              <a:rPr sz="1700" b="0">
                <a:solidFill>
                  <a:srgbClr val="0B1F3A"/>
                </a:solidFill>
              </a:rPr>
              <a:t>.</a:t>
            </a:r>
          </a:p>
        </p:txBody>
      </p:sp>
      <p:sp>
        <p:nvSpPr>
          <p:cNvPr id="7" name="Rectangle 6"/>
          <p:cNvSpPr/>
          <p:nvPr/>
        </p:nvSpPr>
        <p:spPr>
          <a:xfrm>
            <a:off x="6309360" y="1280160"/>
            <a:ext cx="5486400" cy="51206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212080" cy="4937760"/>
          </a:xfrm>
          <a:prstGeom prst="rect">
            <a:avLst/>
          </a:prstGeom>
          <a:noFill/>
        </p:spPr>
        <p:txBody>
          <a:bodyPr wrap="square">
            <a:spAutoFit/>
          </a:bodyPr>
          <a:lstStyle/>
          <a:p>
            <a:pPr>
              <a:spcAft>
                <a:spcPts val="800"/>
              </a:spcAft>
            </a:pPr>
            <a:r>
              <a:rPr sz="1600" b="1">
                <a:solidFill>
                  <a:srgbClr val="0B1F3A"/>
                </a:solidFill>
              </a:rPr>
              <a:t>Spunti per la discussione</a:t>
            </a:r>
          </a:p>
          <a:p>
            <a:pPr>
              <a:spcAft>
                <a:spcPts val="800"/>
              </a:spcAft>
            </a:pPr>
            <a:r>
              <a:rPr sz="1600" b="1">
                <a:solidFill>
                  <a:srgbClr val="0F6CBD"/>
                </a:solidFill>
              </a:rPr>
              <a:t>•  </a:t>
            </a:r>
            <a:r>
              <a:rPr sz="1600" b="0">
                <a:solidFill>
                  <a:srgbClr val="0B1F3A"/>
                </a:solidFill>
              </a:rPr>
              <a:t>Un sistema che </a:t>
            </a:r>
            <a:r>
              <a:rPr sz="1600" b="1">
                <a:solidFill>
                  <a:srgbClr val="0B1F3A"/>
                </a:solidFill>
              </a:rPr>
              <a:t>suggerisce</a:t>
            </a:r>
            <a:r>
              <a:rPr sz="1600" b="0">
                <a:solidFill>
                  <a:srgbClr val="0B1F3A"/>
                </a:solidFill>
              </a:rPr>
              <a:t> e lascia decidere le persone è davvero ad alto rischio? (Art. 6(3))</a:t>
            </a:r>
          </a:p>
          <a:p>
            <a:pPr>
              <a:spcAft>
                <a:spcPts val="800"/>
              </a:spcAft>
            </a:pPr>
            <a:r>
              <a:rPr sz="1600" b="1">
                <a:solidFill>
                  <a:srgbClr val="0F6CBD"/>
                </a:solidFill>
              </a:rPr>
              <a:t>•  </a:t>
            </a:r>
            <a:r>
              <a:rPr sz="1600" b="0">
                <a:solidFill>
                  <a:srgbClr val="0B1F3A"/>
                </a:solidFill>
              </a:rPr>
              <a:t>Misurare quanto ogni persona approva senza leggere è </a:t>
            </a:r>
            <a:r>
              <a:rPr sz="1600" b="1">
                <a:solidFill>
                  <a:srgbClr val="0B1F3A"/>
                </a:solidFill>
              </a:rPr>
              <a:t>controllo dei lavoratori</a:t>
            </a:r>
            <a:r>
              <a:rPr sz="1600" b="0">
                <a:solidFill>
                  <a:srgbClr val="0B1F3A"/>
                </a:solidFill>
              </a:rPr>
              <a:t>? (Art. 26(7), Statuto art. 4)</a:t>
            </a:r>
          </a:p>
          <a:p>
            <a:pPr>
              <a:spcAft>
                <a:spcPts val="800"/>
              </a:spcAft>
            </a:pPr>
            <a:r>
              <a:rPr sz="1600" b="1">
                <a:solidFill>
                  <a:srgbClr val="0F6CBD"/>
                </a:solidFill>
              </a:rPr>
              <a:t>•  </a:t>
            </a:r>
            <a:r>
              <a:rPr sz="1600" b="0">
                <a:solidFill>
                  <a:srgbClr val="0B1F3A"/>
                </a:solidFill>
              </a:rPr>
              <a:t>Un servizio peggiore al Sud tocca i diritti dei cittadini, ma la valutazione d'impatto sui diritti non è richiesta (Art. 27).</a:t>
            </a:r>
          </a:p>
          <a:p>
            <a:pPr>
              <a:spcAft>
                <a:spcPts val="800"/>
              </a:spcAft>
            </a:pPr>
            <a:r>
              <a:rPr sz="1600" b="1">
                <a:solidFill>
                  <a:srgbClr val="0F6CBD"/>
                </a:solidFill>
              </a:rPr>
              <a:t>•  </a:t>
            </a:r>
            <a:r>
              <a:rPr sz="1600" b="0">
                <a:solidFill>
                  <a:srgbClr val="0B1F3A"/>
                </a:solidFill>
              </a:rPr>
              <a:t>Dati di un'infrastruttura critica mandati a un </a:t>
            </a:r>
            <a:r>
              <a:rPr sz="1600" b="1">
                <a:solidFill>
                  <a:srgbClr val="0B1F3A"/>
                </a:solidFill>
              </a:rPr>
              <a:t>LLM nel cloud</a:t>
            </a:r>
            <a:r>
              <a:rPr sz="1600" b="0">
                <a:solidFill>
                  <a:srgbClr val="0B1F3A"/>
                </a:solidFill>
              </a:rPr>
              <a:t>: riservatezza e dipendenza da un fornitore.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698480" cy="1828800"/>
          </a:xfrm>
          <a:prstGeom prst="rect">
            <a:avLst/>
          </a:prstGeom>
          <a:noFill/>
        </p:spPr>
        <p:txBody>
          <a:bodyPr wrap="square">
            <a:spAutoFit/>
          </a:bodyPr>
          <a:lstStyle/>
          <a:p>
            <a:pPr>
              <a:spcAft>
                <a:spcPts val="800"/>
              </a:spcAft>
            </a:pPr>
            <a:r>
              <a:rPr sz="3200" b="1">
                <a:solidFill>
                  <a:srgbClr val="FFFFFF"/>
                </a:solidFill>
              </a:rPr>
              <a:t>In un'infrastruttura critica un sistema accurato ma non supervisionabile è pericoloso.</a:t>
            </a:r>
          </a:p>
        </p:txBody>
      </p:sp>
      <p:sp>
        <p:nvSpPr>
          <p:cNvPr id="4" name="TextBox 3"/>
          <p:cNvSpPr txBox="1"/>
          <p:nvPr/>
        </p:nvSpPr>
        <p:spPr>
          <a:xfrm>
            <a:off x="731520" y="3657600"/>
            <a:ext cx="10698480" cy="1371600"/>
          </a:xfrm>
          <a:prstGeom prst="rect">
            <a:avLst/>
          </a:prstGeom>
          <a:noFill/>
        </p:spPr>
        <p:txBody>
          <a:bodyPr wrap="square">
            <a:spAutoFit/>
          </a:bodyPr>
          <a:lstStyle/>
          <a:p>
            <a:pPr>
              <a:spcAft>
                <a:spcPts val="800"/>
              </a:spcAft>
            </a:pPr>
            <a:r>
              <a:rPr sz="2200" b="0">
                <a:solidFill>
                  <a:srgbClr val="C9D8EA"/>
                </a:solidFill>
              </a:rPr>
              <a:t>EnerGuard lascia all'umano le decisioni che contano, e lo rende misurabile.</a:t>
            </a:r>
          </a:p>
          <a:p>
            <a:pPr>
              <a:spcAft>
                <a:spcPts val="800"/>
              </a:spcAft>
            </a:pPr>
            <a:r>
              <a:rPr sz="2200" b="0">
                <a:solidFill>
                  <a:srgbClr val="C9D8EA"/>
                </a:solidFill>
              </a:rPr>
              <a:t>Domande?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