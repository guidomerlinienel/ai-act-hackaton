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2494" autoAdjust="0"/>
  </p:normalViewPr>
  <p:slideViewPr>
    <p:cSldViewPr snapToGrid="0" snapToObjects="1">
      <p:cViewPr varScale="1">
        <p:scale>
          <a:sx n="102" d="100"/>
          <a:sy n="102" d="100"/>
        </p:scale>
        <p:origin x="918" y="10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6908357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Buongiorno, siamo il team EnerGuard.</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Un guasto mancato su una cabina che alimenta un ospedale non si recupera; un'ispezione inutile costa qualche ora. I quattro verbi sono quelli dell'Art. 14: ogni parte della dashboard risponde ad almeno uno.</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Prima di entrare nel merito, le parole tecniche che useremo, spiegate senza gergo.</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Nei dati storici abbiamo trovato due problemi diversi, e li trattiamo in modo diverso. Il primo è al Sud. Paragone: due ospedali con pazienti identici, uno registra 45 ricoveri su 100 e l'altro 24. Non sono più sani: probabilmente il secondo registra meno.</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Il secondo problema non è soprattutto nelle etichette: la differenza tra guasti attesi e registrati resta sotto la soglia. Il modello manca guasti che arrivano senza segnali.</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Qui in alto l'operatore vede sempre lo stato. Lo stop è nella barra laterale, mai a più di un click.</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HIC: decide solo l'umano. HITL: l'umano approva prima. HOTL: il sistema agisce, l'umano sorveglia. Le regole si leggono dall'alto: vale la prima che scatta.</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Seguiamo una sola decisione. Il bias che abbiamo visto prima si vede anche qui: l'avviso sul Sud è nella card. Il modello non si corregge da solo: lo compensiamo con la supervisione.</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Proviamo a rifiutare con ok: respinto. Con una motivazione vera la decisione esce dalla coda e non viene eseguita. Nota onesta: nei dati storici questa cabina si è guastata davvero. Il rifiuto dimostra il blocco, non che fosse la scelta giusta.</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Un incidente sulle linee AT del Sud. Fermiamo solo queste: un click più una conferma.</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Chi ha deciso, cosa, quando e perché: lo ricostruiamo in pochi secondi.</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Prima di </a:t>
            </a:r>
            <a:r>
              <a:rPr dirty="0" err="1"/>
              <a:t>raccontare</a:t>
            </a:r>
            <a:r>
              <a:rPr dirty="0"/>
              <a:t> </a:t>
            </a:r>
            <a:r>
              <a:rPr dirty="0" err="1"/>
              <a:t>cosa</a:t>
            </a:r>
            <a:r>
              <a:rPr dirty="0"/>
              <a:t> </a:t>
            </a:r>
            <a:r>
              <a:rPr dirty="0" err="1"/>
              <a:t>abbiamo</a:t>
            </a:r>
            <a:r>
              <a:rPr dirty="0"/>
              <a:t> </a:t>
            </a:r>
            <a:r>
              <a:rPr dirty="0" err="1"/>
              <a:t>fatto</a:t>
            </a:r>
            <a:r>
              <a:rPr dirty="0"/>
              <a:t>, </a:t>
            </a:r>
            <a:r>
              <a:rPr dirty="0" err="1"/>
              <a:t>chiariamo</a:t>
            </a:r>
            <a:r>
              <a:rPr dirty="0"/>
              <a:t> </a:t>
            </a:r>
            <a:r>
              <a:rPr dirty="0" err="1"/>
              <a:t>l'unico</a:t>
            </a:r>
            <a:r>
              <a:rPr dirty="0"/>
              <a:t> </a:t>
            </a:r>
            <a:r>
              <a:rPr dirty="0" err="1"/>
              <a:t>conto</a:t>
            </a:r>
            <a:r>
              <a:rPr dirty="0"/>
              <a:t> </a:t>
            </a:r>
            <a:r>
              <a:rPr dirty="0" err="1"/>
              <a:t>che</a:t>
            </a:r>
            <a:r>
              <a:rPr dirty="0"/>
              <a:t> </a:t>
            </a:r>
            <a:r>
              <a:rPr dirty="0" err="1"/>
              <a:t>usiamo</a:t>
            </a:r>
            <a:r>
              <a:rPr dirty="0"/>
              <a:t>: </a:t>
            </a:r>
            <a:r>
              <a:rPr dirty="0" err="1"/>
              <a:t>guasti</a:t>
            </a:r>
            <a:r>
              <a:rPr dirty="0"/>
              <a:t> </a:t>
            </a:r>
            <a:r>
              <a:rPr dirty="0" err="1"/>
              <a:t>attesi</a:t>
            </a:r>
            <a:r>
              <a:rPr dirty="0"/>
              <a:t> dal </a:t>
            </a:r>
            <a:r>
              <a:rPr dirty="0" err="1"/>
              <a:t>sistema</a:t>
            </a:r>
            <a:r>
              <a:rPr dirty="0"/>
              <a:t> </a:t>
            </a:r>
            <a:r>
              <a:rPr dirty="0" err="1"/>
              <a:t>contro</a:t>
            </a:r>
            <a:r>
              <a:rPr dirty="0"/>
              <a:t> </a:t>
            </a:r>
            <a:r>
              <a:rPr dirty="0" err="1"/>
              <a:t>guasti</a:t>
            </a:r>
            <a:r>
              <a:rPr dirty="0"/>
              <a:t> </a:t>
            </a:r>
            <a:r>
              <a:rPr dirty="0" err="1"/>
              <a:t>registrati</a:t>
            </a:r>
            <a:r>
              <a:rPr dirty="0"/>
              <a:t>, ogni 100 </a:t>
            </a:r>
            <a:r>
              <a:rPr dirty="0" err="1"/>
              <a:t>impianti</a:t>
            </a:r>
            <a:r>
              <a:rPr dirty="0"/>
              <a:t>. Il </a:t>
            </a:r>
            <a:r>
              <a:rPr dirty="0" err="1"/>
              <a:t>sistema</a:t>
            </a:r>
            <a:r>
              <a:rPr dirty="0"/>
              <a:t> è </a:t>
            </a:r>
            <a:r>
              <a:rPr dirty="0" err="1"/>
              <a:t>pessimista</a:t>
            </a:r>
            <a:r>
              <a:rPr dirty="0"/>
              <a:t> </a:t>
            </a:r>
            <a:r>
              <a:rPr dirty="0" err="1"/>
              <a:t>ovunque</a:t>
            </a:r>
            <a:r>
              <a:rPr dirty="0"/>
              <a:t> per </a:t>
            </a:r>
            <a:r>
              <a:rPr dirty="0" err="1"/>
              <a:t>scelta</a:t>
            </a:r>
            <a:r>
              <a:rPr dirty="0"/>
              <a:t>; </a:t>
            </a:r>
            <a:r>
              <a:rPr dirty="0" err="1"/>
              <a:t>l'anomalia</a:t>
            </a:r>
            <a:r>
              <a:rPr dirty="0"/>
              <a:t> è </a:t>
            </a:r>
            <a:r>
              <a:rPr dirty="0" err="1"/>
              <a:t>una</a:t>
            </a:r>
            <a:r>
              <a:rPr dirty="0"/>
              <a:t> zona </a:t>
            </a:r>
            <a:r>
              <a:rPr dirty="0" err="1"/>
              <a:t>che</a:t>
            </a:r>
            <a:r>
              <a:rPr dirty="0"/>
              <a:t> </a:t>
            </a:r>
            <a:r>
              <a:rPr dirty="0" err="1"/>
              <a:t>si</a:t>
            </a:r>
            <a:r>
              <a:rPr dirty="0"/>
              <a:t> </a:t>
            </a:r>
            <a:r>
              <a:rPr dirty="0" err="1"/>
              <a:t>allontana</a:t>
            </a:r>
            <a:r>
              <a:rPr dirty="0"/>
              <a:t> molto </a:t>
            </a:r>
            <a:r>
              <a:rPr dirty="0" err="1"/>
              <a:t>più</a:t>
            </a:r>
            <a:r>
              <a:rPr dirty="0"/>
              <a:t> delle </a:t>
            </a:r>
            <a:r>
              <a:rPr dirty="0" err="1"/>
              <a:t>altre</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Quattro mosse, ognuna con un effetto misurato. Il punto chiave: non abbiamo corretto il modello, abbiamo messo le persone dove il modello è meno affidabile.</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 24-43 guasti per area le differenze sono segnali da monitorare, non prove. Per questo li usiamo per aumentare la supervisione, non per cambiare il modello.</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Una dashboard senza asse temporale è una fotografia, non un monitoraggio.</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Non volevamo mostrare una dashboard vuota: abbiamo simulato una mezz'ora di control room con tre profili diversi, per vedere se il sistema si accorge dei comportamenti a rischio.</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Dopo la simulazione abbiamo confrontato ogni decisione con l'esito registrato nei dati. Non lo sapevamo mentre decidevamo.</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Un sistema di oversight che non misura la propria supervisione non è supervisionabile. Ma misurare i revisori è anche controllo dei lavoratori.</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Un limite dichiarato vale più di uno scoperto. Elenco completo nell'allegato della relazione d'impatto.</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Domanda finale della guida: chi è provider e chi deployer. Poi alcuni spunti che non hanno una risposta unica.</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Abbiamo già provato i sei test della giuria, dieci verifiche su dieci. Siamo pronti per le vostre domande.</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10/9/2026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a:t>
            </a:fld>
            <a:endParaRPr lang="en-US"/>
          </a:p>
        </p:txBody>
      </p:sp>
      <p:sp>
        <p:nvSpPr>
          <p:cNvPr id="8" name="CasellaDiTesto 7">
            <a:extLst>
              <a:ext uri="{FF2B5EF4-FFF2-40B4-BE49-F238E27FC236}">
                <a16:creationId xmlns:a16="http://schemas.microsoft.com/office/drawing/2014/main" id="{3639E0FE-D373-965B-4232-56C5FD754320}"/>
              </a:ext>
            </a:extLst>
          </p:cNvPr>
          <p:cNvSpPr txBox="1"/>
          <p:nvPr userDrawn="1">
            <p:extLst>
              <p:ext uri="{1162E1C5-73C7-4A58-AE30-91384D911F3F}">
                <p184:classification xmlns:p184="http://schemas.microsoft.com/office/powerpoint/2018/4/main" val="hdr"/>
              </p:ext>
            </p:extLst>
          </p:nvPr>
        </p:nvSpPr>
        <p:spPr>
          <a:xfrm>
            <a:off x="5844350" y="63500"/>
            <a:ext cx="531812" cy="121920"/>
          </a:xfrm>
          <a:prstGeom prst="rect">
            <a:avLst/>
          </a:prstGeom>
        </p:spPr>
        <p:txBody>
          <a:bodyPr horzOverflow="overflow" lIns="0" tIns="0" rIns="0" bIns="0">
            <a:spAutoFit/>
          </a:bodyPr>
          <a:lstStyle/>
          <a:p>
            <a:pPr algn="l"/>
            <a:r>
              <a:rPr lang="it-IT" sz="800">
                <a:solidFill>
                  <a:srgbClr val="000000">
                    <a:alpha val="50000"/>
                  </a:srgbClr>
                </a:solidFill>
                <a:latin typeface="Arial" panose="020B0604020202020204" pitchFamily="34" charset="0"/>
                <a:cs typeface="Arial" panose="020B0604020202020204" pitchFamily="34" charset="0"/>
              </a:rPr>
              <a:t>INTERNAL</a:t>
            </a:r>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8.xml"/><Relationship Id="rId1" Type="http://schemas.openxmlformats.org/officeDocument/2006/relationships/slideLayout" Target="../slideLayouts/slideLayout7.xml"/><Relationship Id="rId4" Type="http://schemas.openxmlformats.org/officeDocument/2006/relationships/image" Target="../media/image13.pn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731520" y="3246120"/>
            <a:ext cx="2286000" cy="73152"/>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1463040"/>
            <a:ext cx="10515600" cy="1097280"/>
          </a:xfrm>
          <a:prstGeom prst="rect">
            <a:avLst/>
          </a:prstGeom>
          <a:noFill/>
        </p:spPr>
        <p:txBody>
          <a:bodyPr wrap="square">
            <a:spAutoFit/>
          </a:bodyPr>
          <a:lstStyle/>
          <a:p>
            <a:pPr>
              <a:spcAft>
                <a:spcPts val="800"/>
              </a:spcAft>
            </a:pPr>
            <a:r>
              <a:rPr sz="5400" b="1">
                <a:solidFill>
                  <a:srgbClr val="FFFFFF"/>
                </a:solidFill>
              </a:rPr>
              <a:t>EnerGuard</a:t>
            </a:r>
          </a:p>
        </p:txBody>
      </p:sp>
      <p:sp>
        <p:nvSpPr>
          <p:cNvPr id="5" name="TextBox 4"/>
          <p:cNvSpPr txBox="1"/>
          <p:nvPr/>
        </p:nvSpPr>
        <p:spPr>
          <a:xfrm>
            <a:off x="731520" y="2377440"/>
            <a:ext cx="10515600" cy="914400"/>
          </a:xfrm>
          <a:prstGeom prst="rect">
            <a:avLst/>
          </a:prstGeom>
          <a:noFill/>
        </p:spPr>
        <p:txBody>
          <a:bodyPr wrap="square">
            <a:spAutoFit/>
          </a:bodyPr>
          <a:lstStyle/>
          <a:p>
            <a:pPr>
              <a:spcAft>
                <a:spcPts val="800"/>
              </a:spcAft>
            </a:pPr>
            <a:r>
              <a:rPr sz="2400" b="0">
                <a:solidFill>
                  <a:srgbClr val="C9D8EA"/>
                </a:solidFill>
              </a:rPr>
              <a:t>Manutenzione predittiva che un essere umano può capire, monitorare, correggere e fermare</a:t>
            </a:r>
          </a:p>
        </p:txBody>
      </p:sp>
      <p:sp>
        <p:nvSpPr>
          <p:cNvPr id="6" name="TextBox 5"/>
          <p:cNvSpPr txBox="1"/>
          <p:nvPr/>
        </p:nvSpPr>
        <p:spPr>
          <a:xfrm>
            <a:off x="731520" y="3566160"/>
            <a:ext cx="10515600" cy="1371600"/>
          </a:xfrm>
          <a:prstGeom prst="rect">
            <a:avLst/>
          </a:prstGeom>
          <a:noFill/>
        </p:spPr>
        <p:txBody>
          <a:bodyPr wrap="square">
            <a:spAutoFit/>
          </a:bodyPr>
          <a:lstStyle/>
          <a:p>
            <a:pPr>
              <a:spcAft>
                <a:spcPts val="800"/>
              </a:spcAft>
            </a:pPr>
            <a:r>
              <a:rPr sz="1800" b="0">
                <a:solidFill>
                  <a:srgbClr val="FFFFFF"/>
                </a:solidFill>
              </a:rPr>
              <a:t>Gruppo 3 · AI for Human Oversight · Modulo 4</a:t>
            </a:r>
          </a:p>
          <a:p>
            <a:pPr>
              <a:spcAft>
                <a:spcPts val="800"/>
              </a:spcAft>
            </a:pPr>
            <a:r>
              <a:rPr sz="1800" b="0">
                <a:solidFill>
                  <a:srgbClr val="FFFFFF"/>
                </a:solidFill>
              </a:rPr>
              <a:t>Hackathon Deloitte × ENEL FNC · 7 ottobre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1440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164592"/>
            <a:ext cx="9418320" cy="640080"/>
          </a:xfrm>
          <a:prstGeom prst="rect">
            <a:avLst/>
          </a:prstGeom>
          <a:noFill/>
        </p:spPr>
        <p:txBody>
          <a:bodyPr wrap="square">
            <a:spAutoFit/>
          </a:bodyPr>
          <a:lstStyle/>
          <a:p>
            <a:pPr>
              <a:spcAft>
                <a:spcPts val="800"/>
              </a:spcAft>
            </a:pPr>
            <a:r>
              <a:rPr sz="2800" b="1">
                <a:solidFill>
                  <a:srgbClr val="FFFFFF"/>
                </a:solidFill>
              </a:rPr>
              <a:t>Lo scenario</a:t>
            </a:r>
          </a:p>
        </p:txBody>
      </p:sp>
      <p:sp>
        <p:nvSpPr>
          <p:cNvPr id="4" name="TextBox 3"/>
          <p:cNvSpPr txBox="1"/>
          <p:nvPr/>
        </p:nvSpPr>
        <p:spPr>
          <a:xfrm>
            <a:off x="9144000" y="274320"/>
            <a:ext cx="2834640" cy="457200"/>
          </a:xfrm>
          <a:prstGeom prst="rect">
            <a:avLst/>
          </a:prstGeom>
          <a:noFill/>
        </p:spPr>
        <p:txBody>
          <a:bodyPr wrap="square">
            <a:spAutoFit/>
          </a:bodyPr>
          <a:lstStyle/>
          <a:p>
            <a:pPr algn="r">
              <a:spcAft>
                <a:spcPts val="800"/>
              </a:spcAft>
            </a:pPr>
            <a:r>
              <a:rPr sz="1300" b="0">
                <a:solidFill>
                  <a:srgbClr val="C9D8EA"/>
                </a:solidFill>
              </a:rPr>
              <a:t>AI Act · Allegato III p.2</a:t>
            </a:r>
          </a:p>
        </p:txBody>
      </p:sp>
      <p:sp>
        <p:nvSpPr>
          <p:cNvPr id="5" name="Rectangle 4"/>
          <p:cNvSpPr/>
          <p:nvPr/>
        </p:nvSpPr>
        <p:spPr>
          <a:xfrm>
            <a:off x="0" y="914400"/>
            <a:ext cx="12191695" cy="54864"/>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1280160"/>
            <a:ext cx="6035040" cy="5120640"/>
          </a:xfrm>
          <a:prstGeom prst="rect">
            <a:avLst/>
          </a:prstGeom>
          <a:noFill/>
        </p:spPr>
        <p:txBody>
          <a:bodyPr wrap="square">
            <a:spAutoFit/>
          </a:bodyPr>
          <a:lstStyle/>
          <a:p>
            <a:pPr>
              <a:spcAft>
                <a:spcPts val="800"/>
              </a:spcAft>
            </a:pPr>
            <a:r>
              <a:rPr sz="1800" b="0">
                <a:solidFill>
                  <a:srgbClr val="0B1F3A"/>
                </a:solidFill>
              </a:rPr>
              <a:t>Un sistema legge i sensori della rete elettrica e stima, per ogni impianto, la probabilità che </a:t>
            </a:r>
            <a:r>
              <a:rPr sz="1800" b="1">
                <a:solidFill>
                  <a:srgbClr val="0B1F3A"/>
                </a:solidFill>
              </a:rPr>
              <a:t>si guasti entro 30 giorni</a:t>
            </a:r>
            <a:r>
              <a:rPr sz="1800" b="0">
                <a:solidFill>
                  <a:srgbClr val="0B1F3A"/>
                </a:solidFill>
              </a:rPr>
              <a:t>. Poi propone cosa fare: niente, un controllo, una manutenzione.</a:t>
            </a:r>
          </a:p>
          <a:p>
            <a:pPr>
              <a:spcAft>
                <a:spcPts val="800"/>
              </a:spcAft>
            </a:pPr>
            <a:r>
              <a:rPr sz="1800" b="0">
                <a:solidFill>
                  <a:srgbClr val="0B1F3A"/>
                </a:solidFill>
              </a:rPr>
              <a:t>Per l'AI Act è </a:t>
            </a:r>
            <a:r>
              <a:rPr sz="1800" b="1">
                <a:solidFill>
                  <a:srgbClr val="0B1F3A"/>
                </a:solidFill>
              </a:rPr>
              <a:t>ad alto rischio</a:t>
            </a:r>
            <a:r>
              <a:rPr sz="1800" b="0">
                <a:solidFill>
                  <a:srgbClr val="0B1F3A"/>
                </a:solidFill>
              </a:rPr>
              <a:t>: tocca la fornitura di elettricità, anche a ospedali.</a:t>
            </a:r>
          </a:p>
          <a:p>
            <a:pPr>
              <a:spcAft>
                <a:spcPts val="800"/>
              </a:spcAft>
            </a:pPr>
            <a:r>
              <a:rPr sz="1800" b="0">
                <a:solidFill>
                  <a:srgbClr val="0B1F3A"/>
                </a:solidFill>
              </a:rPr>
              <a:t>Un guasto non visto su una cabina che alimenta un ospedale costa circa </a:t>
            </a:r>
            <a:r>
              <a:rPr sz="1800" b="1">
                <a:solidFill>
                  <a:srgbClr val="0B1F3A"/>
                </a:solidFill>
              </a:rPr>
              <a:t>10 volte</a:t>
            </a:r>
            <a:r>
              <a:rPr sz="1800" b="0">
                <a:solidFill>
                  <a:srgbClr val="0B1F3A"/>
                </a:solidFill>
              </a:rPr>
              <a:t> una squadra mandata a vuoto. Per questo il sistema "suona l'allarme" presto: da </a:t>
            </a:r>
            <a:r>
              <a:rPr sz="1800" b="1">
                <a:solidFill>
                  <a:srgbClr val="0B1F3A"/>
                </a:solidFill>
              </a:rPr>
              <a:t>3 su 10</a:t>
            </a:r>
            <a:r>
              <a:rPr sz="1800" b="0">
                <a:solidFill>
                  <a:srgbClr val="0B1F3A"/>
                </a:solidFill>
              </a:rPr>
              <a:t> per le utenze normali, da </a:t>
            </a:r>
            <a:r>
              <a:rPr sz="1800" b="1">
                <a:solidFill>
                  <a:srgbClr val="0B1F3A"/>
                </a:solidFill>
              </a:rPr>
              <a:t>2 su 10</a:t>
            </a:r>
            <a:r>
              <a:rPr sz="1800" b="0">
                <a:solidFill>
                  <a:srgbClr val="0B1F3A"/>
                </a:solidFill>
              </a:rPr>
              <a:t> per quelle importanti.</a:t>
            </a:r>
          </a:p>
          <a:p>
            <a:pPr>
              <a:spcAft>
                <a:spcPts val="800"/>
              </a:spcAft>
            </a:pPr>
            <a:r>
              <a:rPr sz="1800" b="0">
                <a:solidFill>
                  <a:srgbClr val="0B1F3A"/>
                </a:solidFill>
              </a:rPr>
              <a:t>Non abbiamo cercato il modello perfetto: abbiamo costruito il modo per </a:t>
            </a:r>
            <a:r>
              <a:rPr sz="1800" b="1">
                <a:solidFill>
                  <a:srgbClr val="0B1F3A"/>
                </a:solidFill>
              </a:rPr>
              <a:t>tenerlo sotto controllo</a:t>
            </a:r>
            <a:r>
              <a:rPr sz="1800" b="0">
                <a:solidFill>
                  <a:srgbClr val="0B1F3A"/>
                </a:solidFill>
              </a:rPr>
              <a:t>.</a:t>
            </a:r>
          </a:p>
        </p:txBody>
      </p:sp>
      <p:sp>
        <p:nvSpPr>
          <p:cNvPr id="7" name="Rectangle 6"/>
          <p:cNvSpPr/>
          <p:nvPr/>
        </p:nvSpPr>
        <p:spPr>
          <a:xfrm>
            <a:off x="7040880" y="1371600"/>
            <a:ext cx="4663440" cy="1051560"/>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7040880" y="1371600"/>
            <a:ext cx="109728" cy="1051560"/>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315200" y="1463040"/>
            <a:ext cx="4297680" cy="914400"/>
          </a:xfrm>
          <a:prstGeom prst="rect">
            <a:avLst/>
          </a:prstGeom>
          <a:noFill/>
        </p:spPr>
        <p:txBody>
          <a:bodyPr wrap="square">
            <a:spAutoFit/>
          </a:bodyPr>
          <a:lstStyle/>
          <a:p>
            <a:pPr>
              <a:spcAft>
                <a:spcPts val="800"/>
              </a:spcAft>
            </a:pPr>
            <a:r>
              <a:rPr sz="1700" b="1">
                <a:solidFill>
                  <a:srgbClr val="0B1F3A"/>
                </a:solidFill>
              </a:rPr>
              <a:t>CAPIRE</a:t>
            </a:r>
          </a:p>
          <a:p>
            <a:pPr>
              <a:spcAft>
                <a:spcPts val="800"/>
              </a:spcAft>
            </a:pPr>
            <a:r>
              <a:rPr sz="1700" b="0">
                <a:solidFill>
                  <a:srgbClr val="0B1F3A"/>
                </a:solidFill>
              </a:rPr>
              <a:t>perché il sistema propone una cosa, e quanto è sicuro</a:t>
            </a:r>
          </a:p>
        </p:txBody>
      </p:sp>
      <p:sp>
        <p:nvSpPr>
          <p:cNvPr id="10" name="Rectangle 9"/>
          <p:cNvSpPr/>
          <p:nvPr/>
        </p:nvSpPr>
        <p:spPr>
          <a:xfrm>
            <a:off x="7040880" y="2606040"/>
            <a:ext cx="4663440" cy="1051560"/>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7040880" y="2606040"/>
            <a:ext cx="109728" cy="1051560"/>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315200" y="2697480"/>
            <a:ext cx="4297680" cy="914400"/>
          </a:xfrm>
          <a:prstGeom prst="rect">
            <a:avLst/>
          </a:prstGeom>
          <a:noFill/>
        </p:spPr>
        <p:txBody>
          <a:bodyPr wrap="square">
            <a:spAutoFit/>
          </a:bodyPr>
          <a:lstStyle/>
          <a:p>
            <a:pPr>
              <a:spcAft>
                <a:spcPts val="800"/>
              </a:spcAft>
            </a:pPr>
            <a:r>
              <a:rPr sz="1700" b="1">
                <a:solidFill>
                  <a:srgbClr val="0B1F3A"/>
                </a:solidFill>
              </a:rPr>
              <a:t>MONITORARE</a:t>
            </a:r>
          </a:p>
          <a:p>
            <a:pPr>
              <a:spcAft>
                <a:spcPts val="800"/>
              </a:spcAft>
            </a:pPr>
            <a:r>
              <a:rPr sz="1700" b="0">
                <a:solidFill>
                  <a:srgbClr val="0B1F3A"/>
                </a:solidFill>
              </a:rPr>
              <a:t>se sbaglia di più in certe zone o nel tempo</a:t>
            </a:r>
          </a:p>
        </p:txBody>
      </p:sp>
      <p:sp>
        <p:nvSpPr>
          <p:cNvPr id="13" name="Rectangle 12"/>
          <p:cNvSpPr/>
          <p:nvPr/>
        </p:nvSpPr>
        <p:spPr>
          <a:xfrm>
            <a:off x="7040880" y="3840480"/>
            <a:ext cx="4663440" cy="1051560"/>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7040880" y="3840480"/>
            <a:ext cx="109728" cy="1051560"/>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315200" y="3931920"/>
            <a:ext cx="4297680" cy="914400"/>
          </a:xfrm>
          <a:prstGeom prst="rect">
            <a:avLst/>
          </a:prstGeom>
          <a:noFill/>
        </p:spPr>
        <p:txBody>
          <a:bodyPr wrap="square">
            <a:spAutoFit/>
          </a:bodyPr>
          <a:lstStyle/>
          <a:p>
            <a:pPr>
              <a:spcAft>
                <a:spcPts val="800"/>
              </a:spcAft>
            </a:pPr>
            <a:r>
              <a:rPr sz="1700" b="1">
                <a:solidFill>
                  <a:srgbClr val="0B1F3A"/>
                </a:solidFill>
              </a:rPr>
              <a:t>INTERVENIRE</a:t>
            </a:r>
          </a:p>
          <a:p>
            <a:pPr>
              <a:spcAft>
                <a:spcPts val="800"/>
              </a:spcAft>
            </a:pPr>
            <a:r>
              <a:rPr sz="1700" b="0">
                <a:solidFill>
                  <a:srgbClr val="0B1F3A"/>
                </a:solidFill>
              </a:rPr>
              <a:t>approvare, correggere, rifiutare, chiedere aiuto</a:t>
            </a:r>
          </a:p>
        </p:txBody>
      </p:sp>
      <p:sp>
        <p:nvSpPr>
          <p:cNvPr id="16" name="Rectangle 15"/>
          <p:cNvSpPr/>
          <p:nvPr/>
        </p:nvSpPr>
        <p:spPr>
          <a:xfrm>
            <a:off x="7040880" y="5074920"/>
            <a:ext cx="4663440" cy="1051560"/>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7040880" y="5074920"/>
            <a:ext cx="109728" cy="1051560"/>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315200" y="5166360"/>
            <a:ext cx="4297680" cy="914400"/>
          </a:xfrm>
          <a:prstGeom prst="rect">
            <a:avLst/>
          </a:prstGeom>
          <a:noFill/>
        </p:spPr>
        <p:txBody>
          <a:bodyPr wrap="square">
            <a:spAutoFit/>
          </a:bodyPr>
          <a:lstStyle/>
          <a:p>
            <a:pPr>
              <a:spcAft>
                <a:spcPts val="800"/>
              </a:spcAft>
            </a:pPr>
            <a:r>
              <a:rPr sz="1700" b="1">
                <a:solidFill>
                  <a:srgbClr val="0B1F3A"/>
                </a:solidFill>
              </a:rPr>
              <a:t>FERMARE</a:t>
            </a:r>
          </a:p>
          <a:p>
            <a:pPr>
              <a:spcAft>
                <a:spcPts val="800"/>
              </a:spcAft>
            </a:pPr>
            <a:r>
              <a:rPr sz="1700" b="0">
                <a:solidFill>
                  <a:srgbClr val="0B1F3A"/>
                </a:solidFill>
              </a:rPr>
              <a:t>tutto o solo una parte, con un click</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1440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164592"/>
            <a:ext cx="9418320" cy="640080"/>
          </a:xfrm>
          <a:prstGeom prst="rect">
            <a:avLst/>
          </a:prstGeom>
          <a:noFill/>
        </p:spPr>
        <p:txBody>
          <a:bodyPr wrap="square">
            <a:spAutoFit/>
          </a:bodyPr>
          <a:lstStyle/>
          <a:p>
            <a:pPr>
              <a:spcAft>
                <a:spcPts val="800"/>
              </a:spcAft>
            </a:pPr>
            <a:r>
              <a:rPr sz="2800" b="1">
                <a:solidFill>
                  <a:srgbClr val="FFFFFF"/>
                </a:solidFill>
              </a:rPr>
              <a:t>Le parole che useremo</a:t>
            </a:r>
          </a:p>
        </p:txBody>
      </p:sp>
      <p:sp>
        <p:nvSpPr>
          <p:cNvPr id="4" name="TextBox 3"/>
          <p:cNvSpPr txBox="1"/>
          <p:nvPr/>
        </p:nvSpPr>
        <p:spPr>
          <a:xfrm>
            <a:off x="9144000" y="274320"/>
            <a:ext cx="2834640" cy="457200"/>
          </a:xfrm>
          <a:prstGeom prst="rect">
            <a:avLst/>
          </a:prstGeom>
          <a:noFill/>
        </p:spPr>
        <p:txBody>
          <a:bodyPr wrap="square">
            <a:spAutoFit/>
          </a:bodyPr>
          <a:lstStyle/>
          <a:p>
            <a:pPr algn="r">
              <a:spcAft>
                <a:spcPts val="800"/>
              </a:spcAft>
            </a:pPr>
            <a:r>
              <a:rPr sz="1300" b="0">
                <a:solidFill>
                  <a:srgbClr val="C9D8EA"/>
                </a:solidFill>
              </a:rPr>
              <a:t>Glossario</a:t>
            </a:r>
          </a:p>
        </p:txBody>
      </p:sp>
      <p:sp>
        <p:nvSpPr>
          <p:cNvPr id="5" name="Rectangle 4"/>
          <p:cNvSpPr/>
          <p:nvPr/>
        </p:nvSpPr>
        <p:spPr>
          <a:xfrm>
            <a:off x="0" y="914400"/>
            <a:ext cx="12191695" cy="54864"/>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365760" y="1188720"/>
            <a:ext cx="5623560" cy="987552"/>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365760" y="1188720"/>
            <a:ext cx="73152" cy="987552"/>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48640" y="1225296"/>
            <a:ext cx="5349240" cy="914400"/>
          </a:xfrm>
          <a:prstGeom prst="rect">
            <a:avLst/>
          </a:prstGeom>
          <a:noFill/>
        </p:spPr>
        <p:txBody>
          <a:bodyPr wrap="square">
            <a:spAutoFit/>
          </a:bodyPr>
          <a:lstStyle/>
          <a:p>
            <a:pPr>
              <a:spcAft>
                <a:spcPts val="800"/>
              </a:spcAft>
            </a:pPr>
            <a:r>
              <a:rPr sz="1400" b="1">
                <a:solidFill>
                  <a:srgbClr val="0B1F3A"/>
                </a:solidFill>
              </a:rPr>
              <a:t>Recall ("quanti ne vede")</a:t>
            </a:r>
          </a:p>
          <a:p>
            <a:pPr>
              <a:spcAft>
                <a:spcPts val="800"/>
              </a:spcAft>
            </a:pPr>
            <a:r>
              <a:rPr sz="1400" b="0">
                <a:solidFill>
                  <a:srgbClr val="0B1F3A"/>
                </a:solidFill>
              </a:rPr>
              <a:t>Su 10 guasti veri, quanti il sistema ne segnala in anticipo. 8 su 10 = ne perde 2.</a:t>
            </a:r>
          </a:p>
        </p:txBody>
      </p:sp>
      <p:sp>
        <p:nvSpPr>
          <p:cNvPr id="9" name="Rectangle 8"/>
          <p:cNvSpPr/>
          <p:nvPr/>
        </p:nvSpPr>
        <p:spPr>
          <a:xfrm>
            <a:off x="6172200" y="1188720"/>
            <a:ext cx="5623560" cy="987552"/>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6172200" y="1188720"/>
            <a:ext cx="73152" cy="987552"/>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355080" y="1225296"/>
            <a:ext cx="5349240" cy="914400"/>
          </a:xfrm>
          <a:prstGeom prst="rect">
            <a:avLst/>
          </a:prstGeom>
          <a:noFill/>
        </p:spPr>
        <p:txBody>
          <a:bodyPr wrap="square">
            <a:spAutoFit/>
          </a:bodyPr>
          <a:lstStyle/>
          <a:p>
            <a:pPr>
              <a:spcAft>
                <a:spcPts val="800"/>
              </a:spcAft>
            </a:pPr>
            <a:r>
              <a:rPr sz="1400" b="1">
                <a:solidFill>
                  <a:srgbClr val="0B1F3A"/>
                </a:solidFill>
              </a:rPr>
              <a:t>Falso allarme</a:t>
            </a:r>
          </a:p>
          <a:p>
            <a:pPr>
              <a:spcAft>
                <a:spcPts val="800"/>
              </a:spcAft>
            </a:pPr>
            <a:r>
              <a:rPr sz="1400" b="0">
                <a:solidFill>
                  <a:srgbClr val="0B1F3A"/>
                </a:solidFill>
              </a:rPr>
              <a:t>Il sistema segnala un guasto che poi non c'è: una squadra va a vuoto.</a:t>
            </a:r>
          </a:p>
        </p:txBody>
      </p:sp>
      <p:sp>
        <p:nvSpPr>
          <p:cNvPr id="12" name="Rectangle 11"/>
          <p:cNvSpPr/>
          <p:nvPr/>
        </p:nvSpPr>
        <p:spPr>
          <a:xfrm>
            <a:off x="365760" y="2286000"/>
            <a:ext cx="5623560" cy="987552"/>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365760" y="2286000"/>
            <a:ext cx="73152" cy="987552"/>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48640" y="2322576"/>
            <a:ext cx="5349240" cy="914400"/>
          </a:xfrm>
          <a:prstGeom prst="rect">
            <a:avLst/>
          </a:prstGeom>
          <a:noFill/>
        </p:spPr>
        <p:txBody>
          <a:bodyPr wrap="square">
            <a:spAutoFit/>
          </a:bodyPr>
          <a:lstStyle/>
          <a:p>
            <a:pPr>
              <a:spcAft>
                <a:spcPts val="800"/>
              </a:spcAft>
            </a:pPr>
            <a:r>
              <a:rPr sz="1400" b="1">
                <a:solidFill>
                  <a:srgbClr val="0B1F3A"/>
                </a:solidFill>
              </a:rPr>
              <a:t>Probabilità e confidenza</a:t>
            </a:r>
          </a:p>
          <a:p>
            <a:pPr>
              <a:spcAft>
                <a:spcPts val="800"/>
              </a:spcAft>
            </a:pPr>
            <a:r>
              <a:rPr sz="1400" b="0">
                <a:solidFill>
                  <a:srgbClr val="0B1F3A"/>
                </a:solidFill>
              </a:rPr>
              <a:t>"6 su 10" è il rischio; la confidenza dice quanto il sistema è sicuro di quel numero.</a:t>
            </a:r>
          </a:p>
        </p:txBody>
      </p:sp>
      <p:sp>
        <p:nvSpPr>
          <p:cNvPr id="15" name="Rectangle 14"/>
          <p:cNvSpPr/>
          <p:nvPr/>
        </p:nvSpPr>
        <p:spPr>
          <a:xfrm>
            <a:off x="6172200" y="2286000"/>
            <a:ext cx="5623560" cy="987552"/>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6172200" y="2286000"/>
            <a:ext cx="73152" cy="987552"/>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355080" y="2322576"/>
            <a:ext cx="5349240" cy="914400"/>
          </a:xfrm>
          <a:prstGeom prst="rect">
            <a:avLst/>
          </a:prstGeom>
          <a:noFill/>
        </p:spPr>
        <p:txBody>
          <a:bodyPr wrap="square">
            <a:spAutoFit/>
          </a:bodyPr>
          <a:lstStyle/>
          <a:p>
            <a:pPr>
              <a:spcAft>
                <a:spcPts val="800"/>
              </a:spcAft>
            </a:pPr>
            <a:r>
              <a:rPr sz="1400" b="1">
                <a:solidFill>
                  <a:srgbClr val="0B1F3A"/>
                </a:solidFill>
              </a:rPr>
              <a:t>Etichetta / dato registrato</a:t>
            </a:r>
          </a:p>
          <a:p>
            <a:pPr>
              <a:spcAft>
                <a:spcPts val="800"/>
              </a:spcAft>
            </a:pPr>
            <a:r>
              <a:rPr sz="1400" b="0">
                <a:solidFill>
                  <a:srgbClr val="0B1F3A"/>
                </a:solidFill>
              </a:rPr>
              <a:t>Quello che risulta negli archivi. Non sempre coincide con quello che è successo davvero.</a:t>
            </a:r>
          </a:p>
        </p:txBody>
      </p:sp>
      <p:sp>
        <p:nvSpPr>
          <p:cNvPr id="18" name="Rectangle 17"/>
          <p:cNvSpPr/>
          <p:nvPr/>
        </p:nvSpPr>
        <p:spPr>
          <a:xfrm>
            <a:off x="365760" y="3383280"/>
            <a:ext cx="5623560" cy="987552"/>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365760" y="3383280"/>
            <a:ext cx="73152" cy="987552"/>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48640" y="3419856"/>
            <a:ext cx="5349240" cy="914400"/>
          </a:xfrm>
          <a:prstGeom prst="rect">
            <a:avLst/>
          </a:prstGeom>
          <a:noFill/>
        </p:spPr>
        <p:txBody>
          <a:bodyPr wrap="square">
            <a:spAutoFit/>
          </a:bodyPr>
          <a:lstStyle/>
          <a:p>
            <a:pPr>
              <a:spcAft>
                <a:spcPts val="800"/>
              </a:spcAft>
            </a:pPr>
            <a:r>
              <a:rPr sz="1400" b="1">
                <a:solidFill>
                  <a:srgbClr val="0B1F3A"/>
                </a:solidFill>
              </a:rPr>
              <a:t>Bias</a:t>
            </a:r>
          </a:p>
          <a:p>
            <a:pPr>
              <a:spcAft>
                <a:spcPts val="800"/>
              </a:spcAft>
            </a:pPr>
            <a:r>
              <a:rPr sz="1400" b="0">
                <a:solidFill>
                  <a:srgbClr val="0B1F3A"/>
                </a:solidFill>
              </a:rPr>
              <a:t>Un errore sistematico che pesa di più su un gruppo, qui su una zona d'Italia.</a:t>
            </a:r>
          </a:p>
        </p:txBody>
      </p:sp>
      <p:sp>
        <p:nvSpPr>
          <p:cNvPr id="21" name="Rectangle 20"/>
          <p:cNvSpPr/>
          <p:nvPr/>
        </p:nvSpPr>
        <p:spPr>
          <a:xfrm>
            <a:off x="6172200" y="3383280"/>
            <a:ext cx="5623560" cy="987552"/>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6172200" y="3383280"/>
            <a:ext cx="73152" cy="987552"/>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355080" y="3419856"/>
            <a:ext cx="5349240" cy="914400"/>
          </a:xfrm>
          <a:prstGeom prst="rect">
            <a:avLst/>
          </a:prstGeom>
          <a:noFill/>
        </p:spPr>
        <p:txBody>
          <a:bodyPr wrap="square">
            <a:spAutoFit/>
          </a:bodyPr>
          <a:lstStyle/>
          <a:p>
            <a:pPr>
              <a:spcAft>
                <a:spcPts val="800"/>
              </a:spcAft>
            </a:pPr>
            <a:r>
              <a:rPr sz="1400" b="1">
                <a:solidFill>
                  <a:srgbClr val="0B1F3A"/>
                </a:solidFill>
              </a:rPr>
              <a:t>Calibrazione</a:t>
            </a:r>
          </a:p>
          <a:p>
            <a:pPr>
              <a:spcAft>
                <a:spcPts val="800"/>
              </a:spcAft>
            </a:pPr>
            <a:r>
              <a:rPr sz="1400" b="0">
                <a:solidFill>
                  <a:srgbClr val="0B1F3A"/>
                </a:solidFill>
              </a:rPr>
              <a:t>Confronto tra i guasti che il sistema si aspetta e quelli registrati. Se non tornano, qualcosa non va.</a:t>
            </a:r>
          </a:p>
        </p:txBody>
      </p:sp>
      <p:sp>
        <p:nvSpPr>
          <p:cNvPr id="24" name="Rectangle 23"/>
          <p:cNvSpPr/>
          <p:nvPr/>
        </p:nvSpPr>
        <p:spPr>
          <a:xfrm>
            <a:off x="365760" y="4480559"/>
            <a:ext cx="5623560" cy="987552"/>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365760" y="4480559"/>
            <a:ext cx="73152" cy="987552"/>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548640" y="4517135"/>
            <a:ext cx="5349240" cy="914400"/>
          </a:xfrm>
          <a:prstGeom prst="rect">
            <a:avLst/>
          </a:prstGeom>
          <a:noFill/>
        </p:spPr>
        <p:txBody>
          <a:bodyPr wrap="square">
            <a:spAutoFit/>
          </a:bodyPr>
          <a:lstStyle/>
          <a:p>
            <a:pPr>
              <a:spcAft>
                <a:spcPts val="800"/>
              </a:spcAft>
            </a:pPr>
            <a:r>
              <a:rPr sz="1400" b="1">
                <a:solidFill>
                  <a:srgbClr val="0B1F3A"/>
                </a:solidFill>
              </a:rPr>
              <a:t>Proxy</a:t>
            </a:r>
          </a:p>
          <a:p>
            <a:pPr>
              <a:spcAft>
                <a:spcPts val="800"/>
              </a:spcAft>
            </a:pPr>
            <a:r>
              <a:rPr sz="1400" b="0">
                <a:solidFill>
                  <a:srgbClr val="0B1F3A"/>
                </a:solidFill>
              </a:rPr>
              <a:t>Un dato che "fa la spia" su un altro: l'età degli impianti rivela in che zona sono.</a:t>
            </a:r>
          </a:p>
        </p:txBody>
      </p:sp>
      <p:sp>
        <p:nvSpPr>
          <p:cNvPr id="27" name="Rectangle 26"/>
          <p:cNvSpPr/>
          <p:nvPr/>
        </p:nvSpPr>
        <p:spPr>
          <a:xfrm>
            <a:off x="6172200" y="4480559"/>
            <a:ext cx="5623560" cy="987552"/>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6172200" y="4480559"/>
            <a:ext cx="73152" cy="987552"/>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6355080" y="4517135"/>
            <a:ext cx="5349240" cy="914400"/>
          </a:xfrm>
          <a:prstGeom prst="rect">
            <a:avLst/>
          </a:prstGeom>
          <a:noFill/>
        </p:spPr>
        <p:txBody>
          <a:bodyPr wrap="square">
            <a:spAutoFit/>
          </a:bodyPr>
          <a:lstStyle/>
          <a:p>
            <a:pPr>
              <a:spcAft>
                <a:spcPts val="800"/>
              </a:spcAft>
            </a:pPr>
            <a:r>
              <a:rPr sz="1400" b="1">
                <a:solidFill>
                  <a:srgbClr val="0B1F3A"/>
                </a:solidFill>
              </a:rPr>
              <a:t>Drift</a:t>
            </a:r>
          </a:p>
          <a:p>
            <a:pPr>
              <a:spcAft>
                <a:spcPts val="800"/>
              </a:spcAft>
            </a:pPr>
            <a:r>
              <a:rPr sz="1400" b="0">
                <a:solidFill>
                  <a:srgbClr val="0B1F3A"/>
                </a:solidFill>
              </a:rPr>
              <a:t>Il sistema peggiora col tempo perché il mondo cambia.</a:t>
            </a:r>
          </a:p>
        </p:txBody>
      </p:sp>
      <p:sp>
        <p:nvSpPr>
          <p:cNvPr id="30" name="Rectangle 29"/>
          <p:cNvSpPr/>
          <p:nvPr/>
        </p:nvSpPr>
        <p:spPr>
          <a:xfrm>
            <a:off x="365760" y="5577840"/>
            <a:ext cx="5623560" cy="987552"/>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ectangle 30"/>
          <p:cNvSpPr/>
          <p:nvPr/>
        </p:nvSpPr>
        <p:spPr>
          <a:xfrm>
            <a:off x="365760" y="5577840"/>
            <a:ext cx="73152" cy="987552"/>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548640" y="5614416"/>
            <a:ext cx="5349240" cy="914400"/>
          </a:xfrm>
          <a:prstGeom prst="rect">
            <a:avLst/>
          </a:prstGeom>
          <a:noFill/>
        </p:spPr>
        <p:txBody>
          <a:bodyPr wrap="square">
            <a:spAutoFit/>
          </a:bodyPr>
          <a:lstStyle/>
          <a:p>
            <a:pPr>
              <a:spcAft>
                <a:spcPts val="800"/>
              </a:spcAft>
            </a:pPr>
            <a:r>
              <a:rPr sz="1400" b="1">
                <a:solidFill>
                  <a:srgbClr val="0B1F3A"/>
                </a:solidFill>
              </a:rPr>
              <a:t>HIC · HITL · HOTL</a:t>
            </a:r>
          </a:p>
          <a:p>
            <a:pPr>
              <a:spcAft>
                <a:spcPts val="800"/>
              </a:spcAft>
            </a:pPr>
            <a:r>
              <a:rPr sz="1400" b="0">
                <a:solidFill>
                  <a:srgbClr val="0B1F3A"/>
                </a:solidFill>
              </a:rPr>
              <a:t>Decide solo la persona · la persona approva prima · il sistema agisce e la persona sorveglia.</a:t>
            </a:r>
          </a:p>
        </p:txBody>
      </p:sp>
      <p:sp>
        <p:nvSpPr>
          <p:cNvPr id="33" name="Rectangle 32"/>
          <p:cNvSpPr/>
          <p:nvPr/>
        </p:nvSpPr>
        <p:spPr>
          <a:xfrm>
            <a:off x="6172200" y="5577840"/>
            <a:ext cx="5623560" cy="987552"/>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ectangle 33"/>
          <p:cNvSpPr/>
          <p:nvPr/>
        </p:nvSpPr>
        <p:spPr>
          <a:xfrm>
            <a:off x="6172200" y="5577840"/>
            <a:ext cx="73152" cy="987552"/>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6355080" y="5614416"/>
            <a:ext cx="5349240" cy="914400"/>
          </a:xfrm>
          <a:prstGeom prst="rect">
            <a:avLst/>
          </a:prstGeom>
          <a:noFill/>
        </p:spPr>
        <p:txBody>
          <a:bodyPr wrap="square">
            <a:spAutoFit/>
          </a:bodyPr>
          <a:lstStyle/>
          <a:p>
            <a:pPr>
              <a:spcAft>
                <a:spcPts val="800"/>
              </a:spcAft>
            </a:pPr>
            <a:r>
              <a:rPr sz="1400" b="1">
                <a:solidFill>
                  <a:srgbClr val="0B1F3A"/>
                </a:solidFill>
              </a:rPr>
              <a:t>Override · rubber-stamping</a:t>
            </a:r>
          </a:p>
          <a:p>
            <a:pPr>
              <a:spcAft>
                <a:spcPts val="800"/>
              </a:spcAft>
            </a:pPr>
            <a:r>
              <a:rPr sz="1400" b="0">
                <a:solidFill>
                  <a:srgbClr val="0B1F3A"/>
                </a:solidFill>
              </a:rPr>
              <a:t>La persona corregge il sistema · la persona approva tutto senza leggere.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1440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164592"/>
            <a:ext cx="9418320" cy="640080"/>
          </a:xfrm>
          <a:prstGeom prst="rect">
            <a:avLst/>
          </a:prstGeom>
          <a:noFill/>
        </p:spPr>
        <p:txBody>
          <a:bodyPr wrap="square">
            <a:spAutoFit/>
          </a:bodyPr>
          <a:lstStyle/>
          <a:p>
            <a:pPr>
              <a:spcAft>
                <a:spcPts val="800"/>
              </a:spcAft>
            </a:pPr>
            <a:r>
              <a:rPr sz="2800" b="1">
                <a:solidFill>
                  <a:srgbClr val="FFFFFF"/>
                </a:solidFill>
              </a:rPr>
              <a:t>Cosa abbiamo trovato nei dati · 1. Al Sud</a:t>
            </a:r>
          </a:p>
        </p:txBody>
      </p:sp>
      <p:sp>
        <p:nvSpPr>
          <p:cNvPr id="4" name="TextBox 3"/>
          <p:cNvSpPr txBox="1"/>
          <p:nvPr/>
        </p:nvSpPr>
        <p:spPr>
          <a:xfrm>
            <a:off x="9144000" y="274320"/>
            <a:ext cx="2834640" cy="457200"/>
          </a:xfrm>
          <a:prstGeom prst="rect">
            <a:avLst/>
          </a:prstGeom>
          <a:noFill/>
        </p:spPr>
        <p:txBody>
          <a:bodyPr wrap="square">
            <a:spAutoFit/>
          </a:bodyPr>
          <a:lstStyle/>
          <a:p>
            <a:pPr algn="r">
              <a:spcAft>
                <a:spcPts val="800"/>
              </a:spcAft>
            </a:pPr>
            <a:r>
              <a:rPr sz="1300" b="0">
                <a:solidFill>
                  <a:srgbClr val="C9D8EA"/>
                </a:solidFill>
              </a:rPr>
              <a:t>Art. 10 · test T5</a:t>
            </a:r>
          </a:p>
        </p:txBody>
      </p:sp>
      <p:sp>
        <p:nvSpPr>
          <p:cNvPr id="5" name="Rectangle 4"/>
          <p:cNvSpPr/>
          <p:nvPr/>
        </p:nvSpPr>
        <p:spPr>
          <a:xfrm>
            <a:off x="0" y="914400"/>
            <a:ext cx="12191695" cy="54864"/>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g_sud_isole.png"/>
          <p:cNvPicPr>
            <a:picLocks noChangeAspect="1"/>
          </p:cNvPicPr>
          <p:nvPr/>
        </p:nvPicPr>
        <p:blipFill>
          <a:blip r:embed="rId3"/>
          <a:stretch>
            <a:fillRect/>
          </a:stretch>
        </p:blipFill>
        <p:spPr>
          <a:xfrm>
            <a:off x="274320" y="1188720"/>
            <a:ext cx="5852160" cy="3845705"/>
          </a:xfrm>
          <a:prstGeom prst="rect">
            <a:avLst/>
          </a:prstGeom>
        </p:spPr>
      </p:pic>
      <p:sp>
        <p:nvSpPr>
          <p:cNvPr id="7" name="TextBox 6"/>
          <p:cNvSpPr txBox="1"/>
          <p:nvPr/>
        </p:nvSpPr>
        <p:spPr>
          <a:xfrm>
            <a:off x="6309360" y="1234440"/>
            <a:ext cx="5577840" cy="4023360"/>
          </a:xfrm>
          <a:prstGeom prst="rect">
            <a:avLst/>
          </a:prstGeom>
          <a:noFill/>
        </p:spPr>
        <p:txBody>
          <a:bodyPr wrap="square">
            <a:spAutoFit/>
          </a:bodyPr>
          <a:lstStyle/>
          <a:p>
            <a:pPr>
              <a:spcAft>
                <a:spcPts val="800"/>
              </a:spcAft>
            </a:pPr>
            <a:r>
              <a:rPr sz="1600" b="1">
                <a:solidFill>
                  <a:srgbClr val="0F6CBD"/>
                </a:solidFill>
              </a:rPr>
              <a:t>•  </a:t>
            </a:r>
            <a:r>
              <a:rPr sz="1600" b="0">
                <a:solidFill>
                  <a:srgbClr val="0B1F3A"/>
                </a:solidFill>
              </a:rPr>
              <a:t>Sud e Isole hanno impianti </a:t>
            </a:r>
            <a:r>
              <a:rPr sz="1600" b="1">
                <a:solidFill>
                  <a:srgbClr val="0B1F3A"/>
                </a:solidFill>
              </a:rPr>
              <a:t>quasi gemelli</a:t>
            </a:r>
            <a:r>
              <a:rPr sz="1600" b="0">
                <a:solidFill>
                  <a:srgbClr val="0B1F3A"/>
                </a:solidFill>
              </a:rPr>
              <a:t>: età media 23 e 25 anni, circa 2 manutenzioni in 5 anni, sensori identici.</a:t>
            </a:r>
          </a:p>
          <a:p>
            <a:pPr>
              <a:spcAft>
                <a:spcPts val="800"/>
              </a:spcAft>
            </a:pPr>
            <a:r>
              <a:rPr sz="1600" b="1">
                <a:solidFill>
                  <a:srgbClr val="0F6CBD"/>
                </a:solidFill>
              </a:rPr>
              <a:t>•  </a:t>
            </a:r>
            <a:r>
              <a:rPr sz="1600" b="0">
                <a:solidFill>
                  <a:srgbClr val="0B1F3A"/>
                </a:solidFill>
              </a:rPr>
              <a:t>Eppure ogni 100 impianti risultano </a:t>
            </a:r>
            <a:r>
              <a:rPr sz="1600" b="1">
                <a:solidFill>
                  <a:srgbClr val="0B1F3A"/>
                </a:solidFill>
              </a:rPr>
              <a:t>24 guasti al Sud e 45 nelle Isole</a:t>
            </a:r>
            <a:r>
              <a:rPr sz="1600" b="0">
                <a:solidFill>
                  <a:srgbClr val="0B1F3A"/>
                </a:solidFill>
              </a:rPr>
              <a:t>. E più gli impianti invecchiano, più la distanza cresce.</a:t>
            </a:r>
          </a:p>
          <a:p>
            <a:pPr>
              <a:spcAft>
                <a:spcPts val="800"/>
              </a:spcAft>
            </a:pPr>
            <a:r>
              <a:rPr sz="1600" b="1">
                <a:solidFill>
                  <a:srgbClr val="0F6CBD"/>
                </a:solidFill>
              </a:rPr>
              <a:t>•  </a:t>
            </a:r>
            <a:r>
              <a:rPr sz="1600" b="0">
                <a:solidFill>
                  <a:srgbClr val="0B1F3A"/>
                </a:solidFill>
              </a:rPr>
              <a:t>Le macchine non sono più robuste al Sud: è </a:t>
            </a:r>
            <a:r>
              <a:rPr sz="1600" b="1">
                <a:solidFill>
                  <a:srgbClr val="0B1F3A"/>
                </a:solidFill>
              </a:rPr>
              <a:t>più probabile che i guasti siano registrati meno</a:t>
            </a:r>
            <a:r>
              <a:rPr sz="1600" b="0">
                <a:solidFill>
                  <a:srgbClr val="0B1F3A"/>
                </a:solidFill>
              </a:rPr>
              <a:t>.</a:t>
            </a:r>
          </a:p>
          <a:p>
            <a:pPr>
              <a:spcAft>
                <a:spcPts val="800"/>
              </a:spcAft>
            </a:pPr>
            <a:r>
              <a:rPr sz="1600" b="1">
                <a:solidFill>
                  <a:srgbClr val="0F6CBD"/>
                </a:solidFill>
              </a:rPr>
              <a:t>•  </a:t>
            </a:r>
            <a:r>
              <a:rPr sz="1600" b="0">
                <a:solidFill>
                  <a:srgbClr val="0B1F3A"/>
                </a:solidFill>
              </a:rPr>
              <a:t>Un indizio forte: sulle utenze </a:t>
            </a:r>
            <a:r>
              <a:rPr sz="1600" b="1">
                <a:solidFill>
                  <a:srgbClr val="0B1F3A"/>
                </a:solidFill>
              </a:rPr>
              <a:t>critiche</a:t>
            </a:r>
            <a:r>
              <a:rPr sz="1600" b="0">
                <a:solidFill>
                  <a:srgbClr val="0B1F3A"/>
                </a:solidFill>
              </a:rPr>
              <a:t> (ospedali) la differenza quasi sparisce. Un ospedale al buio non passa inosservato; un guasto su un'utenza qualunque, a volte sì.</a:t>
            </a:r>
          </a:p>
        </p:txBody>
      </p:sp>
      <p:sp>
        <p:nvSpPr>
          <p:cNvPr id="8" name="Rectangle 7"/>
          <p:cNvSpPr/>
          <p:nvPr/>
        </p:nvSpPr>
        <p:spPr>
          <a:xfrm>
            <a:off x="365760" y="5257800"/>
            <a:ext cx="11430000" cy="1325880"/>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365760" y="5257800"/>
            <a:ext cx="91440" cy="132588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94360" y="5330952"/>
            <a:ext cx="11109960" cy="1234440"/>
          </a:xfrm>
          <a:prstGeom prst="rect">
            <a:avLst/>
          </a:prstGeom>
          <a:noFill/>
        </p:spPr>
        <p:txBody>
          <a:bodyPr wrap="square">
            <a:spAutoFit/>
          </a:bodyPr>
          <a:lstStyle/>
          <a:p>
            <a:pPr>
              <a:spcAft>
                <a:spcPts val="800"/>
              </a:spcAft>
            </a:pPr>
            <a:r>
              <a:rPr sz="1500" b="1">
                <a:solidFill>
                  <a:srgbClr val="0B1F3A"/>
                </a:solidFill>
              </a:rPr>
              <a:t>Perché conta</a:t>
            </a:r>
          </a:p>
          <a:p>
            <a:pPr>
              <a:spcAft>
                <a:spcPts val="800"/>
              </a:spcAft>
            </a:pPr>
            <a:r>
              <a:rPr sz="1500" b="0">
                <a:solidFill>
                  <a:srgbClr val="0B1F3A"/>
                </a:solidFill>
              </a:rPr>
              <a:t>Il sistema impara dal passato. Se il passato è scritto male, impara che al Sud "si guasta poco" e rischia di sottovalutare impianti che invece sono a rischio. È un'ipotesi: l'alternativa è che le Isole registrino come guasti anche interventi minori. Solo una verifica sul campo può dirlo.</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1440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164592"/>
            <a:ext cx="9418320" cy="640080"/>
          </a:xfrm>
          <a:prstGeom prst="rect">
            <a:avLst/>
          </a:prstGeom>
          <a:noFill/>
        </p:spPr>
        <p:txBody>
          <a:bodyPr wrap="square">
            <a:spAutoFit/>
          </a:bodyPr>
          <a:lstStyle/>
          <a:p>
            <a:pPr>
              <a:spcAft>
                <a:spcPts val="800"/>
              </a:spcAft>
            </a:pPr>
            <a:r>
              <a:rPr sz="2800" b="1">
                <a:solidFill>
                  <a:srgbClr val="FFFFFF"/>
                </a:solidFill>
              </a:rPr>
              <a:t>Cosa abbiamo trovato nei dati · 2. Al Nord e al Centro</a:t>
            </a:r>
          </a:p>
        </p:txBody>
      </p:sp>
      <p:sp>
        <p:nvSpPr>
          <p:cNvPr id="4" name="TextBox 3"/>
          <p:cNvSpPr txBox="1"/>
          <p:nvPr/>
        </p:nvSpPr>
        <p:spPr>
          <a:xfrm>
            <a:off x="9144000" y="274320"/>
            <a:ext cx="2834640" cy="457200"/>
          </a:xfrm>
          <a:prstGeom prst="rect">
            <a:avLst/>
          </a:prstGeom>
          <a:noFill/>
        </p:spPr>
        <p:txBody>
          <a:bodyPr wrap="square">
            <a:spAutoFit/>
          </a:bodyPr>
          <a:lstStyle/>
          <a:p>
            <a:pPr algn="r">
              <a:spcAft>
                <a:spcPts val="800"/>
              </a:spcAft>
            </a:pPr>
            <a:r>
              <a:rPr sz="1300" b="0">
                <a:solidFill>
                  <a:srgbClr val="C9D8EA"/>
                </a:solidFill>
              </a:rPr>
              <a:t>Art. 10</a:t>
            </a:r>
          </a:p>
        </p:txBody>
      </p:sp>
      <p:sp>
        <p:nvSpPr>
          <p:cNvPr id="5" name="Rectangle 4"/>
          <p:cNvSpPr/>
          <p:nvPr/>
        </p:nvSpPr>
        <p:spPr>
          <a:xfrm>
            <a:off x="0" y="914400"/>
            <a:ext cx="12191695" cy="54864"/>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g_nord_centro.png"/>
          <p:cNvPicPr>
            <a:picLocks noChangeAspect="1"/>
          </p:cNvPicPr>
          <p:nvPr/>
        </p:nvPicPr>
        <p:blipFill>
          <a:blip r:embed="rId3"/>
          <a:stretch>
            <a:fillRect/>
          </a:stretch>
        </p:blipFill>
        <p:spPr>
          <a:xfrm>
            <a:off x="274320" y="1188720"/>
            <a:ext cx="5669280" cy="3840480"/>
          </a:xfrm>
          <a:prstGeom prst="rect">
            <a:avLst/>
          </a:prstGeom>
        </p:spPr>
      </p:pic>
      <p:sp>
        <p:nvSpPr>
          <p:cNvPr id="7" name="TextBox 6"/>
          <p:cNvSpPr txBox="1"/>
          <p:nvPr/>
        </p:nvSpPr>
        <p:spPr>
          <a:xfrm>
            <a:off x="6217920" y="1234440"/>
            <a:ext cx="5669280" cy="4023360"/>
          </a:xfrm>
          <a:prstGeom prst="rect">
            <a:avLst/>
          </a:prstGeom>
          <a:noFill/>
        </p:spPr>
        <p:txBody>
          <a:bodyPr wrap="square">
            <a:spAutoFit/>
          </a:bodyPr>
          <a:lstStyle/>
          <a:p>
            <a:pPr>
              <a:spcAft>
                <a:spcPts val="800"/>
              </a:spcAft>
            </a:pPr>
            <a:r>
              <a:rPr sz="1600" b="1">
                <a:solidFill>
                  <a:srgbClr val="0F6CBD"/>
                </a:solidFill>
              </a:rPr>
              <a:t>•  </a:t>
            </a:r>
            <a:r>
              <a:rPr sz="1600" b="0">
                <a:solidFill>
                  <a:srgbClr val="0B1F3A"/>
                </a:solidFill>
              </a:rPr>
              <a:t>Qui il problema principale non sembra nei dati: il sistema, semmai, dà </a:t>
            </a:r>
            <a:r>
              <a:rPr sz="1600" b="1">
                <a:solidFill>
                  <a:srgbClr val="0B1F3A"/>
                </a:solidFill>
              </a:rPr>
              <a:t>allarmi in più</a:t>
            </a:r>
            <a:r>
              <a:rPr sz="1600" b="0">
                <a:solidFill>
                  <a:srgbClr val="0B1F3A"/>
                </a:solidFill>
              </a:rPr>
              <a:t> (40 su 272 impianti sani), come fa un po' ovunque per non perdere guasti.</a:t>
            </a:r>
          </a:p>
          <a:p>
            <a:pPr>
              <a:spcAft>
                <a:spcPts val="800"/>
              </a:spcAft>
            </a:pPr>
            <a:r>
              <a:rPr sz="1600" b="1">
                <a:solidFill>
                  <a:srgbClr val="0F6CBD"/>
                </a:solidFill>
              </a:rPr>
              <a:t>•  </a:t>
            </a:r>
            <a:r>
              <a:rPr sz="1600" b="0">
                <a:solidFill>
                  <a:srgbClr val="0B1F3A"/>
                </a:solidFill>
              </a:rPr>
              <a:t>Ma su </a:t>
            </a:r>
            <a:r>
              <a:rPr sz="1600" b="1">
                <a:solidFill>
                  <a:srgbClr val="0B1F3A"/>
                </a:solidFill>
              </a:rPr>
              <a:t>28 guasti veri ne perde 8</a:t>
            </a:r>
            <a:r>
              <a:rPr sz="1600" b="0">
                <a:solidFill>
                  <a:srgbClr val="0B1F3A"/>
                </a:solidFill>
              </a:rPr>
              <a:t>: arrivano senza preavviso. I sensori non mostrano niente di strano: la vibrazione dei guasti persi è più vicina a quella di un impianto sano che a quella dei guasti visti.</a:t>
            </a:r>
          </a:p>
          <a:p>
            <a:pPr>
              <a:spcAft>
                <a:spcPts val="800"/>
              </a:spcAft>
            </a:pPr>
            <a:r>
              <a:rPr sz="1600" b="1">
                <a:solidFill>
                  <a:srgbClr val="0F6CBD"/>
                </a:solidFill>
              </a:rPr>
              <a:t>•  </a:t>
            </a:r>
            <a:r>
              <a:rPr sz="1600" b="0">
                <a:solidFill>
                  <a:srgbClr val="0B1F3A"/>
                </a:solidFill>
              </a:rPr>
              <a:t>Quindi sbaglia </a:t>
            </a:r>
            <a:r>
              <a:rPr sz="1600" b="1">
                <a:solidFill>
                  <a:srgbClr val="0B1F3A"/>
                </a:solidFill>
              </a:rPr>
              <a:t>in tutte e due le direzioni</a:t>
            </a:r>
            <a:r>
              <a:rPr sz="1600" b="0">
                <a:solidFill>
                  <a:srgbClr val="0B1F3A"/>
                </a:solidFill>
              </a:rPr>
              <a:t>: troppi allarmi sugli impianti sani, silenzio sui guasti "muti". Nessun sistema può vedere quello che i sensori non misurano.</a:t>
            </a:r>
          </a:p>
          <a:p>
            <a:pPr>
              <a:spcAft>
                <a:spcPts val="800"/>
              </a:spcAft>
            </a:pPr>
            <a:r>
              <a:rPr sz="1600" b="1">
                <a:solidFill>
                  <a:srgbClr val="0F6CBD"/>
                </a:solidFill>
              </a:rPr>
              <a:t>•  </a:t>
            </a:r>
            <a:r>
              <a:rPr sz="1600" b="0">
                <a:solidFill>
                  <a:srgbClr val="0B1F3A"/>
                </a:solidFill>
              </a:rPr>
              <a:t>Il gruppo servito peggio sono le </a:t>
            </a:r>
            <a:r>
              <a:rPr sz="1600" b="1">
                <a:solidFill>
                  <a:srgbClr val="0B1F3A"/>
                </a:solidFill>
              </a:rPr>
              <a:t>utenze normali di Nord e Centro</a:t>
            </a:r>
            <a:r>
              <a:rPr sz="1600" b="0">
                <a:solidFill>
                  <a:srgbClr val="0B1F3A"/>
                </a:solidFill>
              </a:rPr>
              <a:t>: il sistema ne vede circa 2 su 3.</a:t>
            </a:r>
          </a:p>
        </p:txBody>
      </p:sp>
      <p:sp>
        <p:nvSpPr>
          <p:cNvPr id="8" name="Rectangle 7"/>
          <p:cNvSpPr/>
          <p:nvPr/>
        </p:nvSpPr>
        <p:spPr>
          <a:xfrm>
            <a:off x="365760" y="5257800"/>
            <a:ext cx="11430000" cy="1325880"/>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365760" y="5257800"/>
            <a:ext cx="91440" cy="1325880"/>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94360" y="5330952"/>
            <a:ext cx="11109960" cy="1234440"/>
          </a:xfrm>
          <a:prstGeom prst="rect">
            <a:avLst/>
          </a:prstGeom>
          <a:noFill/>
        </p:spPr>
        <p:txBody>
          <a:bodyPr wrap="square">
            <a:spAutoFit/>
          </a:bodyPr>
          <a:lstStyle/>
          <a:p>
            <a:pPr>
              <a:spcAft>
                <a:spcPts val="800"/>
              </a:spcAft>
            </a:pPr>
            <a:r>
              <a:rPr sz="1500" b="1">
                <a:solidFill>
                  <a:srgbClr val="0B1F3A"/>
                </a:solidFill>
              </a:rPr>
              <a:t>Due problemi, due risposte diverse</a:t>
            </a:r>
          </a:p>
          <a:p>
            <a:pPr>
              <a:spcAft>
                <a:spcPts val="800"/>
              </a:spcAft>
            </a:pPr>
            <a:r>
              <a:rPr sz="1500" b="0">
                <a:solidFill>
                  <a:srgbClr val="0B1F3A"/>
                </a:solidFill>
              </a:rPr>
              <a:t>Al Sud il problema è nei dati: non si corregge il modello, si mette una persona davanti alle decisioni. Al Nord e al Centro il problema è nei sensori: si aggiunge un controllo umano anche sulle decisioni più leggere.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1440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164592"/>
            <a:ext cx="9418320" cy="640080"/>
          </a:xfrm>
          <a:prstGeom prst="rect">
            <a:avLst/>
          </a:prstGeom>
          <a:noFill/>
        </p:spPr>
        <p:txBody>
          <a:bodyPr wrap="square">
            <a:spAutoFit/>
          </a:bodyPr>
          <a:lstStyle/>
          <a:p>
            <a:pPr>
              <a:spcAft>
                <a:spcPts val="800"/>
              </a:spcAft>
            </a:pPr>
            <a:r>
              <a:rPr sz="2800" b="1">
                <a:solidFill>
                  <a:srgbClr val="FFFFFF"/>
                </a:solidFill>
              </a:rPr>
              <a:t>La dashboard di supervisione</a:t>
            </a:r>
          </a:p>
        </p:txBody>
      </p:sp>
      <p:sp>
        <p:nvSpPr>
          <p:cNvPr id="4" name="TextBox 3"/>
          <p:cNvSpPr txBox="1"/>
          <p:nvPr/>
        </p:nvSpPr>
        <p:spPr>
          <a:xfrm>
            <a:off x="9144000" y="274320"/>
            <a:ext cx="2834640" cy="457200"/>
          </a:xfrm>
          <a:prstGeom prst="rect">
            <a:avLst/>
          </a:prstGeom>
          <a:noFill/>
        </p:spPr>
        <p:txBody>
          <a:bodyPr wrap="square">
            <a:spAutoFit/>
          </a:bodyPr>
          <a:lstStyle/>
          <a:p>
            <a:pPr algn="r">
              <a:spcAft>
                <a:spcPts val="800"/>
              </a:spcAft>
            </a:pPr>
            <a:r>
              <a:rPr sz="1300" b="0">
                <a:solidFill>
                  <a:srgbClr val="C9D8EA"/>
                </a:solidFill>
              </a:rPr>
              <a:t>Art. 14(4)</a:t>
            </a:r>
          </a:p>
        </p:txBody>
      </p:sp>
      <p:sp>
        <p:nvSpPr>
          <p:cNvPr id="5" name="Rectangle 4"/>
          <p:cNvSpPr/>
          <p:nvPr/>
        </p:nvSpPr>
        <p:spPr>
          <a:xfrm>
            <a:off x="0" y="914400"/>
            <a:ext cx="12191695" cy="54864"/>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01_home.png"/>
          <p:cNvPicPr>
            <a:picLocks noChangeAspect="1"/>
          </p:cNvPicPr>
          <p:nvPr/>
        </p:nvPicPr>
        <p:blipFill>
          <a:blip r:embed="rId3"/>
          <a:stretch>
            <a:fillRect/>
          </a:stretch>
        </p:blipFill>
        <p:spPr>
          <a:xfrm>
            <a:off x="2197491" y="1188720"/>
            <a:ext cx="7766538" cy="4846320"/>
          </a:xfrm>
          <a:prstGeom prst="rect">
            <a:avLst/>
          </a:prstGeom>
          <a:ln w="12700">
            <a:solidFill>
              <a:srgbClr val="D0D5DD"/>
            </a:solidFill>
          </a:ln>
        </p:spPr>
      </p:pic>
      <p:sp>
        <p:nvSpPr>
          <p:cNvPr id="7" name="TextBox 6"/>
          <p:cNvSpPr txBox="1"/>
          <p:nvPr/>
        </p:nvSpPr>
        <p:spPr>
          <a:xfrm>
            <a:off x="457200" y="6126480"/>
            <a:ext cx="11247120" cy="640080"/>
          </a:xfrm>
          <a:prstGeom prst="rect">
            <a:avLst/>
          </a:prstGeom>
          <a:noFill/>
        </p:spPr>
        <p:txBody>
          <a:bodyPr wrap="square">
            <a:spAutoFit/>
          </a:bodyPr>
          <a:lstStyle/>
          <a:p>
            <a:pPr>
              <a:spcAft>
                <a:spcPts val="800"/>
              </a:spcAft>
            </a:pPr>
            <a:r>
              <a:rPr sz="1500" b="0">
                <a:solidFill>
                  <a:srgbClr val="555F6D"/>
                </a:solidFill>
              </a:rPr>
              <a:t>In alto lo stato, sempre visibile: decisioni in attesa, quante correzioni fanno le persone, allarmi attivi, integrità del registro. A sinistra il pulsante di stop, a un click.</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1440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164592"/>
            <a:ext cx="9418320" cy="640080"/>
          </a:xfrm>
          <a:prstGeom prst="rect">
            <a:avLst/>
          </a:prstGeom>
          <a:noFill/>
        </p:spPr>
        <p:txBody>
          <a:bodyPr wrap="square">
            <a:spAutoFit/>
          </a:bodyPr>
          <a:lstStyle/>
          <a:p>
            <a:pPr>
              <a:spcAft>
                <a:spcPts val="800"/>
              </a:spcAft>
            </a:pPr>
            <a:r>
              <a:rPr sz="2800" b="1">
                <a:solidFill>
                  <a:srgbClr val="FFFFFF"/>
                </a:solidFill>
              </a:rPr>
              <a:t>Chi decide cosa</a:t>
            </a:r>
          </a:p>
        </p:txBody>
      </p:sp>
      <p:sp>
        <p:nvSpPr>
          <p:cNvPr id="4" name="TextBox 3"/>
          <p:cNvSpPr txBox="1"/>
          <p:nvPr/>
        </p:nvSpPr>
        <p:spPr>
          <a:xfrm>
            <a:off x="9144000" y="274320"/>
            <a:ext cx="2834640" cy="457200"/>
          </a:xfrm>
          <a:prstGeom prst="rect">
            <a:avLst/>
          </a:prstGeom>
          <a:noFill/>
        </p:spPr>
        <p:txBody>
          <a:bodyPr wrap="square">
            <a:spAutoFit/>
          </a:bodyPr>
          <a:lstStyle/>
          <a:p>
            <a:pPr algn="r">
              <a:spcAft>
                <a:spcPts val="800"/>
              </a:spcAft>
            </a:pPr>
            <a:r>
              <a:rPr sz="1300" b="0">
                <a:solidFill>
                  <a:srgbClr val="C9D8EA"/>
                </a:solidFill>
              </a:rPr>
              <a:t>Tier 2A · KPI A6</a:t>
            </a:r>
          </a:p>
        </p:txBody>
      </p:sp>
      <p:sp>
        <p:nvSpPr>
          <p:cNvPr id="5" name="Rectangle 4"/>
          <p:cNvSpPr/>
          <p:nvPr/>
        </p:nvSpPr>
        <p:spPr>
          <a:xfrm>
            <a:off x="0" y="914400"/>
            <a:ext cx="12191695" cy="54864"/>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6" name="Table 5"/>
          <p:cNvGraphicFramePr>
            <a:graphicFrameLocks noGrp="1"/>
          </p:cNvGraphicFramePr>
          <p:nvPr/>
        </p:nvGraphicFramePr>
        <p:xfrm>
          <a:off x="365760" y="1188720"/>
          <a:ext cx="6583680" cy="4206240"/>
        </p:xfrm>
        <a:graphic>
          <a:graphicData uri="http://schemas.openxmlformats.org/drawingml/2006/table">
            <a:tbl>
              <a:tblPr firstRow="1" bandRow="1">
                <a:tableStyleId>{5C22544A-7EE6-4342-B048-85BDC9FD1C3A}</a:tableStyleId>
              </a:tblPr>
              <a:tblGrid>
                <a:gridCol w="2743200">
                  <a:extLst>
                    <a:ext uri="{9D8B030D-6E8A-4147-A177-3AD203B41FA5}">
                      <a16:colId xmlns:a16="http://schemas.microsoft.com/office/drawing/2014/main" val="20000"/>
                    </a:ext>
                  </a:extLst>
                </a:gridCol>
                <a:gridCol w="210312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tblGrid>
              <a:tr h="525780">
                <a:tc>
                  <a:txBody>
                    <a:bodyPr/>
                    <a:lstStyle/>
                    <a:p>
                      <a:r>
                        <a:rPr sz="1200" b="1"/>
                        <a:t>Quando</a:t>
                      </a:r>
                    </a:p>
                  </a:txBody>
                  <a:tcPr/>
                </a:tc>
                <a:tc>
                  <a:txBody>
                    <a:bodyPr/>
                    <a:lstStyle/>
                    <a:p>
                      <a:r>
                        <a:rPr sz="1200" b="1"/>
                        <a:t>Chi decide</a:t>
                      </a:r>
                    </a:p>
                  </a:txBody>
                  <a:tcPr/>
                </a:tc>
                <a:tc>
                  <a:txBody>
                    <a:bodyPr/>
                    <a:lstStyle/>
                    <a:p>
                      <a:r>
                        <a:rPr sz="1200" b="1"/>
                        <a:t>Perché</a:t>
                      </a:r>
                    </a:p>
                  </a:txBody>
                  <a:tcPr/>
                </a:tc>
                <a:extLst>
                  <a:ext uri="{0D108BD9-81ED-4DB2-BD59-A6C34878D82A}">
                    <a16:rowId xmlns:a16="http://schemas.microsoft.com/office/drawing/2014/main" val="10000"/>
                  </a:ext>
                </a:extLst>
              </a:tr>
              <a:tr h="525780">
                <a:tc>
                  <a:txBody>
                    <a:bodyPr/>
                    <a:lstStyle/>
                    <a:p>
                      <a:r>
                        <a:rPr sz="1200" b="0"/>
                        <a:t>Utenza critica (es. ospedale)</a:t>
                      </a:r>
                    </a:p>
                  </a:txBody>
                  <a:tcPr/>
                </a:tc>
                <a:tc>
                  <a:txBody>
                    <a:bodyPr/>
                    <a:lstStyle/>
                    <a:p>
                      <a:r>
                        <a:rPr sz="1200" b="1"/>
                        <a:t>Solo la persona (HIC)</a:t>
                      </a:r>
                    </a:p>
                  </a:txBody>
                  <a:tcPr/>
                </a:tc>
                <a:tc>
                  <a:txBody>
                    <a:bodyPr/>
                    <a:lstStyle/>
                    <a:p>
                      <a:r>
                        <a:rPr sz="1200" b="0"/>
                        <a:t>un errore non si recupera</a:t>
                      </a:r>
                    </a:p>
                  </a:txBody>
                  <a:tcPr/>
                </a:tc>
                <a:extLst>
                  <a:ext uri="{0D108BD9-81ED-4DB2-BD59-A6C34878D82A}">
                    <a16:rowId xmlns:a16="http://schemas.microsoft.com/office/drawing/2014/main" val="10001"/>
                  </a:ext>
                </a:extLst>
              </a:tr>
              <a:tr h="525780">
                <a:tc>
                  <a:txBody>
                    <a:bodyPr/>
                    <a:lstStyle/>
                    <a:p>
                      <a:r>
                        <a:rPr sz="1200" b="0"/>
                        <a:t>Ridurre la corrente a un'utenza importante</a:t>
                      </a:r>
                    </a:p>
                  </a:txBody>
                  <a:tcPr/>
                </a:tc>
                <a:tc>
                  <a:txBody>
                    <a:bodyPr/>
                    <a:lstStyle/>
                    <a:p>
                      <a:r>
                        <a:rPr sz="1200" b="1"/>
                        <a:t>Solo la persona (HIC)</a:t>
                      </a:r>
                    </a:p>
                  </a:txBody>
                  <a:tcPr/>
                </a:tc>
                <a:tc>
                  <a:txBody>
                    <a:bodyPr/>
                    <a:lstStyle/>
                    <a:p>
                      <a:r>
                        <a:rPr sz="1200" b="0"/>
                        <a:t>tocca direttamente chi è servito</a:t>
                      </a:r>
                    </a:p>
                  </a:txBody>
                  <a:tcPr/>
                </a:tc>
                <a:extLst>
                  <a:ext uri="{0D108BD9-81ED-4DB2-BD59-A6C34878D82A}">
                    <a16:rowId xmlns:a16="http://schemas.microsoft.com/office/drawing/2014/main" val="10002"/>
                  </a:ext>
                </a:extLst>
              </a:tr>
              <a:tr h="525780">
                <a:tc>
                  <a:txBody>
                    <a:bodyPr/>
                    <a:lstStyle/>
                    <a:p>
                      <a:r>
                        <a:rPr sz="1200" b="0"/>
                        <a:t>Rischio alto (6 su 10 o più) o sistema poco sicuro</a:t>
                      </a:r>
                    </a:p>
                  </a:txBody>
                  <a:tcPr/>
                </a:tc>
                <a:tc>
                  <a:txBody>
                    <a:bodyPr/>
                    <a:lstStyle/>
                    <a:p>
                      <a:r>
                        <a:rPr sz="1200" b="1"/>
                        <a:t>La persona approva prima (HITL)</a:t>
                      </a:r>
                    </a:p>
                  </a:txBody>
                  <a:tcPr/>
                </a:tc>
                <a:tc>
                  <a:txBody>
                    <a:bodyPr/>
                    <a:lstStyle/>
                    <a:p>
                      <a:r>
                        <a:rPr sz="1200" b="0"/>
                        <a:t>serve giudizio umano</a:t>
                      </a:r>
                    </a:p>
                  </a:txBody>
                  <a:tcPr/>
                </a:tc>
                <a:extLst>
                  <a:ext uri="{0D108BD9-81ED-4DB2-BD59-A6C34878D82A}">
                    <a16:rowId xmlns:a16="http://schemas.microsoft.com/office/drawing/2014/main" val="10003"/>
                  </a:ext>
                </a:extLst>
              </a:tr>
              <a:tr h="525780">
                <a:tc>
                  <a:txBody>
                    <a:bodyPr/>
                    <a:lstStyle/>
                    <a:p>
                      <a:r>
                        <a:rPr sz="1200" b="0"/>
                        <a:t>Zona dove i dati storici non tornano (Sud)</a:t>
                      </a:r>
                    </a:p>
                  </a:txBody>
                  <a:tcPr/>
                </a:tc>
                <a:tc>
                  <a:txBody>
                    <a:bodyPr/>
                    <a:lstStyle/>
                    <a:p>
                      <a:r>
                        <a:rPr sz="1200" b="1"/>
                        <a:t>La persona approva prima (HITL)</a:t>
                      </a:r>
                    </a:p>
                  </a:txBody>
                  <a:tcPr/>
                </a:tc>
                <a:tc>
                  <a:txBody>
                    <a:bodyPr/>
                    <a:lstStyle/>
                    <a:p>
                      <a:r>
                        <a:rPr sz="1200" b="0"/>
                        <a:t>non ci fidiamo dello storico</a:t>
                      </a:r>
                    </a:p>
                  </a:txBody>
                  <a:tcPr/>
                </a:tc>
                <a:extLst>
                  <a:ext uri="{0D108BD9-81ED-4DB2-BD59-A6C34878D82A}">
                    <a16:rowId xmlns:a16="http://schemas.microsoft.com/office/drawing/2014/main" val="10004"/>
                  </a:ext>
                </a:extLst>
              </a:tr>
              <a:tr h="525780">
                <a:tc>
                  <a:txBody>
                    <a:bodyPr/>
                    <a:lstStyle/>
                    <a:p>
                      <a:r>
                        <a:rPr sz="1200" b="0"/>
                        <a:t>Zona dove il sistema vede meno guasti (Nord, Centro), rischio da 1 su 10</a:t>
                      </a:r>
                    </a:p>
                  </a:txBody>
                  <a:tcPr/>
                </a:tc>
                <a:tc>
                  <a:txBody>
                    <a:bodyPr/>
                    <a:lstStyle/>
                    <a:p>
                      <a:r>
                        <a:rPr sz="1200" b="1"/>
                        <a:t>La persona approva prima (HITL)</a:t>
                      </a:r>
                    </a:p>
                  </a:txBody>
                  <a:tcPr/>
                </a:tc>
                <a:tc>
                  <a:txBody>
                    <a:bodyPr/>
                    <a:lstStyle/>
                    <a:p>
                      <a:r>
                        <a:rPr sz="1200" b="0"/>
                        <a:t>lì sbaglia di più</a:t>
                      </a:r>
                    </a:p>
                  </a:txBody>
                  <a:tcPr/>
                </a:tc>
                <a:extLst>
                  <a:ext uri="{0D108BD9-81ED-4DB2-BD59-A6C34878D82A}">
                    <a16:rowId xmlns:a16="http://schemas.microsoft.com/office/drawing/2014/main" val="10005"/>
                  </a:ext>
                </a:extLst>
              </a:tr>
              <a:tr h="525780">
                <a:tc>
                  <a:txBody>
                    <a:bodyPr/>
                    <a:lstStyle/>
                    <a:p>
                      <a:r>
                        <a:rPr sz="1200" b="0"/>
                        <a:t>Controllo leggero e rischio basso</a:t>
                      </a:r>
                    </a:p>
                  </a:txBody>
                  <a:tcPr/>
                </a:tc>
                <a:tc>
                  <a:txBody>
                    <a:bodyPr/>
                    <a:lstStyle/>
                    <a:p>
                      <a:r>
                        <a:rPr sz="1200" b="1"/>
                        <a:t>Il sistema agisce, la persona sorveglia (HOTL)</a:t>
                      </a:r>
                    </a:p>
                  </a:txBody>
                  <a:tcPr/>
                </a:tc>
                <a:tc>
                  <a:txBody>
                    <a:bodyPr/>
                    <a:lstStyle/>
                    <a:p>
                      <a:r>
                        <a:rPr sz="1200" b="0"/>
                        <a:t>errore economico e reversibile</a:t>
                      </a:r>
                    </a:p>
                  </a:txBody>
                  <a:tcPr/>
                </a:tc>
                <a:extLst>
                  <a:ext uri="{0D108BD9-81ED-4DB2-BD59-A6C34878D82A}">
                    <a16:rowId xmlns:a16="http://schemas.microsoft.com/office/drawing/2014/main" val="10006"/>
                  </a:ext>
                </a:extLst>
              </a:tr>
              <a:tr h="525780">
                <a:tc>
                  <a:txBody>
                    <a:bodyPr/>
                    <a:lstStyle/>
                    <a:p>
                      <a:r>
                        <a:rPr sz="1200" b="0"/>
                        <a:t>Tutto il resto</a:t>
                      </a:r>
                    </a:p>
                  </a:txBody>
                  <a:tcPr/>
                </a:tc>
                <a:tc>
                  <a:txBody>
                    <a:bodyPr/>
                    <a:lstStyle/>
                    <a:p>
                      <a:r>
                        <a:rPr sz="1200" b="1"/>
                        <a:t>La persona approva prima (HITL)</a:t>
                      </a:r>
                    </a:p>
                  </a:txBody>
                  <a:tcPr/>
                </a:tc>
                <a:tc>
                  <a:txBody>
                    <a:bodyPr/>
                    <a:lstStyle/>
                    <a:p>
                      <a:r>
                        <a:rPr sz="1200" b="0"/>
                        <a:t>nel dubbio, decide l'umano</a:t>
                      </a:r>
                    </a:p>
                  </a:txBody>
                  <a:tcPr/>
                </a:tc>
                <a:extLst>
                  <a:ext uri="{0D108BD9-81ED-4DB2-BD59-A6C34878D82A}">
                    <a16:rowId xmlns:a16="http://schemas.microsoft.com/office/drawing/2014/main" val="10007"/>
                  </a:ext>
                </a:extLst>
              </a:tr>
            </a:tbl>
          </a:graphicData>
        </a:graphic>
      </p:graphicFrame>
      <p:pic>
        <p:nvPicPr>
          <p:cNvPr id="7" name="Picture 6" descr="matrice_1.png"/>
          <p:cNvPicPr>
            <a:picLocks noChangeAspect="1"/>
          </p:cNvPicPr>
          <p:nvPr/>
        </p:nvPicPr>
        <p:blipFill>
          <a:blip r:embed="rId3"/>
          <a:stretch>
            <a:fillRect/>
          </a:stretch>
        </p:blipFill>
        <p:spPr>
          <a:xfrm>
            <a:off x="7178040" y="1188720"/>
            <a:ext cx="4663440" cy="3342716"/>
          </a:xfrm>
          <a:prstGeom prst="rect">
            <a:avLst/>
          </a:prstGeom>
          <a:ln w="12700">
            <a:solidFill>
              <a:srgbClr val="D0D5DD"/>
            </a:solidFill>
          </a:ln>
        </p:spPr>
      </p:pic>
      <p:sp>
        <p:nvSpPr>
          <p:cNvPr id="8" name="TextBox 7"/>
          <p:cNvSpPr txBox="1"/>
          <p:nvPr/>
        </p:nvSpPr>
        <p:spPr>
          <a:xfrm>
            <a:off x="7178040" y="4892040"/>
            <a:ext cx="4663440" cy="914400"/>
          </a:xfrm>
          <a:prstGeom prst="rect">
            <a:avLst/>
          </a:prstGeom>
          <a:noFill/>
        </p:spPr>
        <p:txBody>
          <a:bodyPr wrap="square">
            <a:spAutoFit/>
          </a:bodyPr>
          <a:lstStyle/>
          <a:p>
            <a:pPr>
              <a:spcAft>
                <a:spcPts val="800"/>
              </a:spcAft>
            </a:pPr>
            <a:r>
              <a:rPr sz="1200" b="0">
                <a:solidFill>
                  <a:srgbClr val="555F6D"/>
                </a:solidFill>
              </a:rPr>
              <a:t>Ogni punto è un impianto: in alto il rischio, a destra quanto il sistema è sicuro. </a:t>
            </a:r>
            <a:r>
              <a:rPr sz="1200" b="1">
                <a:solidFill>
                  <a:srgbClr val="555F6D"/>
                </a:solidFill>
              </a:rPr>
              <a:t>Rosso</a:t>
            </a:r>
            <a:r>
              <a:rPr sz="1200" b="0">
                <a:solidFill>
                  <a:srgbClr val="555F6D"/>
                </a:solidFill>
              </a:rPr>
              <a:t> decide solo la persona, </a:t>
            </a:r>
            <a:r>
              <a:rPr sz="1200" b="1">
                <a:solidFill>
                  <a:srgbClr val="555F6D"/>
                </a:solidFill>
              </a:rPr>
              <a:t>arancio</a:t>
            </a:r>
            <a:r>
              <a:rPr sz="1200" b="0">
                <a:solidFill>
                  <a:srgbClr val="555F6D"/>
                </a:solidFill>
              </a:rPr>
              <a:t> la persona approva prima, </a:t>
            </a:r>
            <a:r>
              <a:rPr sz="1200" b="1">
                <a:solidFill>
                  <a:srgbClr val="555F6D"/>
                </a:solidFill>
              </a:rPr>
              <a:t>verde</a:t>
            </a:r>
            <a:r>
              <a:rPr sz="1200" b="0">
                <a:solidFill>
                  <a:srgbClr val="555F6D"/>
                </a:solidFill>
              </a:rPr>
              <a:t> il sistema agisce.</a:t>
            </a:r>
          </a:p>
        </p:txBody>
      </p:sp>
      <p:sp>
        <p:nvSpPr>
          <p:cNvPr id="9" name="TextBox 8"/>
          <p:cNvSpPr txBox="1"/>
          <p:nvPr/>
        </p:nvSpPr>
        <p:spPr>
          <a:xfrm>
            <a:off x="457200" y="5806440"/>
            <a:ext cx="11247120" cy="914400"/>
          </a:xfrm>
          <a:prstGeom prst="rect">
            <a:avLst/>
          </a:prstGeom>
          <a:noFill/>
        </p:spPr>
        <p:txBody>
          <a:bodyPr wrap="square">
            <a:spAutoFit/>
          </a:bodyPr>
          <a:lstStyle/>
          <a:p>
            <a:pPr>
              <a:spcAft>
                <a:spcPts val="800"/>
              </a:spcAft>
            </a:pPr>
            <a:r>
              <a:rPr sz="1500" b="0">
                <a:solidFill>
                  <a:srgbClr val="555F6D"/>
                </a:solidFill>
              </a:rPr>
              <a:t>Il sistema agisce da solo solo quando è quasi certo che </a:t>
            </a:r>
            <a:r>
              <a:rPr sz="1500" b="1">
                <a:solidFill>
                  <a:srgbClr val="555F6D"/>
                </a:solidFill>
              </a:rPr>
              <a:t>non</a:t>
            </a:r>
            <a:r>
              <a:rPr sz="1500" b="0">
                <a:solidFill>
                  <a:srgbClr val="555F6D"/>
                </a:solidFill>
              </a:rPr>
              <a:t> ci sia un guasto (rischio sotto 2 su 10). Il codice applica esattamente queste regole: verificato al 100%.</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1440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164592"/>
            <a:ext cx="9418320" cy="640080"/>
          </a:xfrm>
          <a:prstGeom prst="rect">
            <a:avLst/>
          </a:prstGeom>
          <a:noFill/>
        </p:spPr>
        <p:txBody>
          <a:bodyPr wrap="square">
            <a:spAutoFit/>
          </a:bodyPr>
          <a:lstStyle/>
          <a:p>
            <a:pPr>
              <a:spcAft>
                <a:spcPts val="800"/>
              </a:spcAft>
            </a:pPr>
            <a:r>
              <a:rPr sz="2800" b="1">
                <a:solidFill>
                  <a:srgbClr val="FFFFFF"/>
                </a:solidFill>
              </a:rPr>
              <a:t>Una decisione: AST-01148</a:t>
            </a:r>
          </a:p>
        </p:txBody>
      </p:sp>
      <p:sp>
        <p:nvSpPr>
          <p:cNvPr id="4" name="TextBox 3"/>
          <p:cNvSpPr txBox="1"/>
          <p:nvPr/>
        </p:nvSpPr>
        <p:spPr>
          <a:xfrm>
            <a:off x="9144000" y="274320"/>
            <a:ext cx="2834640" cy="457200"/>
          </a:xfrm>
          <a:prstGeom prst="rect">
            <a:avLst/>
          </a:prstGeom>
          <a:noFill/>
        </p:spPr>
        <p:txBody>
          <a:bodyPr wrap="square">
            <a:spAutoFit/>
          </a:bodyPr>
          <a:lstStyle/>
          <a:p>
            <a:pPr algn="r">
              <a:spcAft>
                <a:spcPts val="800"/>
              </a:spcAft>
            </a:pPr>
            <a:r>
              <a:rPr sz="1300" b="0">
                <a:solidFill>
                  <a:srgbClr val="C9D8EA"/>
                </a:solidFill>
              </a:rPr>
              <a:t>Tier 3A · test T4</a:t>
            </a:r>
          </a:p>
        </p:txBody>
      </p:sp>
      <p:sp>
        <p:nvSpPr>
          <p:cNvPr id="5" name="Rectangle 4"/>
          <p:cNvSpPr/>
          <p:nvPr/>
        </p:nvSpPr>
        <p:spPr>
          <a:xfrm>
            <a:off x="0" y="914400"/>
            <a:ext cx="12191695" cy="54864"/>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card_0.png"/>
          <p:cNvPicPr>
            <a:picLocks noChangeAspect="1"/>
          </p:cNvPicPr>
          <p:nvPr/>
        </p:nvPicPr>
        <p:blipFill>
          <a:blip r:embed="rId3"/>
          <a:stretch>
            <a:fillRect/>
          </a:stretch>
        </p:blipFill>
        <p:spPr>
          <a:xfrm>
            <a:off x="715640" y="1188720"/>
            <a:ext cx="4969520" cy="5486400"/>
          </a:xfrm>
          <a:prstGeom prst="rect">
            <a:avLst/>
          </a:prstGeom>
          <a:ln w="12700">
            <a:solidFill>
              <a:srgbClr val="D0D5DD"/>
            </a:solidFill>
          </a:ln>
        </p:spPr>
      </p:pic>
      <p:sp>
        <p:nvSpPr>
          <p:cNvPr id="7" name="TextBox 6"/>
          <p:cNvSpPr txBox="1"/>
          <p:nvPr/>
        </p:nvSpPr>
        <p:spPr>
          <a:xfrm>
            <a:off x="6309360" y="1234440"/>
            <a:ext cx="5577840" cy="3291840"/>
          </a:xfrm>
          <a:prstGeom prst="rect">
            <a:avLst/>
          </a:prstGeom>
          <a:noFill/>
        </p:spPr>
        <p:txBody>
          <a:bodyPr wrap="square">
            <a:spAutoFit/>
          </a:bodyPr>
          <a:lstStyle/>
          <a:p>
            <a:pPr>
              <a:spcAft>
                <a:spcPts val="800"/>
              </a:spcAft>
            </a:pPr>
            <a:r>
              <a:rPr sz="1500" b="1">
                <a:solidFill>
                  <a:srgbClr val="0F6CBD"/>
                </a:solidFill>
              </a:rPr>
              <a:t>•  </a:t>
            </a:r>
            <a:r>
              <a:rPr sz="1500" b="0">
                <a:solidFill>
                  <a:srgbClr val="0B1F3A"/>
                </a:solidFill>
              </a:rPr>
              <a:t>Cabina del </a:t>
            </a:r>
            <a:r>
              <a:rPr sz="1500" b="1">
                <a:solidFill>
                  <a:srgbClr val="0B1F3A"/>
                </a:solidFill>
              </a:rPr>
              <a:t>Sud</a:t>
            </a:r>
            <a:r>
              <a:rPr sz="1500" b="0">
                <a:solidFill>
                  <a:srgbClr val="0B1F3A"/>
                </a:solidFill>
              </a:rPr>
              <a:t> che alimenta un </a:t>
            </a:r>
            <a:r>
              <a:rPr sz="1500" b="1">
                <a:solidFill>
                  <a:srgbClr val="0B1F3A"/>
                </a:solidFill>
              </a:rPr>
              <a:t>ospedale</a:t>
            </a:r>
            <a:r>
              <a:rPr sz="1500" b="0">
                <a:solidFill>
                  <a:srgbClr val="0B1F3A"/>
                </a:solidFill>
              </a:rPr>
              <a:t>: decide solo la persona.</a:t>
            </a:r>
          </a:p>
          <a:p>
            <a:pPr>
              <a:spcAft>
                <a:spcPts val="800"/>
              </a:spcAft>
            </a:pPr>
            <a:r>
              <a:rPr sz="1500" b="1">
                <a:solidFill>
                  <a:srgbClr val="0F6CBD"/>
                </a:solidFill>
              </a:rPr>
              <a:t>•  </a:t>
            </a:r>
            <a:r>
              <a:rPr sz="1500" b="1">
                <a:solidFill>
                  <a:srgbClr val="0B1F3A"/>
                </a:solidFill>
              </a:rPr>
              <a:t>In parole semplici</a:t>
            </a:r>
            <a:r>
              <a:rPr sz="1500" b="0">
                <a:solidFill>
                  <a:srgbClr val="0B1F3A"/>
                </a:solidFill>
              </a:rPr>
              <a:t>: "circa 6 su 10", cosa fare, il motivo principale (vibrazione molto alta).</a:t>
            </a:r>
          </a:p>
          <a:p>
            <a:pPr>
              <a:spcAft>
                <a:spcPts val="800"/>
              </a:spcAft>
            </a:pPr>
            <a:r>
              <a:rPr sz="1500" b="1">
                <a:solidFill>
                  <a:srgbClr val="0F6CBD"/>
                </a:solidFill>
              </a:rPr>
              <a:t>•  </a:t>
            </a:r>
            <a:r>
              <a:rPr sz="1500" b="1">
                <a:solidFill>
                  <a:srgbClr val="0B1F3A"/>
                </a:solidFill>
              </a:rPr>
              <a:t>E se...</a:t>
            </a:r>
            <a:r>
              <a:rPr sz="1500" b="0">
                <a:solidFill>
                  <a:srgbClr val="0B1F3A"/>
                </a:solidFill>
              </a:rPr>
              <a:t>: con vibrazione normale il rischio scenderebbe a 3 su 10.</a:t>
            </a:r>
          </a:p>
          <a:p>
            <a:pPr>
              <a:spcAft>
                <a:spcPts val="800"/>
              </a:spcAft>
            </a:pPr>
            <a:r>
              <a:rPr sz="1500" b="1">
                <a:solidFill>
                  <a:srgbClr val="0F6CBD"/>
                </a:solidFill>
              </a:rPr>
              <a:t>•  </a:t>
            </a:r>
            <a:r>
              <a:rPr sz="1500" b="1">
                <a:solidFill>
                  <a:srgbClr val="0B1F3A"/>
                </a:solidFill>
              </a:rPr>
              <a:t>Casi simili</a:t>
            </a:r>
            <a:r>
              <a:rPr sz="1500" b="0">
                <a:solidFill>
                  <a:srgbClr val="0B1F3A"/>
                </a:solidFill>
              </a:rPr>
              <a:t>: 3 impianti con sensori simili si sono guastati tutti.</a:t>
            </a:r>
          </a:p>
          <a:p>
            <a:pPr>
              <a:spcAft>
                <a:spcPts val="800"/>
              </a:spcAft>
            </a:pPr>
            <a:r>
              <a:rPr sz="1500" b="1">
                <a:solidFill>
                  <a:srgbClr val="0F6CBD"/>
                </a:solidFill>
              </a:rPr>
              <a:t>•  </a:t>
            </a:r>
            <a:r>
              <a:rPr sz="1500" b="1">
                <a:solidFill>
                  <a:srgbClr val="0B1F3A"/>
                </a:solidFill>
              </a:rPr>
              <a:t>Avviso</a:t>
            </a:r>
            <a:r>
              <a:rPr sz="1500" b="0">
                <a:solidFill>
                  <a:srgbClr val="0B1F3A"/>
                </a:solidFill>
              </a:rPr>
              <a:t>: al Sud lo storico può sottostimare i guasti.</a:t>
            </a:r>
          </a:p>
        </p:txBody>
      </p:sp>
      <p:sp>
        <p:nvSpPr>
          <p:cNvPr id="8" name="Rectangle 7"/>
          <p:cNvSpPr/>
          <p:nvPr/>
        </p:nvSpPr>
        <p:spPr>
          <a:xfrm>
            <a:off x="6309360" y="4572000"/>
            <a:ext cx="5577840" cy="2011680"/>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6309360" y="4572000"/>
            <a:ext cx="91440" cy="201168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537960" y="4645152"/>
            <a:ext cx="5257800" cy="1920240"/>
          </a:xfrm>
          <a:prstGeom prst="rect">
            <a:avLst/>
          </a:prstGeom>
          <a:noFill/>
        </p:spPr>
        <p:txBody>
          <a:bodyPr wrap="square">
            <a:spAutoFit/>
          </a:bodyPr>
          <a:lstStyle/>
          <a:p>
            <a:pPr>
              <a:spcAft>
                <a:spcPts val="800"/>
              </a:spcAft>
            </a:pPr>
            <a:r>
              <a:rPr sz="1300" b="1">
                <a:solidFill>
                  <a:srgbClr val="0B1F3A"/>
                </a:solidFill>
              </a:rPr>
              <a:t>Il modello non si corregge da solo</a:t>
            </a:r>
          </a:p>
          <a:p>
            <a:pPr>
              <a:spcAft>
                <a:spcPts val="800"/>
              </a:spcAft>
            </a:pPr>
            <a:r>
              <a:rPr sz="1300" b="0">
                <a:solidFill>
                  <a:srgbClr val="0B1F3A"/>
                </a:solidFill>
              </a:rPr>
              <a:t>Impara dai guasti registrati: se al Sud molti non lo sono, impara che certi segnali sono meno pericolosi di quanto siano. Togliere la zona dal modello attenua il problema ma non lo elimina. Oggi lo compensano avvisi e persone; un miglioramento futuro è riaddestrare su dati verificati sul campo.</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1440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164592"/>
            <a:ext cx="9418320" cy="640080"/>
          </a:xfrm>
          <a:prstGeom prst="rect">
            <a:avLst/>
          </a:prstGeom>
          <a:noFill/>
        </p:spPr>
        <p:txBody>
          <a:bodyPr wrap="square">
            <a:spAutoFit/>
          </a:bodyPr>
          <a:lstStyle/>
          <a:p>
            <a:pPr>
              <a:spcAft>
                <a:spcPts val="800"/>
              </a:spcAft>
            </a:pPr>
            <a:r>
              <a:rPr sz="2800" b="1">
                <a:solidFill>
                  <a:srgbClr val="FFFFFF"/>
                </a:solidFill>
              </a:rPr>
              <a:t>Giudizio umano: motivare, decidere, tracciare</a:t>
            </a:r>
          </a:p>
        </p:txBody>
      </p:sp>
      <p:sp>
        <p:nvSpPr>
          <p:cNvPr id="4" name="TextBox 3"/>
          <p:cNvSpPr txBox="1"/>
          <p:nvPr/>
        </p:nvSpPr>
        <p:spPr>
          <a:xfrm>
            <a:off x="9144000" y="274320"/>
            <a:ext cx="2834640" cy="457200"/>
          </a:xfrm>
          <a:prstGeom prst="rect">
            <a:avLst/>
          </a:prstGeom>
          <a:noFill/>
        </p:spPr>
        <p:txBody>
          <a:bodyPr wrap="square">
            <a:spAutoFit/>
          </a:bodyPr>
          <a:lstStyle/>
          <a:p>
            <a:pPr algn="r">
              <a:spcAft>
                <a:spcPts val="800"/>
              </a:spcAft>
            </a:pPr>
            <a:r>
              <a:rPr sz="1300" b="0">
                <a:solidFill>
                  <a:srgbClr val="C9D8EA"/>
                </a:solidFill>
              </a:rPr>
              <a:t>Tier 2B · test T1 T2</a:t>
            </a:r>
          </a:p>
        </p:txBody>
      </p:sp>
      <p:sp>
        <p:nvSpPr>
          <p:cNvPr id="5" name="Rectangle 4"/>
          <p:cNvSpPr/>
          <p:nvPr/>
        </p:nvSpPr>
        <p:spPr>
          <a:xfrm>
            <a:off x="0" y="914400"/>
            <a:ext cx="12191695" cy="54864"/>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card_1.png"/>
          <p:cNvPicPr>
            <a:picLocks noChangeAspect="1"/>
          </p:cNvPicPr>
          <p:nvPr/>
        </p:nvPicPr>
        <p:blipFill>
          <a:blip r:embed="rId3"/>
          <a:stretch>
            <a:fillRect/>
          </a:stretch>
        </p:blipFill>
        <p:spPr>
          <a:xfrm>
            <a:off x="365760" y="1188720"/>
            <a:ext cx="6035040" cy="4877945"/>
          </a:xfrm>
          <a:prstGeom prst="rect">
            <a:avLst/>
          </a:prstGeom>
          <a:ln w="12700">
            <a:solidFill>
              <a:srgbClr val="D0D5DD"/>
            </a:solidFill>
          </a:ln>
        </p:spPr>
      </p:pic>
      <p:sp>
        <p:nvSpPr>
          <p:cNvPr id="7" name="TextBox 6"/>
          <p:cNvSpPr txBox="1"/>
          <p:nvPr/>
        </p:nvSpPr>
        <p:spPr>
          <a:xfrm>
            <a:off x="6583680" y="1280160"/>
            <a:ext cx="5303520" cy="5303520"/>
          </a:xfrm>
          <a:prstGeom prst="rect">
            <a:avLst/>
          </a:prstGeom>
          <a:noFill/>
        </p:spPr>
        <p:txBody>
          <a:bodyPr wrap="square">
            <a:spAutoFit/>
          </a:bodyPr>
          <a:lstStyle/>
          <a:p>
            <a:pPr>
              <a:spcAft>
                <a:spcPts val="800"/>
              </a:spcAft>
            </a:pPr>
            <a:r>
              <a:rPr sz="1500" b="1">
                <a:solidFill>
                  <a:srgbClr val="0F6CBD"/>
                </a:solidFill>
              </a:rPr>
              <a:t>•  </a:t>
            </a:r>
            <a:r>
              <a:rPr sz="1500" b="0">
                <a:solidFill>
                  <a:srgbClr val="0B1F3A"/>
                </a:solidFill>
              </a:rPr>
              <a:t>Per l'esperto: i </a:t>
            </a:r>
            <a:r>
              <a:rPr sz="1500" b="1">
                <a:solidFill>
                  <a:srgbClr val="0B1F3A"/>
                </a:solidFill>
              </a:rPr>
              <a:t>3 motivi principali</a:t>
            </a:r>
            <a:r>
              <a:rPr sz="1500" b="0">
                <a:solidFill>
                  <a:srgbClr val="0B1F3A"/>
                </a:solidFill>
              </a:rPr>
              <a:t>, scritti da un LLM e con la </a:t>
            </a:r>
            <a:r>
              <a:rPr sz="1500" b="1">
                <a:solidFill>
                  <a:srgbClr val="0B1F3A"/>
                </a:solidFill>
              </a:rPr>
              <a:t>fonte</a:t>
            </a:r>
            <a:r>
              <a:rPr sz="1500" b="0">
                <a:solidFill>
                  <a:srgbClr val="0B1F3A"/>
                </a:solidFill>
              </a:rPr>
              <a:t> sempre dichiarata.</a:t>
            </a:r>
          </a:p>
          <a:p>
            <a:pPr>
              <a:spcAft>
                <a:spcPts val="800"/>
              </a:spcAft>
            </a:pPr>
            <a:r>
              <a:rPr sz="1500" b="1">
                <a:solidFill>
                  <a:srgbClr val="0F6CBD"/>
                </a:solidFill>
              </a:rPr>
              <a:t>•  </a:t>
            </a:r>
            <a:r>
              <a:rPr sz="1500" b="0">
                <a:solidFill>
                  <a:srgbClr val="0B1F3A"/>
                </a:solidFill>
              </a:rPr>
              <a:t>L'LLM </a:t>
            </a:r>
            <a:r>
              <a:rPr sz="1500" b="1">
                <a:solidFill>
                  <a:srgbClr val="0B1F3A"/>
                </a:solidFill>
              </a:rPr>
              <a:t>traduce, non decide</a:t>
            </a:r>
            <a:r>
              <a:rPr sz="1500" b="0">
                <a:solidFill>
                  <a:srgbClr val="0B1F3A"/>
                </a:solidFill>
              </a:rPr>
              <a:t>: se inventa numeri o usa gergo la risposta viene scartata e si usa un testo fisso.</a:t>
            </a:r>
          </a:p>
          <a:p>
            <a:pPr>
              <a:spcAft>
                <a:spcPts val="800"/>
              </a:spcAft>
            </a:pPr>
            <a:r>
              <a:rPr sz="1500" b="1">
                <a:solidFill>
                  <a:srgbClr val="0F6CBD"/>
                </a:solidFill>
              </a:rPr>
              <a:t>•  </a:t>
            </a:r>
            <a:r>
              <a:rPr sz="1500" b="0">
                <a:solidFill>
                  <a:srgbClr val="0B1F3A"/>
                </a:solidFill>
              </a:rPr>
              <a:t>Quattro scelte: </a:t>
            </a:r>
            <a:r>
              <a:rPr sz="1500" b="1">
                <a:solidFill>
                  <a:srgbClr val="0B1F3A"/>
                </a:solidFill>
              </a:rPr>
              <a:t>approva · correggi · rifiuta · chiedi aiuto</a:t>
            </a:r>
            <a:r>
              <a:rPr sz="1500" b="0">
                <a:solidFill>
                  <a:srgbClr val="0B1F3A"/>
                </a:solidFill>
              </a:rPr>
              <a:t> (escalation).</a:t>
            </a:r>
          </a:p>
          <a:p>
            <a:pPr>
              <a:spcAft>
                <a:spcPts val="800"/>
              </a:spcAft>
            </a:pPr>
            <a:r>
              <a:rPr sz="1500" b="1">
                <a:solidFill>
                  <a:srgbClr val="0F6CBD"/>
                </a:solidFill>
              </a:rPr>
              <a:t>•  </a:t>
            </a:r>
            <a:r>
              <a:rPr sz="1500" b="0">
                <a:solidFill>
                  <a:srgbClr val="0B1F3A"/>
                </a:solidFill>
              </a:rPr>
              <a:t>Serve una </a:t>
            </a:r>
            <a:r>
              <a:rPr sz="1500" b="1">
                <a:solidFill>
                  <a:srgbClr val="0B1F3A"/>
                </a:solidFill>
              </a:rPr>
              <a:t>motivazione vera</a:t>
            </a:r>
            <a:r>
              <a:rPr sz="1500" b="0">
                <a:solidFill>
                  <a:srgbClr val="0B1F3A"/>
                </a:solidFill>
              </a:rPr>
              <a:t>: "ok" viene respinto, le frasi copiate anche.</a:t>
            </a:r>
          </a:p>
          <a:p>
            <a:pPr>
              <a:spcAft>
                <a:spcPts val="800"/>
              </a:spcAft>
            </a:pPr>
            <a:r>
              <a:rPr sz="1500" b="1">
                <a:solidFill>
                  <a:srgbClr val="0F6CBD"/>
                </a:solidFill>
              </a:rPr>
              <a:t>•  </a:t>
            </a:r>
            <a:r>
              <a:rPr sz="1500" b="0">
                <a:solidFill>
                  <a:srgbClr val="0B1F3A"/>
                </a:solidFill>
              </a:rPr>
              <a:t>Nel codice c'è </a:t>
            </a:r>
            <a:r>
              <a:rPr sz="1500" b="1">
                <a:solidFill>
                  <a:srgbClr val="0B1F3A"/>
                </a:solidFill>
              </a:rPr>
              <a:t>un solo punto</a:t>
            </a:r>
            <a:r>
              <a:rPr sz="1500" b="0">
                <a:solidFill>
                  <a:srgbClr val="0B1F3A"/>
                </a:solidFill>
              </a:rPr>
              <a:t> che esegue le azioni: una decisione rifiutata o in attesa non ci arriva.</a:t>
            </a:r>
          </a:p>
          <a:p>
            <a:pPr>
              <a:spcAft>
                <a:spcPts val="800"/>
              </a:spcAft>
            </a:pPr>
            <a:r>
              <a:rPr sz="1500" b="1">
                <a:solidFill>
                  <a:srgbClr val="0F6CBD"/>
                </a:solidFill>
              </a:rPr>
              <a:t>•  </a:t>
            </a:r>
            <a:r>
              <a:rPr sz="1500" b="0">
                <a:solidFill>
                  <a:srgbClr val="0B1F3A"/>
                </a:solidFill>
              </a:rPr>
              <a:t>Se nessuno decide entro 30 minuti, la decisione sale di livello: </a:t>
            </a:r>
            <a:r>
              <a:rPr sz="1500" b="1">
                <a:solidFill>
                  <a:srgbClr val="0B1F3A"/>
                </a:solidFill>
              </a:rPr>
              <a:t>mai eseguita in silenzio</a:t>
            </a:r>
            <a:r>
              <a:rPr sz="1500" b="0">
                <a:solidFill>
                  <a:srgbClr val="0B1F3A"/>
                </a:solidFill>
              </a:rPr>
              <a: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1440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164592"/>
            <a:ext cx="9418320" cy="640080"/>
          </a:xfrm>
          <a:prstGeom prst="rect">
            <a:avLst/>
          </a:prstGeom>
          <a:noFill/>
        </p:spPr>
        <p:txBody>
          <a:bodyPr wrap="square">
            <a:spAutoFit/>
          </a:bodyPr>
          <a:lstStyle/>
          <a:p>
            <a:pPr>
              <a:spcAft>
                <a:spcPts val="800"/>
              </a:spcAft>
            </a:pPr>
            <a:r>
              <a:rPr sz="2800" b="1">
                <a:solidFill>
                  <a:srgbClr val="FFFFFF"/>
                </a:solidFill>
              </a:rPr>
              <a:t>Fermare il sistema, anche solo in parte</a:t>
            </a:r>
          </a:p>
        </p:txBody>
      </p:sp>
      <p:sp>
        <p:nvSpPr>
          <p:cNvPr id="4" name="TextBox 3"/>
          <p:cNvSpPr txBox="1"/>
          <p:nvPr/>
        </p:nvSpPr>
        <p:spPr>
          <a:xfrm>
            <a:off x="9144000" y="274320"/>
            <a:ext cx="2834640" cy="457200"/>
          </a:xfrm>
          <a:prstGeom prst="rect">
            <a:avLst/>
          </a:prstGeom>
          <a:noFill/>
        </p:spPr>
        <p:txBody>
          <a:bodyPr wrap="square">
            <a:spAutoFit/>
          </a:bodyPr>
          <a:lstStyle/>
          <a:p>
            <a:pPr algn="r">
              <a:spcAft>
                <a:spcPts val="800"/>
              </a:spcAft>
            </a:pPr>
            <a:r>
              <a:rPr sz="1300" b="0">
                <a:solidFill>
                  <a:srgbClr val="C9D8EA"/>
                </a:solidFill>
              </a:rPr>
              <a:t>Tier 2C · test T3</a:t>
            </a:r>
          </a:p>
        </p:txBody>
      </p:sp>
      <p:sp>
        <p:nvSpPr>
          <p:cNvPr id="5" name="Rectangle 4"/>
          <p:cNvSpPr/>
          <p:nvPr/>
        </p:nvSpPr>
        <p:spPr>
          <a:xfrm>
            <a:off x="0" y="914400"/>
            <a:ext cx="12191695" cy="54864"/>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07_stop.png"/>
          <p:cNvPicPr>
            <a:picLocks noChangeAspect="1"/>
          </p:cNvPicPr>
          <p:nvPr/>
        </p:nvPicPr>
        <p:blipFill>
          <a:blip r:embed="rId3"/>
          <a:stretch>
            <a:fillRect/>
          </a:stretch>
        </p:blipFill>
        <p:spPr>
          <a:xfrm>
            <a:off x="365760" y="1188720"/>
            <a:ext cx="7498079" cy="4678801"/>
          </a:xfrm>
          <a:prstGeom prst="rect">
            <a:avLst/>
          </a:prstGeom>
          <a:ln w="12700">
            <a:solidFill>
              <a:srgbClr val="D0D5DD"/>
            </a:solidFill>
          </a:ln>
        </p:spPr>
      </p:pic>
      <p:sp>
        <p:nvSpPr>
          <p:cNvPr id="7" name="TextBox 6"/>
          <p:cNvSpPr txBox="1"/>
          <p:nvPr/>
        </p:nvSpPr>
        <p:spPr>
          <a:xfrm>
            <a:off x="8046720" y="1280160"/>
            <a:ext cx="3840480" cy="5303520"/>
          </a:xfrm>
          <a:prstGeom prst="rect">
            <a:avLst/>
          </a:prstGeom>
          <a:noFill/>
        </p:spPr>
        <p:txBody>
          <a:bodyPr wrap="square">
            <a:spAutoFit/>
          </a:bodyPr>
          <a:lstStyle/>
          <a:p>
            <a:pPr>
              <a:spcAft>
                <a:spcPts val="800"/>
              </a:spcAft>
            </a:pPr>
            <a:r>
              <a:rPr sz="1600" b="1">
                <a:solidFill>
                  <a:srgbClr val="0F6CBD"/>
                </a:solidFill>
              </a:rPr>
              <a:t>•  </a:t>
            </a:r>
            <a:r>
              <a:rPr sz="1600" b="0">
                <a:solidFill>
                  <a:srgbClr val="0B1F3A"/>
                </a:solidFill>
              </a:rPr>
              <a:t>Si può fermare </a:t>
            </a:r>
            <a:r>
              <a:rPr sz="1600" b="1">
                <a:solidFill>
                  <a:srgbClr val="0B1F3A"/>
                </a:solidFill>
              </a:rPr>
              <a:t>tutto</a:t>
            </a:r>
            <a:r>
              <a:rPr sz="1600" b="0">
                <a:solidFill>
                  <a:srgbClr val="0B1F3A"/>
                </a:solidFill>
              </a:rPr>
              <a:t>, una </a:t>
            </a:r>
            <a:r>
              <a:rPr sz="1600" b="1">
                <a:solidFill>
                  <a:srgbClr val="0B1F3A"/>
                </a:solidFill>
              </a:rPr>
              <a:t>zona</a:t>
            </a:r>
            <a:r>
              <a:rPr sz="1600" b="0">
                <a:solidFill>
                  <a:srgbClr val="0B1F3A"/>
                </a:solidFill>
              </a:rPr>
              <a:t>, un </a:t>
            </a:r>
            <a:r>
              <a:rPr sz="1600" b="1">
                <a:solidFill>
                  <a:srgbClr val="0B1F3A"/>
                </a:solidFill>
              </a:rPr>
              <a:t>tipo di impianto</a:t>
            </a:r>
            <a:r>
              <a:rPr sz="1600" b="0">
                <a:solidFill>
                  <a:srgbClr val="0B1F3A"/>
                </a:solidFill>
              </a:rPr>
              <a:t> o una combinazione.</a:t>
            </a:r>
          </a:p>
          <a:p>
            <a:pPr>
              <a:spcAft>
                <a:spcPts val="800"/>
              </a:spcAft>
            </a:pPr>
            <a:r>
              <a:rPr sz="1600" b="1">
                <a:solidFill>
                  <a:srgbClr val="0F6CBD"/>
                </a:solidFill>
              </a:rPr>
              <a:t>•  </a:t>
            </a:r>
            <a:r>
              <a:rPr sz="1600" b="0">
                <a:solidFill>
                  <a:srgbClr val="0B1F3A"/>
                </a:solidFill>
              </a:rPr>
              <a:t>Esempio: solo le </a:t>
            </a:r>
            <a:r>
              <a:rPr sz="1600" b="1">
                <a:solidFill>
                  <a:srgbClr val="0B1F3A"/>
                </a:solidFill>
              </a:rPr>
              <a:t>linee alta tensione del Sud</a:t>
            </a:r>
            <a:r>
              <a:rPr sz="1600" b="0">
                <a:solidFill>
                  <a:srgbClr val="0B1F3A"/>
                </a:solidFill>
              </a:rPr>
              <a:t>, il resto continua.</a:t>
            </a:r>
          </a:p>
          <a:p>
            <a:pPr>
              <a:spcAft>
                <a:spcPts val="800"/>
              </a:spcAft>
            </a:pPr>
            <a:r>
              <a:rPr sz="1600" b="1">
                <a:solidFill>
                  <a:srgbClr val="0F6CBD"/>
                </a:solidFill>
              </a:rPr>
              <a:t>•  </a:t>
            </a:r>
            <a:r>
              <a:rPr sz="1600" b="1">
                <a:solidFill>
                  <a:srgbClr val="0B1F3A"/>
                </a:solidFill>
              </a:rPr>
              <a:t>Un click più una conferma</a:t>
            </a:r>
            <a:r>
              <a:rPr sz="1600" b="0">
                <a:solidFill>
                  <a:srgbClr val="0B1F3A"/>
                </a:solidFill>
              </a:rPr>
              <a:t>, con il motivo.</a:t>
            </a:r>
          </a:p>
          <a:p>
            <a:pPr>
              <a:spcAft>
                <a:spcPts val="800"/>
              </a:spcAft>
            </a:pPr>
            <a:r>
              <a:rPr sz="1600" b="1">
                <a:solidFill>
                  <a:srgbClr val="0F6CBD"/>
                </a:solidFill>
              </a:rPr>
              <a:t>•  </a:t>
            </a:r>
            <a:r>
              <a:rPr sz="1600" b="0">
                <a:solidFill>
                  <a:srgbClr val="0B1F3A"/>
                </a:solidFill>
              </a:rPr>
              <a:t>Blocca anche le decisioni </a:t>
            </a:r>
            <a:r>
              <a:rPr sz="1600" b="1">
                <a:solidFill>
                  <a:srgbClr val="0B1F3A"/>
                </a:solidFill>
              </a:rPr>
              <a:t>già in coda</a:t>
            </a:r>
            <a:r>
              <a:rPr sz="1600" b="0">
                <a:solidFill>
                  <a:srgbClr val="0B1F3A"/>
                </a:solidFill>
              </a:rPr>
              <a:t>.</a:t>
            </a:r>
          </a:p>
          <a:p>
            <a:pPr>
              <a:spcAft>
                <a:spcPts val="800"/>
              </a:spcAft>
            </a:pPr>
            <a:r>
              <a:rPr sz="1600" b="1">
                <a:solidFill>
                  <a:srgbClr val="0F6CBD"/>
                </a:solidFill>
              </a:rPr>
              <a:t>•  </a:t>
            </a:r>
            <a:r>
              <a:rPr sz="1600" b="0">
                <a:solidFill>
                  <a:srgbClr val="0B1F3A"/>
                </a:solidFill>
              </a:rPr>
              <a:t>Per ripartire servono </a:t>
            </a:r>
            <a:r>
              <a:rPr sz="1600" b="1">
                <a:solidFill>
                  <a:srgbClr val="0B1F3A"/>
                </a:solidFill>
              </a:rPr>
              <a:t>due persone diverse</a:t>
            </a:r>
            <a:r>
              <a:rPr sz="1600" b="0">
                <a:solidFill>
                  <a:srgbClr val="0B1F3A"/>
                </a:solidFill>
              </a:rPr>
              <a:t>.</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1440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164592"/>
            <a:ext cx="9418320" cy="640080"/>
          </a:xfrm>
          <a:prstGeom prst="rect">
            <a:avLst/>
          </a:prstGeom>
          <a:noFill/>
        </p:spPr>
        <p:txBody>
          <a:bodyPr wrap="square">
            <a:spAutoFit/>
          </a:bodyPr>
          <a:lstStyle/>
          <a:p>
            <a:pPr>
              <a:spcAft>
                <a:spcPts val="800"/>
              </a:spcAft>
            </a:pPr>
            <a:r>
              <a:rPr sz="2800" b="1">
                <a:solidFill>
                  <a:srgbClr val="FFFFFF"/>
                </a:solidFill>
              </a:rPr>
              <a:t>Il registro: chi, cosa, quando, perché</a:t>
            </a:r>
          </a:p>
        </p:txBody>
      </p:sp>
      <p:sp>
        <p:nvSpPr>
          <p:cNvPr id="4" name="TextBox 3"/>
          <p:cNvSpPr txBox="1"/>
          <p:nvPr/>
        </p:nvSpPr>
        <p:spPr>
          <a:xfrm>
            <a:off x="9144000" y="274320"/>
            <a:ext cx="2834640" cy="457200"/>
          </a:xfrm>
          <a:prstGeom prst="rect">
            <a:avLst/>
          </a:prstGeom>
          <a:noFill/>
        </p:spPr>
        <p:txBody>
          <a:bodyPr wrap="square">
            <a:spAutoFit/>
          </a:bodyPr>
          <a:lstStyle/>
          <a:p>
            <a:pPr algn="r">
              <a:spcAft>
                <a:spcPts val="800"/>
              </a:spcAft>
            </a:pPr>
            <a:r>
              <a:rPr sz="1300" b="0">
                <a:solidFill>
                  <a:srgbClr val="C9D8EA"/>
                </a:solidFill>
              </a:rPr>
              <a:t>Art. 12 · test T6</a:t>
            </a:r>
          </a:p>
        </p:txBody>
      </p:sp>
      <p:sp>
        <p:nvSpPr>
          <p:cNvPr id="5" name="Rectangle 4"/>
          <p:cNvSpPr/>
          <p:nvPr/>
        </p:nvSpPr>
        <p:spPr>
          <a:xfrm>
            <a:off x="0" y="914400"/>
            <a:ext cx="12191695" cy="54864"/>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audit.png"/>
          <p:cNvPicPr>
            <a:picLocks noChangeAspect="1"/>
          </p:cNvPicPr>
          <p:nvPr/>
        </p:nvPicPr>
        <p:blipFill>
          <a:blip r:embed="rId3"/>
          <a:stretch>
            <a:fillRect/>
          </a:stretch>
        </p:blipFill>
        <p:spPr>
          <a:xfrm>
            <a:off x="1259025" y="1188720"/>
            <a:ext cx="5162909" cy="5486400"/>
          </a:xfrm>
          <a:prstGeom prst="rect">
            <a:avLst/>
          </a:prstGeom>
          <a:ln w="12700">
            <a:solidFill>
              <a:srgbClr val="D0D5DD"/>
            </a:solidFill>
          </a:ln>
        </p:spPr>
      </p:pic>
      <p:sp>
        <p:nvSpPr>
          <p:cNvPr id="7" name="TextBox 6"/>
          <p:cNvSpPr txBox="1"/>
          <p:nvPr/>
        </p:nvSpPr>
        <p:spPr>
          <a:xfrm>
            <a:off x="7498079" y="1280160"/>
            <a:ext cx="4389120" cy="5303520"/>
          </a:xfrm>
          <a:prstGeom prst="rect">
            <a:avLst/>
          </a:prstGeom>
          <a:noFill/>
        </p:spPr>
        <p:txBody>
          <a:bodyPr wrap="square">
            <a:spAutoFit/>
          </a:bodyPr>
          <a:lstStyle/>
          <a:p>
            <a:pPr>
              <a:spcAft>
                <a:spcPts val="800"/>
              </a:spcAft>
            </a:pPr>
            <a:r>
              <a:rPr sz="1500" b="1">
                <a:solidFill>
                  <a:srgbClr val="0F6CBD"/>
                </a:solidFill>
              </a:rPr>
              <a:t>•  </a:t>
            </a:r>
            <a:r>
              <a:rPr sz="1500" b="0">
                <a:solidFill>
                  <a:srgbClr val="0B1F3A"/>
                </a:solidFill>
              </a:rPr>
              <a:t>Ogni decisione si ricostruisce </a:t>
            </a:r>
            <a:r>
              <a:rPr sz="1500" b="1">
                <a:solidFill>
                  <a:srgbClr val="0B1F3A"/>
                </a:solidFill>
              </a:rPr>
              <a:t>in pochi secondi</a:t>
            </a:r>
            <a:r>
              <a:rPr sz="1500" b="0">
                <a:solidFill>
                  <a:srgbClr val="0B1F3A"/>
                </a:solidFill>
              </a:rPr>
              <a:t>: qui AST-01909, rifiutata da OP-014 con il suo motivo.</a:t>
            </a:r>
          </a:p>
          <a:p>
            <a:pPr>
              <a:spcAft>
                <a:spcPts val="800"/>
              </a:spcAft>
            </a:pPr>
            <a:r>
              <a:rPr sz="1500" b="1">
                <a:solidFill>
                  <a:srgbClr val="0F6CBD"/>
                </a:solidFill>
              </a:rPr>
              <a:t>•  </a:t>
            </a:r>
            <a:r>
              <a:rPr sz="1500" b="0">
                <a:solidFill>
                  <a:srgbClr val="0B1F3A"/>
                </a:solidFill>
              </a:rPr>
              <a:t>Ogni riga è "cucita" alla precedente con un codice: se qualcuno cambia una riga, la cucitura si rompe e la dashboard lo segnala.</a:t>
            </a:r>
          </a:p>
          <a:p>
            <a:pPr>
              <a:spcAft>
                <a:spcPts val="800"/>
              </a:spcAft>
            </a:pPr>
            <a:r>
              <a:rPr sz="1500" b="1">
                <a:solidFill>
                  <a:srgbClr val="0F6CBD"/>
                </a:solidFill>
              </a:rPr>
              <a:t>•  </a:t>
            </a:r>
            <a:r>
              <a:rPr sz="1500" b="0">
                <a:solidFill>
                  <a:srgbClr val="0B1F3A"/>
                </a:solidFill>
              </a:rPr>
              <a:t>Si esporta per un controllo esterno.</a:t>
            </a:r>
          </a:p>
          <a:p>
            <a:pPr>
              <a:spcAft>
                <a:spcPts val="800"/>
              </a:spcAft>
            </a:pPr>
            <a:r>
              <a:rPr sz="1500" b="1">
                <a:solidFill>
                  <a:srgbClr val="0F6CBD"/>
                </a:solidFill>
              </a:rPr>
              <a:t>•  </a:t>
            </a:r>
            <a:r>
              <a:rPr sz="1500" b="0">
                <a:solidFill>
                  <a:srgbClr val="0B1F3A"/>
                </a:solidFill>
              </a:rPr>
              <a:t>Limite: chi riscrivesse </a:t>
            </a:r>
            <a:r>
              <a:rPr sz="1500" b="1">
                <a:solidFill>
                  <a:srgbClr val="0B1F3A"/>
                </a:solidFill>
              </a:rPr>
              <a:t>tutto</a:t>
            </a:r>
            <a:r>
              <a:rPr sz="1500" b="0">
                <a:solidFill>
                  <a:srgbClr val="0B1F3A"/>
                </a:solidFill>
              </a:rPr>
              <a:t> il registro da capo non verrebbe scoperto.</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1440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164592"/>
            <a:ext cx="9418320" cy="640080"/>
          </a:xfrm>
          <a:prstGeom prst="rect">
            <a:avLst/>
          </a:prstGeom>
          <a:noFill/>
        </p:spPr>
        <p:txBody>
          <a:bodyPr wrap="square">
            <a:spAutoFit/>
          </a:bodyPr>
          <a:lstStyle/>
          <a:p>
            <a:pPr>
              <a:spcAft>
                <a:spcPts val="800"/>
              </a:spcAft>
            </a:pPr>
            <a:r>
              <a:rPr sz="2800" b="1">
                <a:solidFill>
                  <a:srgbClr val="FFFFFF"/>
                </a:solidFill>
              </a:rPr>
              <a:t>Come ci accorgiamo che i conti non tornano</a:t>
            </a:r>
          </a:p>
        </p:txBody>
      </p:sp>
      <p:sp>
        <p:nvSpPr>
          <p:cNvPr id="4" name="TextBox 3"/>
          <p:cNvSpPr txBox="1"/>
          <p:nvPr/>
        </p:nvSpPr>
        <p:spPr>
          <a:xfrm>
            <a:off x="9144000" y="274320"/>
            <a:ext cx="2834640" cy="457200"/>
          </a:xfrm>
          <a:prstGeom prst="rect">
            <a:avLst/>
          </a:prstGeom>
          <a:noFill/>
        </p:spPr>
        <p:txBody>
          <a:bodyPr wrap="square">
            <a:spAutoFit/>
          </a:bodyPr>
          <a:lstStyle/>
          <a:p>
            <a:pPr algn="r">
              <a:spcAft>
                <a:spcPts val="800"/>
              </a:spcAft>
            </a:pPr>
            <a:r>
              <a:rPr sz="1300" b="0">
                <a:solidFill>
                  <a:srgbClr val="C9D8EA"/>
                </a:solidFill>
              </a:rPr>
              <a:t>Calibrazione · C2</a:t>
            </a:r>
          </a:p>
        </p:txBody>
      </p:sp>
      <p:sp>
        <p:nvSpPr>
          <p:cNvPr id="5" name="Rectangle 4"/>
          <p:cNvSpPr/>
          <p:nvPr/>
        </p:nvSpPr>
        <p:spPr>
          <a:xfrm>
            <a:off x="0" y="914400"/>
            <a:ext cx="12191695" cy="54864"/>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g_attesi_registrati.png"/>
          <p:cNvPicPr>
            <a:picLocks noChangeAspect="1"/>
          </p:cNvPicPr>
          <p:nvPr/>
        </p:nvPicPr>
        <p:blipFill>
          <a:blip r:embed="rId3"/>
          <a:stretch>
            <a:fillRect/>
          </a:stretch>
        </p:blipFill>
        <p:spPr>
          <a:xfrm>
            <a:off x="274320" y="1143000"/>
            <a:ext cx="5852160" cy="4012909"/>
          </a:xfrm>
          <a:prstGeom prst="rect">
            <a:avLst/>
          </a:prstGeom>
        </p:spPr>
      </p:pic>
      <p:sp>
        <p:nvSpPr>
          <p:cNvPr id="7" name="Rectangle 6"/>
          <p:cNvSpPr/>
          <p:nvPr/>
        </p:nvSpPr>
        <p:spPr>
          <a:xfrm>
            <a:off x="6309360" y="1143000"/>
            <a:ext cx="5577840" cy="1234440"/>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6309360" y="1143000"/>
            <a:ext cx="91440" cy="1234440"/>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537960" y="1188720"/>
            <a:ext cx="5303520" cy="1188720"/>
          </a:xfrm>
          <a:prstGeom prst="rect">
            <a:avLst/>
          </a:prstGeom>
          <a:noFill/>
        </p:spPr>
        <p:txBody>
          <a:bodyPr wrap="square">
            <a:spAutoFit/>
          </a:bodyPr>
          <a:lstStyle/>
          <a:p>
            <a:pPr>
              <a:spcAft>
                <a:spcPts val="800"/>
              </a:spcAft>
            </a:pPr>
            <a:r>
              <a:rPr sz="1300" b="1">
                <a:solidFill>
                  <a:srgbClr val="0B1F3A"/>
                </a:solidFill>
              </a:rPr>
              <a:t>Guasti attesi (barre grigie)</a:t>
            </a:r>
          </a:p>
          <a:p>
            <a:pPr>
              <a:spcAft>
                <a:spcPts val="800"/>
              </a:spcAft>
            </a:pPr>
            <a:r>
              <a:rPr sz="1300" b="0">
                <a:solidFill>
                  <a:srgbClr val="0B1F3A"/>
                </a:solidFill>
              </a:rPr>
              <a:t>Il sistema dà a ogni impianto una probabilità di guasto. Sommandole sappiamo quanti guasti si aspetta: 100 impianti a "3 su 10" fanno 30 guasti attesi.</a:t>
            </a:r>
          </a:p>
        </p:txBody>
      </p:sp>
      <p:sp>
        <p:nvSpPr>
          <p:cNvPr id="10" name="Rectangle 9"/>
          <p:cNvSpPr/>
          <p:nvPr/>
        </p:nvSpPr>
        <p:spPr>
          <a:xfrm>
            <a:off x="6309360" y="2487168"/>
            <a:ext cx="5577840" cy="1234440"/>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6309360" y="2487168"/>
            <a:ext cx="91440" cy="1234440"/>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537960" y="2532888"/>
            <a:ext cx="5303520" cy="1188720"/>
          </a:xfrm>
          <a:prstGeom prst="rect">
            <a:avLst/>
          </a:prstGeom>
          <a:noFill/>
        </p:spPr>
        <p:txBody>
          <a:bodyPr wrap="square">
            <a:spAutoFit/>
          </a:bodyPr>
          <a:lstStyle/>
          <a:p>
            <a:pPr>
              <a:spcAft>
                <a:spcPts val="800"/>
              </a:spcAft>
            </a:pPr>
            <a:r>
              <a:rPr sz="1300" b="1">
                <a:solidFill>
                  <a:srgbClr val="0B1F3A"/>
                </a:solidFill>
              </a:rPr>
              <a:t>Guasti registrati (barre colorate)</a:t>
            </a:r>
          </a:p>
          <a:p>
            <a:pPr>
              <a:spcAft>
                <a:spcPts val="800"/>
              </a:spcAft>
            </a:pPr>
            <a:r>
              <a:rPr sz="1300" b="0">
                <a:solidFill>
                  <a:srgbClr val="0B1F3A"/>
                </a:solidFill>
              </a:rPr>
              <a:t>Quelli che risultano davvero negli archivi. Se un guasto non viene scritto, qui non compare.</a:t>
            </a:r>
          </a:p>
        </p:txBody>
      </p:sp>
      <p:sp>
        <p:nvSpPr>
          <p:cNvPr id="13" name="Rectangle 12"/>
          <p:cNvSpPr/>
          <p:nvPr/>
        </p:nvSpPr>
        <p:spPr>
          <a:xfrm>
            <a:off x="6309360" y="3831335"/>
            <a:ext cx="5577840" cy="1234440"/>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6309360" y="3831335"/>
            <a:ext cx="91440" cy="123444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537960" y="3877055"/>
            <a:ext cx="5303520" cy="1188720"/>
          </a:xfrm>
          <a:prstGeom prst="rect">
            <a:avLst/>
          </a:prstGeom>
          <a:noFill/>
        </p:spPr>
        <p:txBody>
          <a:bodyPr wrap="square">
            <a:spAutoFit/>
          </a:bodyPr>
          <a:lstStyle/>
          <a:p>
            <a:pPr>
              <a:spcAft>
                <a:spcPts val="800"/>
              </a:spcAft>
            </a:pPr>
            <a:r>
              <a:rPr sz="1300" b="1" dirty="0">
                <a:solidFill>
                  <a:srgbClr val="0B1F3A"/>
                </a:solidFill>
              </a:rPr>
              <a:t>La </a:t>
            </a:r>
            <a:r>
              <a:rPr sz="1300" b="1" dirty="0" err="1">
                <a:solidFill>
                  <a:srgbClr val="0B1F3A"/>
                </a:solidFill>
              </a:rPr>
              <a:t>differenza</a:t>
            </a:r>
            <a:r>
              <a:rPr sz="1300" b="1" dirty="0">
                <a:solidFill>
                  <a:srgbClr val="0B1F3A"/>
                </a:solidFill>
              </a:rPr>
              <a:t> (numeri in alto)</a:t>
            </a:r>
          </a:p>
          <a:p>
            <a:pPr>
              <a:spcAft>
                <a:spcPts val="800"/>
              </a:spcAft>
            </a:pPr>
            <a:r>
              <a:rPr sz="1300" b="0" dirty="0">
                <a:solidFill>
                  <a:srgbClr val="0B1F3A"/>
                </a:solidFill>
              </a:rPr>
              <a:t>Se </a:t>
            </a:r>
            <a:r>
              <a:rPr sz="1300" b="0" dirty="0" err="1">
                <a:solidFill>
                  <a:srgbClr val="0B1F3A"/>
                </a:solidFill>
              </a:rPr>
              <a:t>attesi</a:t>
            </a:r>
            <a:r>
              <a:rPr sz="1300" b="0" dirty="0">
                <a:solidFill>
                  <a:srgbClr val="0B1F3A"/>
                </a:solidFill>
              </a:rPr>
              <a:t> e </a:t>
            </a:r>
            <a:r>
              <a:rPr sz="1300" b="0" dirty="0" err="1">
                <a:solidFill>
                  <a:srgbClr val="0B1F3A"/>
                </a:solidFill>
              </a:rPr>
              <a:t>registrati</a:t>
            </a:r>
            <a:r>
              <a:rPr sz="1300" b="0" dirty="0">
                <a:solidFill>
                  <a:srgbClr val="0B1F3A"/>
                </a:solidFill>
              </a:rPr>
              <a:t> </a:t>
            </a:r>
            <a:r>
              <a:rPr sz="1300" b="0" dirty="0" err="1">
                <a:solidFill>
                  <a:srgbClr val="0B1F3A"/>
                </a:solidFill>
              </a:rPr>
              <a:t>si</a:t>
            </a:r>
            <a:r>
              <a:rPr sz="1300" b="0" dirty="0">
                <a:solidFill>
                  <a:srgbClr val="0B1F3A"/>
                </a:solidFill>
              </a:rPr>
              <a:t> </a:t>
            </a:r>
            <a:r>
              <a:rPr sz="1300" b="0" dirty="0" err="1">
                <a:solidFill>
                  <a:srgbClr val="0B1F3A"/>
                </a:solidFill>
              </a:rPr>
              <a:t>allontanano</a:t>
            </a:r>
            <a:r>
              <a:rPr sz="1300" b="0" dirty="0">
                <a:solidFill>
                  <a:srgbClr val="0B1F3A"/>
                </a:solidFill>
              </a:rPr>
              <a:t> di </a:t>
            </a:r>
            <a:r>
              <a:rPr sz="1300" b="0" dirty="0" err="1">
                <a:solidFill>
                  <a:srgbClr val="0B1F3A"/>
                </a:solidFill>
              </a:rPr>
              <a:t>oltre</a:t>
            </a:r>
            <a:r>
              <a:rPr sz="1300" b="0" dirty="0">
                <a:solidFill>
                  <a:srgbClr val="0B1F3A"/>
                </a:solidFill>
              </a:rPr>
              <a:t> 10 </a:t>
            </a:r>
            <a:r>
              <a:rPr sz="1300" b="0" dirty="0" err="1">
                <a:solidFill>
                  <a:srgbClr val="0B1F3A"/>
                </a:solidFill>
              </a:rPr>
              <a:t>guasti</a:t>
            </a:r>
            <a:r>
              <a:rPr sz="1300" b="0" dirty="0">
                <a:solidFill>
                  <a:srgbClr val="0B1F3A"/>
                </a:solidFill>
              </a:rPr>
              <a:t> ogni 100 </a:t>
            </a:r>
            <a:r>
              <a:rPr sz="1300" b="0" dirty="0" err="1">
                <a:solidFill>
                  <a:srgbClr val="0B1F3A"/>
                </a:solidFill>
              </a:rPr>
              <a:t>impianti</a:t>
            </a:r>
            <a:r>
              <a:rPr sz="1300" b="0" dirty="0">
                <a:solidFill>
                  <a:srgbClr val="0B1F3A"/>
                </a:solidFill>
              </a:rPr>
              <a:t>, </a:t>
            </a:r>
            <a:r>
              <a:rPr sz="1300" b="0" dirty="0" err="1">
                <a:solidFill>
                  <a:srgbClr val="0B1F3A"/>
                </a:solidFill>
              </a:rPr>
              <a:t>scatta</a:t>
            </a:r>
            <a:r>
              <a:rPr sz="1300" b="0" dirty="0">
                <a:solidFill>
                  <a:srgbClr val="0B1F3A"/>
                </a:solidFill>
              </a:rPr>
              <a:t> </a:t>
            </a:r>
            <a:r>
              <a:rPr sz="1300" b="0" dirty="0" err="1">
                <a:solidFill>
                  <a:srgbClr val="0B1F3A"/>
                </a:solidFill>
              </a:rPr>
              <a:t>l'allarme</a:t>
            </a:r>
            <a:r>
              <a:rPr sz="1300" b="0" dirty="0">
                <a:solidFill>
                  <a:srgbClr val="0B1F3A"/>
                </a:solidFill>
              </a:rPr>
              <a:t>. </a:t>
            </a:r>
            <a:r>
              <a:rPr sz="1300" b="0" dirty="0" err="1">
                <a:solidFill>
                  <a:srgbClr val="0B1F3A"/>
                </a:solidFill>
              </a:rPr>
              <a:t>Succede</a:t>
            </a:r>
            <a:r>
              <a:rPr sz="1300" b="0" dirty="0">
                <a:solidFill>
                  <a:srgbClr val="0B1F3A"/>
                </a:solidFill>
              </a:rPr>
              <a:t> solo al Sud: 42 </a:t>
            </a:r>
            <a:r>
              <a:rPr sz="1300" b="0" dirty="0" err="1">
                <a:solidFill>
                  <a:srgbClr val="0B1F3A"/>
                </a:solidFill>
              </a:rPr>
              <a:t>attesi</a:t>
            </a:r>
            <a:r>
              <a:rPr sz="1300" b="0" dirty="0">
                <a:solidFill>
                  <a:srgbClr val="0B1F3A"/>
                </a:solidFill>
              </a:rPr>
              <a:t>, 24 </a:t>
            </a:r>
            <a:r>
              <a:rPr sz="1300" b="0" dirty="0" err="1">
                <a:solidFill>
                  <a:srgbClr val="0B1F3A"/>
                </a:solidFill>
              </a:rPr>
              <a:t>registrati</a:t>
            </a:r>
            <a:r>
              <a:rPr sz="1300" b="0" dirty="0">
                <a:solidFill>
                  <a:srgbClr val="0B1F3A"/>
                </a:solidFill>
              </a:rPr>
              <a:t>, 18 di </a:t>
            </a:r>
            <a:r>
              <a:rPr sz="1300" b="0" dirty="0" err="1">
                <a:solidFill>
                  <a:srgbClr val="0B1F3A"/>
                </a:solidFill>
              </a:rPr>
              <a:t>differenza</a:t>
            </a:r>
            <a:r>
              <a:rPr sz="1300" b="0" dirty="0">
                <a:solidFill>
                  <a:srgbClr val="0B1F3A"/>
                </a:solidFill>
              </a:rPr>
              <a:t>.</a:t>
            </a:r>
          </a:p>
        </p:txBody>
      </p:sp>
      <p:sp>
        <p:nvSpPr>
          <p:cNvPr id="16" name="Rectangle 15"/>
          <p:cNvSpPr/>
          <p:nvPr/>
        </p:nvSpPr>
        <p:spPr>
          <a:xfrm>
            <a:off x="365760" y="5257800"/>
            <a:ext cx="11521440" cy="1371600"/>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365760" y="5257800"/>
            <a:ext cx="91440" cy="1371600"/>
          </a:xfrm>
          <a:prstGeom prst="rect">
            <a:avLst/>
          </a:prstGeom>
          <a:solidFill>
            <a:srgbClr val="555F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594360" y="5330952"/>
            <a:ext cx="11201400" cy="1280160"/>
          </a:xfrm>
          <a:prstGeom prst="rect">
            <a:avLst/>
          </a:prstGeom>
          <a:noFill/>
        </p:spPr>
        <p:txBody>
          <a:bodyPr wrap="square">
            <a:spAutoFit/>
          </a:bodyPr>
          <a:lstStyle/>
          <a:p>
            <a:pPr>
              <a:spcAft>
                <a:spcPts val="800"/>
              </a:spcAft>
            </a:pPr>
            <a:r>
              <a:rPr sz="1300" b="1">
                <a:solidFill>
                  <a:srgbClr val="0B1F3A"/>
                </a:solidFill>
              </a:rPr>
              <a:t>Perché il sistema si aspetta più guasti quasi ovunque</a:t>
            </a:r>
          </a:p>
          <a:p>
            <a:pPr>
              <a:spcAft>
                <a:spcPts val="800"/>
              </a:spcAft>
            </a:pPr>
            <a:r>
              <a:rPr sz="1300" b="0">
                <a:solidFill>
                  <a:srgbClr val="0B1F3A"/>
                </a:solidFill>
              </a:rPr>
              <a:t>È tarato apposta per essere un po' pessimista: perdere un guasto costa più di un controllo in più. In tutta Italia si aspetta 25 guasti ogni 100 impianti e ne risultano 18. Quindi conta quanto ogni zona si allontana, non il fatto che gli attesi siano più alti. Limite dichiarato: anche il Nord registra poco (15 attesi, 9 registrati), ma con pochi guasti la differenza resta sotto 10 e l'allarme non scatta.</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1440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164592"/>
            <a:ext cx="9418320" cy="640080"/>
          </a:xfrm>
          <a:prstGeom prst="rect">
            <a:avLst/>
          </a:prstGeom>
          <a:noFill/>
        </p:spPr>
        <p:txBody>
          <a:bodyPr wrap="square">
            <a:spAutoFit/>
          </a:bodyPr>
          <a:lstStyle/>
          <a:p>
            <a:pPr>
              <a:spcAft>
                <a:spcPts val="800"/>
              </a:spcAft>
            </a:pPr>
            <a:r>
              <a:rPr sz="2800" b="1">
                <a:solidFill>
                  <a:srgbClr val="FFFFFF"/>
                </a:solidFill>
              </a:rPr>
              <a:t>Cosa abbiamo fatto contro il bias, e quanto ha funzionato</a:t>
            </a:r>
          </a:p>
        </p:txBody>
      </p:sp>
      <p:sp>
        <p:nvSpPr>
          <p:cNvPr id="4" name="TextBox 3"/>
          <p:cNvSpPr txBox="1"/>
          <p:nvPr/>
        </p:nvSpPr>
        <p:spPr>
          <a:xfrm>
            <a:off x="9144000" y="274320"/>
            <a:ext cx="2834640" cy="457200"/>
          </a:xfrm>
          <a:prstGeom prst="rect">
            <a:avLst/>
          </a:prstGeom>
          <a:noFill/>
        </p:spPr>
        <p:txBody>
          <a:bodyPr wrap="square">
            <a:spAutoFit/>
          </a:bodyPr>
          <a:lstStyle/>
          <a:p>
            <a:pPr algn="r">
              <a:spcAft>
                <a:spcPts val="800"/>
              </a:spcAft>
            </a:pPr>
            <a:r>
              <a:rPr sz="1300" b="0">
                <a:solidFill>
                  <a:srgbClr val="C9D8EA"/>
                </a:solidFill>
              </a:rPr>
              <a:t>Tier 3B-3C</a:t>
            </a:r>
          </a:p>
        </p:txBody>
      </p:sp>
      <p:sp>
        <p:nvSpPr>
          <p:cNvPr id="5" name="Rectangle 4"/>
          <p:cNvSpPr/>
          <p:nvPr/>
        </p:nvSpPr>
        <p:spPr>
          <a:xfrm>
            <a:off x="0" y="914400"/>
            <a:ext cx="12191695" cy="54864"/>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365760" y="1143000"/>
            <a:ext cx="5623560" cy="2651760"/>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365760" y="1143000"/>
            <a:ext cx="5623560" cy="73152"/>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02920" y="1252728"/>
            <a:ext cx="5394960" cy="2514600"/>
          </a:xfrm>
          <a:prstGeom prst="rect">
            <a:avLst/>
          </a:prstGeom>
          <a:noFill/>
        </p:spPr>
        <p:txBody>
          <a:bodyPr wrap="square">
            <a:spAutoFit/>
          </a:bodyPr>
          <a:lstStyle/>
          <a:p>
            <a:pPr>
              <a:spcAft>
                <a:spcPts val="800"/>
              </a:spcAft>
            </a:pPr>
            <a:r>
              <a:rPr sz="1400" b="1">
                <a:solidFill>
                  <a:srgbClr val="0B1F3A"/>
                </a:solidFill>
              </a:rPr>
              <a:t>1 · Abbiamo tolto la zona dal modello</a:t>
            </a:r>
          </a:p>
          <a:p>
            <a:pPr>
              <a:spcAft>
                <a:spcPts val="800"/>
              </a:spcAft>
            </a:pPr>
            <a:r>
              <a:rPr sz="1400" b="1">
                <a:solidFill>
                  <a:srgbClr val="0B1F3A"/>
                </a:solidFill>
              </a:rPr>
              <a:t>Il problema.</a:t>
            </a:r>
            <a:r>
              <a:rPr sz="1400" b="0">
                <a:solidFill>
                  <a:srgbClr val="0B1F3A"/>
                </a:solidFill>
              </a:rPr>
              <a:t> Il sistema usava la zona come scorciatoia: "al Sud si guasta poco", perché così dice l'archivio.</a:t>
            </a:r>
          </a:p>
          <a:p>
            <a:pPr>
              <a:spcAft>
                <a:spcPts val="800"/>
              </a:spcAft>
            </a:pPr>
            <a:r>
              <a:rPr sz="1400" b="1">
                <a:solidFill>
                  <a:srgbClr val="0B1F3A"/>
                </a:solidFill>
              </a:rPr>
              <a:t>Cosa abbiamo fatto.</a:t>
            </a:r>
            <a:r>
              <a:rPr sz="1400" b="0">
                <a:solidFill>
                  <a:srgbClr val="0B1F3A"/>
                </a:solidFill>
              </a:rPr>
              <a:t> Ora giudica ogni impianto solo da età, sensori e manutenzioni, non da dove si trova.</a:t>
            </a:r>
          </a:p>
          <a:p>
            <a:pPr>
              <a:spcAft>
                <a:spcPts val="800"/>
              </a:spcAft>
            </a:pPr>
            <a:r>
              <a:rPr sz="1400" b="1">
                <a:solidFill>
                  <a:srgbClr val="0B1F3A"/>
                </a:solidFill>
              </a:rPr>
              <a:t>Risultato.</a:t>
            </a:r>
            <a:r>
              <a:rPr sz="1400" b="0">
                <a:solidFill>
                  <a:srgbClr val="0B1F3A"/>
                </a:solidFill>
              </a:rPr>
              <a:t> Prima, tra la zona dove vedeva più guasti e quella dove ne vedeva meno, c'erano 4 guasti su 10 di differenza; ora 2.</a:t>
            </a:r>
          </a:p>
        </p:txBody>
      </p:sp>
      <p:sp>
        <p:nvSpPr>
          <p:cNvPr id="9" name="Rectangle 8"/>
          <p:cNvSpPr/>
          <p:nvPr/>
        </p:nvSpPr>
        <p:spPr>
          <a:xfrm>
            <a:off x="6172200" y="1143000"/>
            <a:ext cx="5623560" cy="2651760"/>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6172200" y="1143000"/>
            <a:ext cx="5623560" cy="73152"/>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309360" y="1252728"/>
            <a:ext cx="5394960" cy="2514600"/>
          </a:xfrm>
          <a:prstGeom prst="rect">
            <a:avLst/>
          </a:prstGeom>
          <a:noFill/>
        </p:spPr>
        <p:txBody>
          <a:bodyPr wrap="square">
            <a:spAutoFit/>
          </a:bodyPr>
          <a:lstStyle/>
          <a:p>
            <a:pPr>
              <a:spcAft>
                <a:spcPts val="800"/>
              </a:spcAft>
            </a:pPr>
            <a:r>
              <a:rPr sz="1400" b="1">
                <a:solidFill>
                  <a:srgbClr val="0B1F3A"/>
                </a:solidFill>
              </a:rPr>
              <a:t>2 · Non abbiamo "calmato" il sistema al Sud</a:t>
            </a:r>
          </a:p>
          <a:p>
            <a:pPr>
              <a:spcAft>
                <a:spcPts val="800"/>
              </a:spcAft>
            </a:pPr>
            <a:r>
              <a:rPr sz="1400" b="1">
                <a:solidFill>
                  <a:srgbClr val="0B1F3A"/>
                </a:solidFill>
              </a:rPr>
              <a:t>Il problema.</a:t>
            </a:r>
            <a:r>
              <a:rPr sz="1400" b="0">
                <a:solidFill>
                  <a:srgbClr val="0B1F3A"/>
                </a:solidFill>
              </a:rPr>
              <a:t> Al Sud dà molti allarmi che per l'archivio sono a vuoto: 69 impianti su 100 senza guasto registrato ricevono un allarme.</a:t>
            </a:r>
          </a:p>
          <a:p>
            <a:pPr>
              <a:spcAft>
                <a:spcPts val="800"/>
              </a:spcAft>
            </a:pPr>
            <a:r>
              <a:rPr sz="1400" b="1">
                <a:solidFill>
                  <a:srgbClr val="0B1F3A"/>
                </a:solidFill>
              </a:rPr>
              <a:t>Cosa abbiamo fatto.</a:t>
            </a:r>
            <a:r>
              <a:rPr sz="1400" b="0">
                <a:solidFill>
                  <a:srgbClr val="0B1F3A"/>
                </a:solidFill>
              </a:rPr>
              <a:t> Potevamo alzare la soglia solo al Sud. Non l'abbiamo fatto: se l'archivio dimentica guasti, quegli allarmi possono essere guasti veri mai scritti.</a:t>
            </a:r>
          </a:p>
          <a:p>
            <a:pPr>
              <a:spcAft>
                <a:spcPts val="800"/>
              </a:spcAft>
            </a:pPr>
            <a:r>
              <a:rPr sz="1400" b="1">
                <a:solidFill>
                  <a:srgbClr val="0B1F3A"/>
                </a:solidFill>
              </a:rPr>
              <a:t>Risultato.</a:t>
            </a:r>
            <a:r>
              <a:rPr sz="1400" b="0">
                <a:solidFill>
                  <a:srgbClr val="0B1F3A"/>
                </a:solidFill>
              </a:rPr>
              <a:t> Al Sud il sistema continua a vedere 88 guasti veri su 100. Con la soglia alzata ne avrebbe visti 65: il Sud sarebbe stato penalizzato due volte.</a:t>
            </a:r>
          </a:p>
        </p:txBody>
      </p:sp>
      <p:sp>
        <p:nvSpPr>
          <p:cNvPr id="12" name="Rectangle 11"/>
          <p:cNvSpPr/>
          <p:nvPr/>
        </p:nvSpPr>
        <p:spPr>
          <a:xfrm>
            <a:off x="365760" y="3931920"/>
            <a:ext cx="5623560" cy="2651760"/>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365760" y="3931920"/>
            <a:ext cx="5623560" cy="73152"/>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02920" y="4041648"/>
            <a:ext cx="5394960" cy="2514600"/>
          </a:xfrm>
          <a:prstGeom prst="rect">
            <a:avLst/>
          </a:prstGeom>
          <a:noFill/>
        </p:spPr>
        <p:txBody>
          <a:bodyPr wrap="square">
            <a:spAutoFit/>
          </a:bodyPr>
          <a:lstStyle/>
          <a:p>
            <a:pPr>
              <a:spcAft>
                <a:spcPts val="800"/>
              </a:spcAft>
            </a:pPr>
            <a:r>
              <a:rPr sz="1400" b="1">
                <a:solidFill>
                  <a:srgbClr val="0B1F3A"/>
                </a:solidFill>
              </a:rPr>
              <a:t>3 · Un allarme che toglie autonomia</a:t>
            </a:r>
          </a:p>
          <a:p>
            <a:pPr>
              <a:spcAft>
                <a:spcPts val="800"/>
              </a:spcAft>
            </a:pPr>
            <a:r>
              <a:rPr sz="1400" b="1">
                <a:solidFill>
                  <a:srgbClr val="0B1F3A"/>
                </a:solidFill>
              </a:rPr>
              <a:t>Il problema.</a:t>
            </a:r>
            <a:r>
              <a:rPr sz="1400" b="0">
                <a:solidFill>
                  <a:srgbClr val="0B1F3A"/>
                </a:solidFill>
              </a:rPr>
              <a:t> Un allarme che si colora di rosso ma non cambia nulla è solo decorazione.</a:t>
            </a:r>
          </a:p>
          <a:p>
            <a:pPr>
              <a:spcAft>
                <a:spcPts val="800"/>
              </a:spcAft>
            </a:pPr>
            <a:r>
              <a:rPr sz="1400" b="1">
                <a:solidFill>
                  <a:srgbClr val="0B1F3A"/>
                </a:solidFill>
              </a:rPr>
              <a:t>Cosa abbiamo fatto.</a:t>
            </a:r>
            <a:r>
              <a:rPr sz="1400" b="0">
                <a:solidFill>
                  <a:srgbClr val="0B1F3A"/>
                </a:solidFill>
              </a:rPr>
              <a:t> Quando in una zona attesi e registrati si allontanano oltre la soglia, il sistema perde il permesso di agire da solo lì, finché i conti non tornano.</a:t>
            </a:r>
          </a:p>
          <a:p>
            <a:pPr>
              <a:spcAft>
                <a:spcPts val="800"/>
              </a:spcAft>
            </a:pPr>
            <a:r>
              <a:rPr sz="1400" b="1">
                <a:solidFill>
                  <a:srgbClr val="0B1F3A"/>
                </a:solidFill>
              </a:rPr>
              <a:t>Risultato.</a:t>
            </a:r>
            <a:r>
              <a:rPr sz="1400" b="0">
                <a:solidFill>
                  <a:srgbClr val="0B1F3A"/>
                </a:solidFill>
              </a:rPr>
              <a:t> Oggi scatta al Sud: nessuna decisione del Sud parte senza che una persona l'abbia approvata.</a:t>
            </a:r>
          </a:p>
        </p:txBody>
      </p:sp>
      <p:sp>
        <p:nvSpPr>
          <p:cNvPr id="15" name="Rectangle 14"/>
          <p:cNvSpPr/>
          <p:nvPr/>
        </p:nvSpPr>
        <p:spPr>
          <a:xfrm>
            <a:off x="6172200" y="3931920"/>
            <a:ext cx="5623560" cy="2651760"/>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6172200" y="3931920"/>
            <a:ext cx="5623560" cy="73152"/>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309360" y="4041648"/>
            <a:ext cx="5394960" cy="2514600"/>
          </a:xfrm>
          <a:prstGeom prst="rect">
            <a:avLst/>
          </a:prstGeom>
          <a:noFill/>
        </p:spPr>
        <p:txBody>
          <a:bodyPr wrap="square">
            <a:spAutoFit/>
          </a:bodyPr>
          <a:lstStyle/>
          <a:p>
            <a:pPr>
              <a:spcAft>
                <a:spcPts val="800"/>
              </a:spcAft>
            </a:pPr>
            <a:r>
              <a:rPr sz="1400" b="1">
                <a:solidFill>
                  <a:srgbClr val="0B1F3A"/>
                </a:solidFill>
              </a:rPr>
              <a:t>4 · Più occhi dove il sistema vede meno</a:t>
            </a:r>
          </a:p>
          <a:p>
            <a:pPr>
              <a:spcAft>
                <a:spcPts val="800"/>
              </a:spcAft>
            </a:pPr>
            <a:r>
              <a:rPr sz="1400" b="1">
                <a:solidFill>
                  <a:srgbClr val="0B1F3A"/>
                </a:solidFill>
              </a:rPr>
              <a:t>Il problema.</a:t>
            </a:r>
            <a:r>
              <a:rPr sz="1400" b="0">
                <a:solidFill>
                  <a:srgbClr val="0B1F3A"/>
                </a:solidFill>
              </a:rPr>
              <a:t> A Nord e Centro il sistema perde più guasti, ed è proprio lì che agiva da solo più spesso (7 decisioni su 10 al Nord).</a:t>
            </a:r>
          </a:p>
          <a:p>
            <a:pPr>
              <a:spcAft>
                <a:spcPts val="800"/>
              </a:spcAft>
            </a:pPr>
            <a:r>
              <a:rPr sz="1400" b="1">
                <a:solidFill>
                  <a:srgbClr val="0B1F3A"/>
                </a:solidFill>
              </a:rPr>
              <a:t>Cosa abbiamo fatto.</a:t>
            </a:r>
            <a:r>
              <a:rPr sz="1400" b="0">
                <a:solidFill>
                  <a:srgbClr val="0B1F3A"/>
                </a:solidFill>
              </a:rPr>
              <a:t> In quelle zone anche i controlli leggeri, da un rischio di 1 su 10 in su, li approva una persona.</a:t>
            </a:r>
          </a:p>
          <a:p>
            <a:pPr>
              <a:spcAft>
                <a:spcPts val="800"/>
              </a:spcAft>
            </a:pPr>
            <a:r>
              <a:rPr sz="1400" b="1">
                <a:solidFill>
                  <a:srgbClr val="0B1F3A"/>
                </a:solidFill>
              </a:rPr>
              <a:t>Risultato.</a:t>
            </a:r>
            <a:r>
              <a:rPr sz="1400" b="0">
                <a:solidFill>
                  <a:srgbClr val="0B1F3A"/>
                </a:solidFill>
              </a:rPr>
              <a:t> Guasti veri che sarebbero passati senza controllo umano: da 6 a 2. Costo: 83 decisioni in più per le persone, su 720.</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1440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164592"/>
            <a:ext cx="9418320" cy="640080"/>
          </a:xfrm>
          <a:prstGeom prst="rect">
            <a:avLst/>
          </a:prstGeom>
          <a:noFill/>
        </p:spPr>
        <p:txBody>
          <a:bodyPr wrap="square">
            <a:spAutoFit/>
          </a:bodyPr>
          <a:lstStyle/>
          <a:p>
            <a:pPr>
              <a:spcAft>
                <a:spcPts val="800"/>
              </a:spcAft>
            </a:pPr>
            <a:r>
              <a:rPr sz="2800" b="1">
                <a:solidFill>
                  <a:srgbClr val="FFFFFF"/>
                </a:solidFill>
              </a:rPr>
              <a:t>Quanto fidarci dei numeri per zona</a:t>
            </a:r>
          </a:p>
        </p:txBody>
      </p:sp>
      <p:sp>
        <p:nvSpPr>
          <p:cNvPr id="4" name="TextBox 3"/>
          <p:cNvSpPr txBox="1"/>
          <p:nvPr/>
        </p:nvSpPr>
        <p:spPr>
          <a:xfrm>
            <a:off x="9144000" y="274320"/>
            <a:ext cx="2834640" cy="457200"/>
          </a:xfrm>
          <a:prstGeom prst="rect">
            <a:avLst/>
          </a:prstGeom>
          <a:noFill/>
        </p:spPr>
        <p:txBody>
          <a:bodyPr wrap="square">
            <a:spAutoFit/>
          </a:bodyPr>
          <a:lstStyle/>
          <a:p>
            <a:pPr algn="r">
              <a:spcAft>
                <a:spcPts val="800"/>
              </a:spcAft>
            </a:pPr>
            <a:r>
              <a:rPr sz="1300" b="0">
                <a:solidFill>
                  <a:srgbClr val="C9D8EA"/>
                </a:solidFill>
              </a:rPr>
              <a:t>D-44 · D-45</a:t>
            </a:r>
          </a:p>
        </p:txBody>
      </p:sp>
      <p:sp>
        <p:nvSpPr>
          <p:cNvPr id="5" name="Rectangle 4"/>
          <p:cNvSpPr/>
          <p:nvPr/>
        </p:nvSpPr>
        <p:spPr>
          <a:xfrm>
            <a:off x="0" y="914400"/>
            <a:ext cx="12191695" cy="54864"/>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g_recall_ic.png"/>
          <p:cNvPicPr>
            <a:picLocks noChangeAspect="1"/>
          </p:cNvPicPr>
          <p:nvPr/>
        </p:nvPicPr>
        <p:blipFill>
          <a:blip r:embed="rId3"/>
          <a:stretch>
            <a:fillRect/>
          </a:stretch>
        </p:blipFill>
        <p:spPr>
          <a:xfrm>
            <a:off x="274320" y="1188720"/>
            <a:ext cx="6035040" cy="3965883"/>
          </a:xfrm>
          <a:prstGeom prst="rect">
            <a:avLst/>
          </a:prstGeom>
        </p:spPr>
      </p:pic>
      <p:sp>
        <p:nvSpPr>
          <p:cNvPr id="7" name="TextBox 6"/>
          <p:cNvSpPr txBox="1"/>
          <p:nvPr/>
        </p:nvSpPr>
        <p:spPr>
          <a:xfrm>
            <a:off x="6492240" y="1234440"/>
            <a:ext cx="5394960" cy="4114800"/>
          </a:xfrm>
          <a:prstGeom prst="rect">
            <a:avLst/>
          </a:prstGeom>
          <a:noFill/>
        </p:spPr>
        <p:txBody>
          <a:bodyPr wrap="square">
            <a:spAutoFit/>
          </a:bodyPr>
          <a:lstStyle/>
          <a:p>
            <a:pPr>
              <a:spcAft>
                <a:spcPts val="800"/>
              </a:spcAft>
            </a:pPr>
            <a:r>
              <a:rPr sz="1500" b="1" dirty="0">
                <a:solidFill>
                  <a:srgbClr val="0F6CBD"/>
                </a:solidFill>
              </a:rPr>
              <a:t>•  </a:t>
            </a:r>
            <a:r>
              <a:rPr sz="1500" b="0" dirty="0" err="1">
                <a:solidFill>
                  <a:srgbClr val="0B1F3A"/>
                </a:solidFill>
              </a:rPr>
              <a:t>Contiamo</a:t>
            </a:r>
            <a:r>
              <a:rPr sz="1500" b="0" dirty="0">
                <a:solidFill>
                  <a:srgbClr val="0B1F3A"/>
                </a:solidFill>
              </a:rPr>
              <a:t> </a:t>
            </a:r>
            <a:r>
              <a:rPr sz="1500" b="0" dirty="0" err="1">
                <a:solidFill>
                  <a:srgbClr val="0B1F3A"/>
                </a:solidFill>
              </a:rPr>
              <a:t>i</a:t>
            </a:r>
            <a:r>
              <a:rPr sz="1500" b="0" dirty="0">
                <a:solidFill>
                  <a:srgbClr val="0B1F3A"/>
                </a:solidFill>
              </a:rPr>
              <a:t> </a:t>
            </a:r>
            <a:r>
              <a:rPr sz="1500" b="0" dirty="0" err="1">
                <a:solidFill>
                  <a:srgbClr val="0B1F3A"/>
                </a:solidFill>
              </a:rPr>
              <a:t>guasti</a:t>
            </a:r>
            <a:r>
              <a:rPr sz="1500" b="0" dirty="0">
                <a:solidFill>
                  <a:srgbClr val="0B1F3A"/>
                </a:solidFill>
              </a:rPr>
              <a:t> </a:t>
            </a:r>
            <a:r>
              <a:rPr sz="1500" b="0" dirty="0" err="1">
                <a:solidFill>
                  <a:srgbClr val="0B1F3A"/>
                </a:solidFill>
              </a:rPr>
              <a:t>veri</a:t>
            </a:r>
            <a:r>
              <a:rPr sz="1500" b="0" dirty="0">
                <a:solidFill>
                  <a:srgbClr val="0B1F3A"/>
                </a:solidFill>
              </a:rPr>
              <a:t> di ogni zona e </a:t>
            </a:r>
            <a:r>
              <a:rPr sz="1500" b="0" dirty="0" err="1">
                <a:solidFill>
                  <a:srgbClr val="0B1F3A"/>
                </a:solidFill>
              </a:rPr>
              <a:t>quanti</a:t>
            </a:r>
            <a:r>
              <a:rPr sz="1500" b="0" dirty="0">
                <a:solidFill>
                  <a:srgbClr val="0B1F3A"/>
                </a:solidFill>
              </a:rPr>
              <a:t> il </a:t>
            </a:r>
            <a:r>
              <a:rPr sz="1500" b="0" dirty="0" err="1">
                <a:solidFill>
                  <a:srgbClr val="0B1F3A"/>
                </a:solidFill>
              </a:rPr>
              <a:t>sistema</a:t>
            </a:r>
            <a:r>
              <a:rPr sz="1500" b="0" dirty="0">
                <a:solidFill>
                  <a:srgbClr val="0B1F3A"/>
                </a:solidFill>
              </a:rPr>
              <a:t> ne </a:t>
            </a:r>
            <a:r>
              <a:rPr sz="1500" b="0" dirty="0" err="1">
                <a:solidFill>
                  <a:srgbClr val="0B1F3A"/>
                </a:solidFill>
              </a:rPr>
              <a:t>aveva</a:t>
            </a:r>
            <a:r>
              <a:rPr sz="1500" b="0" dirty="0">
                <a:solidFill>
                  <a:srgbClr val="0B1F3A"/>
                </a:solidFill>
              </a:rPr>
              <a:t> </a:t>
            </a:r>
            <a:r>
              <a:rPr sz="1500" b="0" dirty="0" err="1">
                <a:solidFill>
                  <a:srgbClr val="0B1F3A"/>
                </a:solidFill>
              </a:rPr>
              <a:t>segnalati</a:t>
            </a:r>
            <a:r>
              <a:rPr sz="1500" b="0" dirty="0">
                <a:solidFill>
                  <a:srgbClr val="0B1F3A"/>
                </a:solidFill>
              </a:rPr>
              <a:t>: </a:t>
            </a:r>
            <a:r>
              <a:rPr sz="1500" b="1" dirty="0">
                <a:solidFill>
                  <a:srgbClr val="0B1F3A"/>
                </a:solidFill>
              </a:rPr>
              <a:t>Nord 20 </a:t>
            </a:r>
            <a:r>
              <a:rPr sz="1500" b="1" dirty="0" err="1">
                <a:solidFill>
                  <a:srgbClr val="0B1F3A"/>
                </a:solidFill>
              </a:rPr>
              <a:t>su</a:t>
            </a:r>
            <a:r>
              <a:rPr sz="1500" b="1" dirty="0">
                <a:solidFill>
                  <a:srgbClr val="0B1F3A"/>
                </a:solidFill>
              </a:rPr>
              <a:t> 28</a:t>
            </a:r>
            <a:r>
              <a:rPr sz="1500" b="0" dirty="0">
                <a:solidFill>
                  <a:srgbClr val="0B1F3A"/>
                </a:solidFill>
              </a:rPr>
              <a:t>, Centro 18 </a:t>
            </a:r>
            <a:r>
              <a:rPr sz="1500" b="0" dirty="0" err="1">
                <a:solidFill>
                  <a:srgbClr val="0B1F3A"/>
                </a:solidFill>
              </a:rPr>
              <a:t>su</a:t>
            </a:r>
            <a:r>
              <a:rPr sz="1500" b="0" dirty="0">
                <a:solidFill>
                  <a:srgbClr val="0B1F3A"/>
                </a:solidFill>
              </a:rPr>
              <a:t> 24, Sud 30 </a:t>
            </a:r>
            <a:r>
              <a:rPr sz="1500" b="0" dirty="0" err="1">
                <a:solidFill>
                  <a:srgbClr val="0B1F3A"/>
                </a:solidFill>
              </a:rPr>
              <a:t>su</a:t>
            </a:r>
            <a:r>
              <a:rPr sz="1500" b="0" dirty="0">
                <a:solidFill>
                  <a:srgbClr val="0B1F3A"/>
                </a:solidFill>
              </a:rPr>
              <a:t> 34, </a:t>
            </a:r>
            <a:r>
              <a:rPr sz="1500" b="1" dirty="0" err="1">
                <a:solidFill>
                  <a:srgbClr val="0B1F3A"/>
                </a:solidFill>
              </a:rPr>
              <a:t>Isole</a:t>
            </a:r>
            <a:r>
              <a:rPr sz="1500" b="1" dirty="0">
                <a:solidFill>
                  <a:srgbClr val="0B1F3A"/>
                </a:solidFill>
              </a:rPr>
              <a:t> 40 </a:t>
            </a:r>
            <a:r>
              <a:rPr sz="1500" b="1" dirty="0" err="1">
                <a:solidFill>
                  <a:srgbClr val="0B1F3A"/>
                </a:solidFill>
              </a:rPr>
              <a:t>su</a:t>
            </a:r>
            <a:r>
              <a:rPr sz="1500" b="1" dirty="0">
                <a:solidFill>
                  <a:srgbClr val="0B1F3A"/>
                </a:solidFill>
              </a:rPr>
              <a:t> 43</a:t>
            </a:r>
            <a:r>
              <a:rPr sz="1500" b="0" dirty="0">
                <a:solidFill>
                  <a:srgbClr val="0B1F3A"/>
                </a:solidFill>
              </a:rPr>
              <a:t>.</a:t>
            </a:r>
          </a:p>
          <a:p>
            <a:pPr>
              <a:spcAft>
                <a:spcPts val="800"/>
              </a:spcAft>
            </a:pPr>
            <a:r>
              <a:rPr sz="1500" b="1" dirty="0">
                <a:solidFill>
                  <a:srgbClr val="0F6CBD"/>
                </a:solidFill>
              </a:rPr>
              <a:t>•  </a:t>
            </a:r>
            <a:r>
              <a:rPr sz="1500" b="0" dirty="0" err="1">
                <a:solidFill>
                  <a:srgbClr val="0B1F3A"/>
                </a:solidFill>
              </a:rPr>
              <a:t>Sembra</a:t>
            </a:r>
            <a:r>
              <a:rPr sz="1500" b="0" dirty="0">
                <a:solidFill>
                  <a:srgbClr val="0B1F3A"/>
                </a:solidFill>
              </a:rPr>
              <a:t> </a:t>
            </a:r>
            <a:r>
              <a:rPr sz="1500" b="0" dirty="0" err="1">
                <a:solidFill>
                  <a:srgbClr val="0B1F3A"/>
                </a:solidFill>
              </a:rPr>
              <a:t>che</a:t>
            </a:r>
            <a:r>
              <a:rPr sz="1500" b="0" dirty="0">
                <a:solidFill>
                  <a:srgbClr val="0B1F3A"/>
                </a:solidFill>
              </a:rPr>
              <a:t> il Nord </a:t>
            </a:r>
            <a:r>
              <a:rPr sz="1500" b="0" dirty="0" err="1">
                <a:solidFill>
                  <a:srgbClr val="0B1F3A"/>
                </a:solidFill>
              </a:rPr>
              <a:t>sia</a:t>
            </a:r>
            <a:r>
              <a:rPr sz="1500" b="0" dirty="0">
                <a:solidFill>
                  <a:srgbClr val="0B1F3A"/>
                </a:solidFill>
              </a:rPr>
              <a:t> </a:t>
            </a:r>
            <a:r>
              <a:rPr sz="1500" b="0" dirty="0" err="1">
                <a:solidFill>
                  <a:srgbClr val="0B1F3A"/>
                </a:solidFill>
              </a:rPr>
              <a:t>servito</a:t>
            </a:r>
            <a:r>
              <a:rPr sz="1500" b="0" dirty="0">
                <a:solidFill>
                  <a:srgbClr val="0B1F3A"/>
                </a:solidFill>
              </a:rPr>
              <a:t> molto </a:t>
            </a:r>
            <a:r>
              <a:rPr sz="1500" b="0" dirty="0" err="1">
                <a:solidFill>
                  <a:srgbClr val="0B1F3A"/>
                </a:solidFill>
              </a:rPr>
              <a:t>peggio</a:t>
            </a:r>
            <a:r>
              <a:rPr sz="1500" b="0" dirty="0">
                <a:solidFill>
                  <a:srgbClr val="0B1F3A"/>
                </a:solidFill>
              </a:rPr>
              <a:t>. Ma </a:t>
            </a:r>
            <a:r>
              <a:rPr sz="1500" b="0" dirty="0" err="1">
                <a:solidFill>
                  <a:srgbClr val="0B1F3A"/>
                </a:solidFill>
              </a:rPr>
              <a:t>sono</a:t>
            </a:r>
            <a:r>
              <a:rPr sz="1500" b="0" dirty="0">
                <a:solidFill>
                  <a:srgbClr val="0B1F3A"/>
                </a:solidFill>
              </a:rPr>
              <a:t> </a:t>
            </a:r>
            <a:r>
              <a:rPr sz="1500" b="1" dirty="0" err="1">
                <a:solidFill>
                  <a:srgbClr val="0B1F3A"/>
                </a:solidFill>
              </a:rPr>
              <a:t>pochi</a:t>
            </a:r>
            <a:r>
              <a:rPr sz="1500" b="1" dirty="0">
                <a:solidFill>
                  <a:srgbClr val="0B1F3A"/>
                </a:solidFill>
              </a:rPr>
              <a:t> </a:t>
            </a:r>
            <a:r>
              <a:rPr sz="1500" b="1" dirty="0" err="1">
                <a:solidFill>
                  <a:srgbClr val="0B1F3A"/>
                </a:solidFill>
              </a:rPr>
              <a:t>casi</a:t>
            </a:r>
            <a:r>
              <a:rPr sz="1500" b="0" dirty="0">
                <a:solidFill>
                  <a:srgbClr val="0B1F3A"/>
                </a:solidFill>
              </a:rPr>
              <a:t>: </a:t>
            </a:r>
            <a:r>
              <a:rPr sz="1500" b="0" dirty="0" err="1">
                <a:solidFill>
                  <a:srgbClr val="0B1F3A"/>
                </a:solidFill>
              </a:rPr>
              <a:t>bastano</a:t>
            </a:r>
            <a:r>
              <a:rPr sz="1500" b="0" dirty="0">
                <a:solidFill>
                  <a:srgbClr val="0B1F3A"/>
                </a:solidFill>
              </a:rPr>
              <a:t> 3-4 </a:t>
            </a:r>
            <a:r>
              <a:rPr sz="1500" b="0" dirty="0" err="1">
                <a:solidFill>
                  <a:srgbClr val="0B1F3A"/>
                </a:solidFill>
              </a:rPr>
              <a:t>guasti</a:t>
            </a:r>
            <a:r>
              <a:rPr sz="1500" b="0" dirty="0">
                <a:solidFill>
                  <a:srgbClr val="0B1F3A"/>
                </a:solidFill>
              </a:rPr>
              <a:t> in </a:t>
            </a:r>
            <a:r>
              <a:rPr sz="1500" b="0" dirty="0" err="1">
                <a:solidFill>
                  <a:srgbClr val="0B1F3A"/>
                </a:solidFill>
              </a:rPr>
              <a:t>più</a:t>
            </a:r>
            <a:r>
              <a:rPr sz="1500" b="0" dirty="0">
                <a:solidFill>
                  <a:srgbClr val="0B1F3A"/>
                </a:solidFill>
              </a:rPr>
              <a:t> o in </a:t>
            </a:r>
            <a:r>
              <a:rPr sz="1500" b="0" dirty="0" err="1">
                <a:solidFill>
                  <a:srgbClr val="0B1F3A"/>
                </a:solidFill>
              </a:rPr>
              <a:t>meno</a:t>
            </a:r>
            <a:r>
              <a:rPr sz="1500" b="0" dirty="0">
                <a:solidFill>
                  <a:srgbClr val="0B1F3A"/>
                </a:solidFill>
              </a:rPr>
              <a:t> per </a:t>
            </a:r>
            <a:r>
              <a:rPr sz="1500" b="0" dirty="0" err="1">
                <a:solidFill>
                  <a:srgbClr val="0B1F3A"/>
                </a:solidFill>
              </a:rPr>
              <a:t>cambiare</a:t>
            </a:r>
            <a:r>
              <a:rPr sz="1500" b="0" dirty="0">
                <a:solidFill>
                  <a:srgbClr val="0B1F3A"/>
                </a:solidFill>
              </a:rPr>
              <a:t> il </a:t>
            </a:r>
            <a:r>
              <a:rPr sz="1500" b="0" dirty="0" err="1">
                <a:solidFill>
                  <a:srgbClr val="0B1F3A"/>
                </a:solidFill>
              </a:rPr>
              <a:t>voto</a:t>
            </a:r>
            <a:r>
              <a:rPr sz="1500" b="0" dirty="0">
                <a:solidFill>
                  <a:srgbClr val="0B1F3A"/>
                </a:solidFill>
              </a:rPr>
              <a:t> di un punto </a:t>
            </a:r>
            <a:r>
              <a:rPr sz="1500" b="0" dirty="0" err="1">
                <a:solidFill>
                  <a:srgbClr val="0B1F3A"/>
                </a:solidFill>
              </a:rPr>
              <a:t>intero</a:t>
            </a:r>
            <a:r>
              <a:rPr sz="1500" b="0" dirty="0">
                <a:solidFill>
                  <a:srgbClr val="0B1F3A"/>
                </a:solidFill>
              </a:rPr>
              <a:t>.</a:t>
            </a:r>
          </a:p>
          <a:p>
            <a:pPr>
              <a:spcAft>
                <a:spcPts val="800"/>
              </a:spcAft>
            </a:pPr>
            <a:r>
              <a:rPr sz="1500" b="1" dirty="0">
                <a:solidFill>
                  <a:srgbClr val="0F6CBD"/>
                </a:solidFill>
              </a:rPr>
              <a:t>•  </a:t>
            </a:r>
            <a:r>
              <a:rPr sz="1500" b="0" dirty="0">
                <a:solidFill>
                  <a:srgbClr val="0B1F3A"/>
                </a:solidFill>
              </a:rPr>
              <a:t>È come </a:t>
            </a:r>
            <a:r>
              <a:rPr sz="1500" b="0" dirty="0" err="1">
                <a:solidFill>
                  <a:srgbClr val="0B1F3A"/>
                </a:solidFill>
              </a:rPr>
              <a:t>lanciare</a:t>
            </a:r>
            <a:r>
              <a:rPr sz="1500" b="0" dirty="0">
                <a:solidFill>
                  <a:srgbClr val="0B1F3A"/>
                </a:solidFill>
              </a:rPr>
              <a:t> </a:t>
            </a:r>
            <a:r>
              <a:rPr sz="1500" b="0" dirty="0" err="1">
                <a:solidFill>
                  <a:srgbClr val="0B1F3A"/>
                </a:solidFill>
              </a:rPr>
              <a:t>una</a:t>
            </a:r>
            <a:r>
              <a:rPr sz="1500" b="0" dirty="0">
                <a:solidFill>
                  <a:srgbClr val="0B1F3A"/>
                </a:solidFill>
              </a:rPr>
              <a:t> </a:t>
            </a:r>
            <a:r>
              <a:rPr sz="1500" b="0" dirty="0" err="1">
                <a:solidFill>
                  <a:srgbClr val="0B1F3A"/>
                </a:solidFill>
              </a:rPr>
              <a:t>moneta</a:t>
            </a:r>
            <a:r>
              <a:rPr sz="1500" b="0" dirty="0">
                <a:solidFill>
                  <a:srgbClr val="0B1F3A"/>
                </a:solidFill>
              </a:rPr>
              <a:t> 10 volte e </a:t>
            </a:r>
            <a:r>
              <a:rPr sz="1500" b="0" dirty="0" err="1">
                <a:solidFill>
                  <a:srgbClr val="0B1F3A"/>
                </a:solidFill>
              </a:rPr>
              <a:t>ottenere</a:t>
            </a:r>
            <a:r>
              <a:rPr sz="1500" b="0" dirty="0">
                <a:solidFill>
                  <a:srgbClr val="0B1F3A"/>
                </a:solidFill>
              </a:rPr>
              <a:t> 7 teste: non basta per dire </a:t>
            </a:r>
            <a:r>
              <a:rPr sz="1500" b="0" dirty="0" err="1">
                <a:solidFill>
                  <a:srgbClr val="0B1F3A"/>
                </a:solidFill>
              </a:rPr>
              <a:t>che</a:t>
            </a:r>
            <a:r>
              <a:rPr sz="1500" b="0" dirty="0">
                <a:solidFill>
                  <a:srgbClr val="0B1F3A"/>
                </a:solidFill>
              </a:rPr>
              <a:t> è </a:t>
            </a:r>
            <a:r>
              <a:rPr sz="1500" b="0" dirty="0" err="1">
                <a:solidFill>
                  <a:srgbClr val="0B1F3A"/>
                </a:solidFill>
              </a:rPr>
              <a:t>truccata</a:t>
            </a:r>
            <a:r>
              <a:rPr sz="1500" b="0" dirty="0">
                <a:solidFill>
                  <a:srgbClr val="0B1F3A"/>
                </a:solidFill>
              </a:rPr>
              <a:t>.</a:t>
            </a:r>
          </a:p>
          <a:p>
            <a:pPr>
              <a:spcAft>
                <a:spcPts val="800"/>
              </a:spcAft>
            </a:pPr>
            <a:r>
              <a:rPr sz="1500" b="1" dirty="0">
                <a:solidFill>
                  <a:srgbClr val="0F6CBD"/>
                </a:solidFill>
              </a:rPr>
              <a:t>•  </a:t>
            </a:r>
            <a:r>
              <a:rPr sz="1500" b="0" dirty="0">
                <a:solidFill>
                  <a:srgbClr val="0B1F3A"/>
                </a:solidFill>
              </a:rPr>
              <a:t>Le barre </a:t>
            </a:r>
            <a:r>
              <a:rPr sz="1500" b="0" dirty="0" err="1">
                <a:solidFill>
                  <a:srgbClr val="0B1F3A"/>
                </a:solidFill>
              </a:rPr>
              <a:t>mostrano</a:t>
            </a:r>
            <a:r>
              <a:rPr sz="1500" b="0" dirty="0">
                <a:solidFill>
                  <a:srgbClr val="0B1F3A"/>
                </a:solidFill>
              </a:rPr>
              <a:t> di </a:t>
            </a:r>
            <a:r>
              <a:rPr sz="1500" b="0" dirty="0" err="1">
                <a:solidFill>
                  <a:srgbClr val="0B1F3A"/>
                </a:solidFill>
              </a:rPr>
              <a:t>quanto</a:t>
            </a:r>
            <a:r>
              <a:rPr sz="1500" b="0" dirty="0">
                <a:solidFill>
                  <a:srgbClr val="0B1F3A"/>
                </a:solidFill>
              </a:rPr>
              <a:t> il </a:t>
            </a:r>
            <a:r>
              <a:rPr sz="1500" b="0" dirty="0" err="1">
                <a:solidFill>
                  <a:srgbClr val="0B1F3A"/>
                </a:solidFill>
              </a:rPr>
              <a:t>voto</a:t>
            </a:r>
            <a:r>
              <a:rPr sz="1500" b="0" dirty="0">
                <a:solidFill>
                  <a:srgbClr val="0B1F3A"/>
                </a:solidFill>
              </a:rPr>
              <a:t> </a:t>
            </a:r>
            <a:r>
              <a:rPr sz="1500" b="0" dirty="0" err="1">
                <a:solidFill>
                  <a:srgbClr val="0B1F3A"/>
                </a:solidFill>
              </a:rPr>
              <a:t>potrebbe</a:t>
            </a:r>
            <a:r>
              <a:rPr sz="1500" b="0" dirty="0">
                <a:solidFill>
                  <a:srgbClr val="0B1F3A"/>
                </a:solidFill>
              </a:rPr>
              <a:t> </a:t>
            </a:r>
            <a:r>
              <a:rPr sz="1500" b="0" dirty="0" err="1">
                <a:solidFill>
                  <a:srgbClr val="0B1F3A"/>
                </a:solidFill>
              </a:rPr>
              <a:t>cambiare</a:t>
            </a:r>
            <a:r>
              <a:rPr sz="1500" b="0" dirty="0">
                <a:solidFill>
                  <a:srgbClr val="0B1F3A"/>
                </a:solidFill>
              </a:rPr>
              <a:t>. </a:t>
            </a:r>
            <a:r>
              <a:rPr sz="1500" b="1" dirty="0">
                <a:solidFill>
                  <a:srgbClr val="0B1F3A"/>
                </a:solidFill>
              </a:rPr>
              <a:t>Si </a:t>
            </a:r>
            <a:r>
              <a:rPr sz="1500" b="1" dirty="0" err="1">
                <a:solidFill>
                  <a:srgbClr val="0B1F3A"/>
                </a:solidFill>
              </a:rPr>
              <a:t>sovrappongono</a:t>
            </a:r>
            <a:r>
              <a:rPr sz="1500" b="0" dirty="0">
                <a:solidFill>
                  <a:srgbClr val="0B1F3A"/>
                </a:solidFill>
              </a:rPr>
              <a:t>: è un </a:t>
            </a:r>
            <a:r>
              <a:rPr sz="1500" b="0" dirty="0" err="1">
                <a:solidFill>
                  <a:srgbClr val="0B1F3A"/>
                </a:solidFill>
              </a:rPr>
              <a:t>campanello</a:t>
            </a:r>
            <a:r>
              <a:rPr sz="1500" b="0" dirty="0">
                <a:solidFill>
                  <a:srgbClr val="0B1F3A"/>
                </a:solidFill>
              </a:rPr>
              <a:t> </a:t>
            </a:r>
            <a:r>
              <a:rPr sz="1500" b="0" dirty="0" err="1">
                <a:solidFill>
                  <a:srgbClr val="0B1F3A"/>
                </a:solidFill>
              </a:rPr>
              <a:t>d'allarme</a:t>
            </a:r>
            <a:r>
              <a:rPr sz="1500" b="0" dirty="0">
                <a:solidFill>
                  <a:srgbClr val="0B1F3A"/>
                </a:solidFill>
              </a:rPr>
              <a:t>, non </a:t>
            </a:r>
            <a:r>
              <a:rPr sz="1500" b="0" dirty="0" err="1">
                <a:solidFill>
                  <a:srgbClr val="0B1F3A"/>
                </a:solidFill>
              </a:rPr>
              <a:t>una</a:t>
            </a:r>
            <a:r>
              <a:rPr sz="1500" b="0" dirty="0">
                <a:solidFill>
                  <a:srgbClr val="0B1F3A"/>
                </a:solidFill>
              </a:rPr>
              <a:t> </a:t>
            </a:r>
            <a:r>
              <a:rPr sz="1500" b="0" dirty="0" err="1">
                <a:solidFill>
                  <a:srgbClr val="0B1F3A"/>
                </a:solidFill>
              </a:rPr>
              <a:t>prova</a:t>
            </a:r>
            <a:r>
              <a:rPr sz="1500" b="0" dirty="0">
                <a:solidFill>
                  <a:srgbClr val="0B1F3A"/>
                </a:solidFill>
              </a:rPr>
              <a:t>.</a:t>
            </a:r>
          </a:p>
        </p:txBody>
      </p:sp>
      <p:sp>
        <p:nvSpPr>
          <p:cNvPr id="8" name="Rectangle 7"/>
          <p:cNvSpPr/>
          <p:nvPr/>
        </p:nvSpPr>
        <p:spPr>
          <a:xfrm>
            <a:off x="365760" y="5349240"/>
            <a:ext cx="11430000" cy="1234440"/>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365760" y="5349240"/>
            <a:ext cx="91440" cy="1234440"/>
          </a:xfrm>
          <a:prstGeom prst="rect">
            <a:avLst/>
          </a:prstGeom>
          <a:solidFill>
            <a:srgbClr val="E0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94360" y="5422392"/>
            <a:ext cx="11109960" cy="1143000"/>
          </a:xfrm>
          <a:prstGeom prst="rect">
            <a:avLst/>
          </a:prstGeom>
          <a:noFill/>
        </p:spPr>
        <p:txBody>
          <a:bodyPr wrap="square">
            <a:spAutoFit/>
          </a:bodyPr>
          <a:lstStyle/>
          <a:p>
            <a:pPr>
              <a:spcAft>
                <a:spcPts val="800"/>
              </a:spcAft>
            </a:pPr>
            <a:r>
              <a:rPr sz="1500" b="1">
                <a:solidFill>
                  <a:srgbClr val="0B1F3A"/>
                </a:solidFill>
              </a:rPr>
              <a:t>Cosa ne facciamo</a:t>
            </a:r>
          </a:p>
          <a:p>
            <a:pPr>
              <a:spcAft>
                <a:spcPts val="800"/>
              </a:spcAft>
            </a:pPr>
            <a:r>
              <a:rPr sz="1500" b="0">
                <a:solidFill>
                  <a:srgbClr val="0B1F3A"/>
                </a:solidFill>
              </a:rPr>
              <a:t>Non cambiamo il modello per un segnale incerto: mettiamo una persona in più a controllare. Incrociando zona e tipo di utenza, il gruppo più scoperto sono le utenze normali di Nord e Centro (il sistema vede circa 2 guasti su 3).</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1440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164592"/>
            <a:ext cx="9418320" cy="640080"/>
          </a:xfrm>
          <a:prstGeom prst="rect">
            <a:avLst/>
          </a:prstGeom>
          <a:noFill/>
        </p:spPr>
        <p:txBody>
          <a:bodyPr wrap="square">
            <a:spAutoFit/>
          </a:bodyPr>
          <a:lstStyle/>
          <a:p>
            <a:pPr>
              <a:spcAft>
                <a:spcPts val="800"/>
              </a:spcAft>
            </a:pPr>
            <a:r>
              <a:rPr sz="2800" b="1">
                <a:solidFill>
                  <a:srgbClr val="FFFFFF"/>
                </a:solidFill>
              </a:rPr>
              <a:t>Il sistema si controlla nel tempo</a:t>
            </a:r>
          </a:p>
        </p:txBody>
      </p:sp>
      <p:sp>
        <p:nvSpPr>
          <p:cNvPr id="4" name="TextBox 3"/>
          <p:cNvSpPr txBox="1"/>
          <p:nvPr/>
        </p:nvSpPr>
        <p:spPr>
          <a:xfrm>
            <a:off x="9144000" y="274320"/>
            <a:ext cx="2834640" cy="457200"/>
          </a:xfrm>
          <a:prstGeom prst="rect">
            <a:avLst/>
          </a:prstGeom>
          <a:noFill/>
        </p:spPr>
        <p:txBody>
          <a:bodyPr wrap="square">
            <a:spAutoFit/>
          </a:bodyPr>
          <a:lstStyle/>
          <a:p>
            <a:pPr algn="r">
              <a:spcAft>
                <a:spcPts val="800"/>
              </a:spcAft>
            </a:pPr>
            <a:r>
              <a:rPr sz="1300" b="0">
                <a:solidFill>
                  <a:srgbClr val="C9D8EA"/>
                </a:solidFill>
              </a:rPr>
              <a:t>Art. 14(1)-(2)</a:t>
            </a:r>
          </a:p>
        </p:txBody>
      </p:sp>
      <p:sp>
        <p:nvSpPr>
          <p:cNvPr id="5" name="Rectangle 4"/>
          <p:cNvSpPr/>
          <p:nvPr/>
        </p:nvSpPr>
        <p:spPr>
          <a:xfrm>
            <a:off x="0" y="914400"/>
            <a:ext cx="12191695" cy="54864"/>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bias_4.png"/>
          <p:cNvPicPr>
            <a:picLocks noChangeAspect="1"/>
          </p:cNvPicPr>
          <p:nvPr/>
        </p:nvPicPr>
        <p:blipFill>
          <a:blip r:embed="rId3"/>
          <a:stretch>
            <a:fillRect/>
          </a:stretch>
        </p:blipFill>
        <p:spPr>
          <a:xfrm>
            <a:off x="365760" y="1188720"/>
            <a:ext cx="6400800" cy="4307305"/>
          </a:xfrm>
          <a:prstGeom prst="rect">
            <a:avLst/>
          </a:prstGeom>
          <a:ln w="12700">
            <a:solidFill>
              <a:srgbClr val="D0D5DD"/>
            </a:solidFill>
          </a:ln>
        </p:spPr>
      </p:pic>
      <p:sp>
        <p:nvSpPr>
          <p:cNvPr id="7" name="TextBox 6"/>
          <p:cNvSpPr txBox="1"/>
          <p:nvPr/>
        </p:nvSpPr>
        <p:spPr>
          <a:xfrm>
            <a:off x="7040880" y="1280160"/>
            <a:ext cx="4846320" cy="5303520"/>
          </a:xfrm>
          <a:prstGeom prst="rect">
            <a:avLst/>
          </a:prstGeom>
          <a:noFill/>
        </p:spPr>
        <p:txBody>
          <a:bodyPr wrap="square">
            <a:spAutoFit/>
          </a:bodyPr>
          <a:lstStyle/>
          <a:p>
            <a:pPr>
              <a:spcAft>
                <a:spcPts val="800"/>
              </a:spcAft>
            </a:pPr>
            <a:r>
              <a:rPr sz="1600" b="1">
                <a:solidFill>
                  <a:srgbClr val="0F6CBD"/>
                </a:solidFill>
              </a:rPr>
              <a:t>•  </a:t>
            </a:r>
            <a:r>
              <a:rPr sz="1600" b="0">
                <a:solidFill>
                  <a:srgbClr val="0B1F3A"/>
                </a:solidFill>
              </a:rPr>
              <a:t>Ogni settimana il sistema confronta le sue previsioni con quello che è successo davvero: quante ne ha azzeccate, quanti guasti ha visto, quanto era sicuro.</a:t>
            </a:r>
          </a:p>
          <a:p>
            <a:pPr>
              <a:spcAft>
                <a:spcPts val="800"/>
              </a:spcAft>
            </a:pPr>
            <a:r>
              <a:rPr sz="1600" b="1">
                <a:solidFill>
                  <a:srgbClr val="0F6CBD"/>
                </a:solidFill>
              </a:rPr>
              <a:t>•  </a:t>
            </a:r>
            <a:r>
              <a:rPr sz="1600" b="0">
                <a:solidFill>
                  <a:srgbClr val="0B1F3A"/>
                </a:solidFill>
              </a:rPr>
              <a:t>Le tre linee: quante previsioni azzecca, quanti guasti vede, quanto è sicuro. La regola: se l'accuratezza scende di oltre 10 punti sotto il normale per </a:t>
            </a:r>
            <a:r>
              <a:rPr sz="1600" b="1">
                <a:solidFill>
                  <a:srgbClr val="0B1F3A"/>
                </a:solidFill>
              </a:rPr>
              <a:t>due settimane di fila</a:t>
            </a:r>
            <a:r>
              <a:rPr sz="1600" b="0">
                <a:solidFill>
                  <a:srgbClr val="0B1F3A"/>
                </a:solidFill>
              </a:rPr>
              <a:t>, il sistema smette di agire da solo e passa tutto alle persone.</a:t>
            </a:r>
          </a:p>
          <a:p>
            <a:pPr>
              <a:spcAft>
                <a:spcPts val="800"/>
              </a:spcAft>
            </a:pPr>
            <a:r>
              <a:rPr sz="1600" b="1">
                <a:solidFill>
                  <a:srgbClr val="0F6CBD"/>
                </a:solidFill>
              </a:rPr>
              <a:t>•  </a:t>
            </a:r>
            <a:r>
              <a:rPr sz="1600" b="0">
                <a:solidFill>
                  <a:srgbClr val="0B1F3A"/>
                </a:solidFill>
              </a:rPr>
              <a:t>Oggi non è mai successo: il riquadro verde lo conferma.</a:t>
            </a:r>
          </a:p>
          <a:p>
            <a:pPr>
              <a:spcAft>
                <a:spcPts val="800"/>
              </a:spcAft>
            </a:pPr>
            <a:r>
              <a:rPr sz="1600" b="1">
                <a:solidFill>
                  <a:srgbClr val="0F6CBD"/>
                </a:solidFill>
              </a:rPr>
              <a:t>•  </a:t>
            </a:r>
            <a:r>
              <a:rPr sz="1600" b="0">
                <a:solidFill>
                  <a:srgbClr val="0B1F3A"/>
                </a:solidFill>
              </a:rPr>
              <a:t>Limite: le settimane sono </a:t>
            </a:r>
            <a:r>
              <a:rPr sz="1600" b="1">
                <a:solidFill>
                  <a:srgbClr val="0B1F3A"/>
                </a:solidFill>
              </a:rPr>
              <a:t>simulate</a:t>
            </a:r>
            <a:r>
              <a:rPr sz="1600" b="0">
                <a:solidFill>
                  <a:srgbClr val="0B1F3A"/>
                </a:solidFill>
              </a:rPr>
              <a:t> dividendo i dati di prova in 12 gruppi, perché i dati non hanno date.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1440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164592"/>
            <a:ext cx="9418320" cy="640080"/>
          </a:xfrm>
          <a:prstGeom prst="rect">
            <a:avLst/>
          </a:prstGeom>
          <a:noFill/>
        </p:spPr>
        <p:txBody>
          <a:bodyPr wrap="square">
            <a:spAutoFit/>
          </a:bodyPr>
          <a:lstStyle/>
          <a:p>
            <a:pPr>
              <a:spcAft>
                <a:spcPts val="800"/>
              </a:spcAft>
            </a:pPr>
            <a:r>
              <a:rPr sz="2800" b="1">
                <a:solidFill>
                  <a:srgbClr val="FFFFFF"/>
                </a:solidFill>
              </a:rPr>
              <a:t>La prova: tre operatori simulati</a:t>
            </a:r>
          </a:p>
        </p:txBody>
      </p:sp>
      <p:sp>
        <p:nvSpPr>
          <p:cNvPr id="4" name="TextBox 3"/>
          <p:cNvSpPr txBox="1"/>
          <p:nvPr/>
        </p:nvSpPr>
        <p:spPr>
          <a:xfrm>
            <a:off x="9144000" y="274320"/>
            <a:ext cx="2834640" cy="457200"/>
          </a:xfrm>
          <a:prstGeom prst="rect">
            <a:avLst/>
          </a:prstGeom>
          <a:noFill/>
        </p:spPr>
        <p:txBody>
          <a:bodyPr wrap="square">
            <a:spAutoFit/>
          </a:bodyPr>
          <a:lstStyle/>
          <a:p>
            <a:pPr algn="r">
              <a:spcAft>
                <a:spcPts val="800"/>
              </a:spcAft>
            </a:pPr>
            <a:r>
              <a:rPr sz="1300" b="0">
                <a:solidFill>
                  <a:srgbClr val="C9D8EA"/>
                </a:solidFill>
              </a:rPr>
              <a:t>Simulazione · 9 ottobre</a:t>
            </a:r>
          </a:p>
        </p:txBody>
      </p:sp>
      <p:sp>
        <p:nvSpPr>
          <p:cNvPr id="5" name="Rectangle 4"/>
          <p:cNvSpPr/>
          <p:nvPr/>
        </p:nvSpPr>
        <p:spPr>
          <a:xfrm>
            <a:off x="0" y="914400"/>
            <a:ext cx="12191695" cy="54864"/>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1188720"/>
            <a:ext cx="11247120" cy="914400"/>
          </a:xfrm>
          <a:prstGeom prst="rect">
            <a:avLst/>
          </a:prstGeom>
          <a:noFill/>
        </p:spPr>
        <p:txBody>
          <a:bodyPr wrap="square">
            <a:spAutoFit/>
          </a:bodyPr>
          <a:lstStyle/>
          <a:p>
            <a:pPr>
              <a:spcAft>
                <a:spcPts val="800"/>
              </a:spcAft>
            </a:pPr>
            <a:r>
              <a:rPr sz="1600" b="0">
                <a:solidFill>
                  <a:srgbClr val="0B1F3A"/>
                </a:solidFill>
              </a:rPr>
              <a:t>Per vedere se la supervisione regge, abbiamo usato la dashboard come in una control room: </a:t>
            </a:r>
            <a:r>
              <a:rPr sz="1600" b="1">
                <a:solidFill>
                  <a:srgbClr val="0B1F3A"/>
                </a:solidFill>
              </a:rPr>
              <a:t>18 decisioni vere sulla coda, firmate da 3 operatori con stili diversi</a:t>
            </a:r>
            <a:r>
              <a:rPr sz="1600" b="0">
                <a:solidFill>
                  <a:srgbClr val="0B1F3A"/>
                </a:solidFill>
              </a:rPr>
              <a:t>. Abbiamo deciso leggendo </a:t>
            </a:r>
            <a:r>
              <a:rPr sz="1600" b="1">
                <a:solidFill>
                  <a:srgbClr val="0B1F3A"/>
                </a:solidFill>
              </a:rPr>
              <a:t>solo la card</a:t>
            </a:r>
            <a:r>
              <a:rPr sz="1600" b="0">
                <a:solidFill>
                  <a:srgbClr val="0B1F3A"/>
                </a:solidFill>
              </a:rPr>
              <a:t>, senza sapere come era andata davvero.</a:t>
            </a:r>
          </a:p>
        </p:txBody>
      </p:sp>
      <p:sp>
        <p:nvSpPr>
          <p:cNvPr id="7" name="Rectangle 6"/>
          <p:cNvSpPr/>
          <p:nvPr/>
        </p:nvSpPr>
        <p:spPr>
          <a:xfrm>
            <a:off x="365760" y="2286000"/>
            <a:ext cx="3657600" cy="2651760"/>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365760" y="2286000"/>
            <a:ext cx="3657600" cy="91440"/>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02920" y="2423160"/>
            <a:ext cx="3429000" cy="2468880"/>
          </a:xfrm>
          <a:prstGeom prst="rect">
            <a:avLst/>
          </a:prstGeom>
          <a:noFill/>
        </p:spPr>
        <p:txBody>
          <a:bodyPr wrap="square">
            <a:spAutoFit/>
          </a:bodyPr>
          <a:lstStyle/>
          <a:p>
            <a:pPr>
              <a:spcAft>
                <a:spcPts val="800"/>
              </a:spcAft>
            </a:pPr>
            <a:r>
              <a:rPr sz="1400" b="1">
                <a:solidFill>
                  <a:srgbClr val="0B1F3A"/>
                </a:solidFill>
              </a:rPr>
              <a:t>OP-014 · l'esperto di campo</a:t>
            </a:r>
          </a:p>
          <a:p>
            <a:pPr>
              <a:spcAft>
                <a:spcPts val="800"/>
              </a:spcAft>
            </a:pPr>
            <a:r>
              <a:rPr sz="1400" b="0">
                <a:solidFill>
                  <a:srgbClr val="0B1F3A"/>
                </a:solidFill>
              </a:rPr>
              <a:t>Legge la card e usa quello che sa dell'impianto: approva se i segnali sono chiari, rifiuta se sa di lavori già fatti.</a:t>
            </a:r>
          </a:p>
          <a:p>
            <a:pPr>
              <a:spcAft>
                <a:spcPts val="800"/>
              </a:spcAft>
            </a:pPr>
            <a:r>
              <a:rPr sz="1400" b="1">
                <a:solidFill>
                  <a:srgbClr val="0B1F3A"/>
                </a:solidFill>
              </a:rPr>
              <a:t>6 decisioni: 4 approvate, 2 rifiutate</a:t>
            </a:r>
          </a:p>
        </p:txBody>
      </p:sp>
      <p:sp>
        <p:nvSpPr>
          <p:cNvPr id="10" name="Rectangle 9"/>
          <p:cNvSpPr/>
          <p:nvPr/>
        </p:nvSpPr>
        <p:spPr>
          <a:xfrm>
            <a:off x="4206240" y="2286000"/>
            <a:ext cx="3657600" cy="2651760"/>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206240" y="2286000"/>
            <a:ext cx="3657600" cy="91440"/>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343400" y="2423160"/>
            <a:ext cx="3429000" cy="2468880"/>
          </a:xfrm>
          <a:prstGeom prst="rect">
            <a:avLst/>
          </a:prstGeom>
          <a:noFill/>
        </p:spPr>
        <p:txBody>
          <a:bodyPr wrap="square">
            <a:spAutoFit/>
          </a:bodyPr>
          <a:lstStyle/>
          <a:p>
            <a:pPr>
              <a:spcAft>
                <a:spcPts val="800"/>
              </a:spcAft>
            </a:pPr>
            <a:r>
              <a:rPr sz="1400" b="1">
                <a:solidFill>
                  <a:srgbClr val="0B1F3A"/>
                </a:solidFill>
              </a:rPr>
              <a:t>OP-022 · il frettoloso</a:t>
            </a:r>
          </a:p>
          <a:p>
            <a:pPr>
              <a:spcAft>
                <a:spcPts val="800"/>
              </a:spcAft>
            </a:pPr>
            <a:r>
              <a:rPr sz="1400" b="0">
                <a:solidFill>
                  <a:srgbClr val="0B1F3A"/>
                </a:solidFill>
              </a:rPr>
              <a:t>Approva quasi tutto; una volta scrive solo "Approvo, dati chiari". Serve a vedere se il sistema se ne accorge.</a:t>
            </a:r>
          </a:p>
          <a:p>
            <a:pPr>
              <a:spcAft>
                <a:spcPts val="800"/>
              </a:spcAft>
            </a:pPr>
            <a:r>
              <a:rPr sz="1400" b="1">
                <a:solidFill>
                  <a:srgbClr val="0B1F3A"/>
                </a:solidFill>
              </a:rPr>
              <a:t>6 decisioni: 5 approvate, 1 corretta</a:t>
            </a:r>
          </a:p>
        </p:txBody>
      </p:sp>
      <p:sp>
        <p:nvSpPr>
          <p:cNvPr id="13" name="Rectangle 12"/>
          <p:cNvSpPr/>
          <p:nvPr/>
        </p:nvSpPr>
        <p:spPr>
          <a:xfrm>
            <a:off x="8046720" y="2286000"/>
            <a:ext cx="3657600" cy="2651760"/>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8046720" y="2286000"/>
            <a:ext cx="3657600" cy="91440"/>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183880" y="2423160"/>
            <a:ext cx="3429000" cy="2468880"/>
          </a:xfrm>
          <a:prstGeom prst="rect">
            <a:avLst/>
          </a:prstGeom>
          <a:noFill/>
        </p:spPr>
        <p:txBody>
          <a:bodyPr wrap="square">
            <a:spAutoFit/>
          </a:bodyPr>
          <a:lstStyle/>
          <a:p>
            <a:pPr>
              <a:spcAft>
                <a:spcPts val="800"/>
              </a:spcAft>
            </a:pPr>
            <a:r>
              <a:rPr sz="1400" b="1">
                <a:solidFill>
                  <a:srgbClr val="0B1F3A"/>
                </a:solidFill>
              </a:rPr>
              <a:t>OP-031 · il prudente</a:t>
            </a:r>
          </a:p>
          <a:p>
            <a:pPr>
              <a:spcAft>
                <a:spcPts val="800"/>
              </a:spcAft>
            </a:pPr>
            <a:r>
              <a:rPr sz="1400" b="0">
                <a:solidFill>
                  <a:srgbClr val="0B1F3A"/>
                </a:solidFill>
              </a:rPr>
              <a:t>Nel dubbio chiede un controllo urgente o passa la decisione al responsabile; corregge spesso.</a:t>
            </a:r>
          </a:p>
          <a:p>
            <a:pPr>
              <a:spcAft>
                <a:spcPts val="800"/>
              </a:spcAft>
            </a:pPr>
            <a:r>
              <a:rPr sz="1400" b="1">
                <a:solidFill>
                  <a:srgbClr val="0B1F3A"/>
                </a:solidFill>
              </a:rPr>
              <a:t>5 decisioni + 1 escalation: 2 approvate, 2 corrette, 1 rifiutata</a:t>
            </a:r>
          </a:p>
        </p:txBody>
      </p:sp>
      <p:sp>
        <p:nvSpPr>
          <p:cNvPr id="16" name="TextBox 15"/>
          <p:cNvSpPr txBox="1"/>
          <p:nvPr/>
        </p:nvSpPr>
        <p:spPr>
          <a:xfrm>
            <a:off x="457200" y="5120640"/>
            <a:ext cx="11247120" cy="1554480"/>
          </a:xfrm>
          <a:prstGeom prst="rect">
            <a:avLst/>
          </a:prstGeom>
          <a:noFill/>
        </p:spPr>
        <p:txBody>
          <a:bodyPr wrap="square">
            <a:spAutoFit/>
          </a:bodyPr>
          <a:lstStyle/>
          <a:p>
            <a:pPr>
              <a:spcAft>
                <a:spcPts val="800"/>
              </a:spcAft>
            </a:pPr>
            <a:r>
              <a:rPr sz="1400" b="1">
                <a:solidFill>
                  <a:srgbClr val="0F6CBD"/>
                </a:solidFill>
              </a:rPr>
              <a:t>•  </a:t>
            </a:r>
            <a:r>
              <a:rPr sz="1400" b="1">
                <a:solidFill>
                  <a:srgbClr val="0B1F3A"/>
                </a:solidFill>
              </a:rPr>
              <a:t>Come abbiamo scelto</a:t>
            </a:r>
            <a:r>
              <a:rPr sz="1400" b="0">
                <a:solidFill>
                  <a:srgbClr val="0B1F3A"/>
                </a:solidFill>
              </a:rPr>
              <a:t>: rischio, motivo principale, casi simili e avviso sul Sud dalla card; per rifiuti e correzioni abbiamo immaginato informazioni che il sistema non ha (impianto già sostituito, turbina ferma, ospedale servito).</a:t>
            </a:r>
          </a:p>
          <a:p>
            <a:pPr>
              <a:spcAft>
                <a:spcPts val="800"/>
              </a:spcAft>
            </a:pPr>
            <a:r>
              <a:rPr sz="1400" b="1">
                <a:solidFill>
                  <a:srgbClr val="0F6CBD"/>
                </a:solidFill>
              </a:rPr>
              <a:t>•  </a:t>
            </a:r>
            <a:r>
              <a:rPr sz="1400" b="0">
                <a:solidFill>
                  <a:srgbClr val="0B1F3A"/>
                </a:solidFill>
              </a:rPr>
              <a:t>Prima di tutto abbiamo provato ad approvare con "ok": </a:t>
            </a:r>
            <a:r>
              <a:rPr sz="1400" b="1">
                <a:solidFill>
                  <a:srgbClr val="0B1F3A"/>
                </a:solidFill>
              </a:rPr>
              <a:t>respinto</a:t>
            </a:r>
            <a:r>
              <a:rPr sz="1400" b="0">
                <a:solidFill>
                  <a:srgbClr val="0B1F3A"/>
                </a:solidFill>
              </a:rPr>
              <a:t>. Motivazioni inventate, ma decisioni, registro e numeri sono quelli veri della dashboard.</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1440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164592"/>
            <a:ext cx="9418320" cy="640080"/>
          </a:xfrm>
          <a:prstGeom prst="rect">
            <a:avLst/>
          </a:prstGeom>
          <a:noFill/>
        </p:spPr>
        <p:txBody>
          <a:bodyPr wrap="square">
            <a:spAutoFit/>
          </a:bodyPr>
          <a:lstStyle/>
          <a:p>
            <a:pPr>
              <a:spcAft>
                <a:spcPts val="800"/>
              </a:spcAft>
            </a:pPr>
            <a:r>
              <a:rPr sz="2800" b="1">
                <a:solidFill>
                  <a:srgbClr val="FFFFFF"/>
                </a:solidFill>
              </a:rPr>
              <a:t>Cosa è successo: i numeri e il confronto con la realtà</a:t>
            </a:r>
          </a:p>
        </p:txBody>
      </p:sp>
      <p:sp>
        <p:nvSpPr>
          <p:cNvPr id="4" name="TextBox 3"/>
          <p:cNvSpPr txBox="1"/>
          <p:nvPr/>
        </p:nvSpPr>
        <p:spPr>
          <a:xfrm>
            <a:off x="9144000" y="274320"/>
            <a:ext cx="2834640" cy="457200"/>
          </a:xfrm>
          <a:prstGeom prst="rect">
            <a:avLst/>
          </a:prstGeom>
          <a:noFill/>
        </p:spPr>
        <p:txBody>
          <a:bodyPr wrap="square">
            <a:spAutoFit/>
          </a:bodyPr>
          <a:lstStyle/>
          <a:p>
            <a:pPr algn="r">
              <a:spcAft>
                <a:spcPts val="800"/>
              </a:spcAft>
            </a:pPr>
            <a:r>
              <a:rPr sz="1300" b="0">
                <a:solidFill>
                  <a:srgbClr val="C9D8EA"/>
                </a:solidFill>
              </a:rPr>
              <a:t>KPI A1-A6 · B3c</a:t>
            </a:r>
          </a:p>
        </p:txBody>
      </p:sp>
      <p:sp>
        <p:nvSpPr>
          <p:cNvPr id="5" name="Rectangle 4"/>
          <p:cNvSpPr/>
          <p:nvPr/>
        </p:nvSpPr>
        <p:spPr>
          <a:xfrm>
            <a:off x="0" y="914400"/>
            <a:ext cx="12191695" cy="54864"/>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365760" y="1188720"/>
            <a:ext cx="5394960" cy="5440680"/>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48640" y="1280160"/>
            <a:ext cx="5120640" cy="5303520"/>
          </a:xfrm>
          <a:prstGeom prst="rect">
            <a:avLst/>
          </a:prstGeom>
          <a:noFill/>
        </p:spPr>
        <p:txBody>
          <a:bodyPr wrap="square">
            <a:spAutoFit/>
          </a:bodyPr>
          <a:lstStyle/>
          <a:p>
            <a:pPr>
              <a:spcAft>
                <a:spcPts val="800"/>
              </a:spcAft>
            </a:pPr>
            <a:r>
              <a:rPr sz="1400" b="1" dirty="0">
                <a:solidFill>
                  <a:srgbClr val="0B1F3A"/>
                </a:solidFill>
              </a:rPr>
              <a:t>Cosa ha </a:t>
            </a:r>
            <a:r>
              <a:rPr sz="1400" b="1" dirty="0" err="1">
                <a:solidFill>
                  <a:srgbClr val="0B1F3A"/>
                </a:solidFill>
              </a:rPr>
              <a:t>misurato</a:t>
            </a:r>
            <a:r>
              <a:rPr sz="1400" b="1" dirty="0">
                <a:solidFill>
                  <a:srgbClr val="0B1F3A"/>
                </a:solidFill>
              </a:rPr>
              <a:t> la dashboard</a:t>
            </a:r>
          </a:p>
          <a:p>
            <a:pPr>
              <a:spcAft>
                <a:spcPts val="800"/>
              </a:spcAft>
            </a:pPr>
            <a:r>
              <a:rPr sz="1400" b="1" dirty="0">
                <a:solidFill>
                  <a:srgbClr val="0F6CBD"/>
                </a:solidFill>
              </a:rPr>
              <a:t>•  </a:t>
            </a:r>
            <a:r>
              <a:rPr sz="1400" b="1" dirty="0">
                <a:solidFill>
                  <a:srgbClr val="0B1F3A"/>
                </a:solidFill>
              </a:rPr>
              <a:t>0</a:t>
            </a:r>
            <a:r>
              <a:rPr sz="1400" b="0" dirty="0">
                <a:solidFill>
                  <a:srgbClr val="0B1F3A"/>
                </a:solidFill>
              </a:rPr>
              <a:t> </a:t>
            </a:r>
            <a:r>
              <a:rPr sz="1400" b="0" dirty="0" err="1">
                <a:solidFill>
                  <a:srgbClr val="0B1F3A"/>
                </a:solidFill>
              </a:rPr>
              <a:t>decisioni</a:t>
            </a:r>
            <a:r>
              <a:rPr sz="1400" b="0" dirty="0">
                <a:solidFill>
                  <a:srgbClr val="0B1F3A"/>
                </a:solidFill>
              </a:rPr>
              <a:t> </a:t>
            </a:r>
            <a:r>
              <a:rPr sz="1400" b="0" dirty="0" err="1">
                <a:solidFill>
                  <a:srgbClr val="0B1F3A"/>
                </a:solidFill>
              </a:rPr>
              <a:t>importanti</a:t>
            </a:r>
            <a:r>
              <a:rPr sz="1400" b="0" dirty="0">
                <a:solidFill>
                  <a:srgbClr val="0B1F3A"/>
                </a:solidFill>
              </a:rPr>
              <a:t> partite senza </a:t>
            </a:r>
            <a:r>
              <a:rPr sz="1400" b="0" dirty="0" err="1">
                <a:solidFill>
                  <a:srgbClr val="0B1F3A"/>
                </a:solidFill>
              </a:rPr>
              <a:t>una</a:t>
            </a:r>
            <a:r>
              <a:rPr sz="1400" b="0" dirty="0">
                <a:solidFill>
                  <a:srgbClr val="0B1F3A"/>
                </a:solidFill>
              </a:rPr>
              <a:t> persona.</a:t>
            </a:r>
          </a:p>
          <a:p>
            <a:pPr>
              <a:spcAft>
                <a:spcPts val="800"/>
              </a:spcAft>
            </a:pPr>
            <a:r>
              <a:rPr sz="1400" b="1" dirty="0">
                <a:solidFill>
                  <a:srgbClr val="0F6CBD"/>
                </a:solidFill>
              </a:rPr>
              <a:t>•  </a:t>
            </a:r>
            <a:r>
              <a:rPr sz="1400" b="0" dirty="0">
                <a:solidFill>
                  <a:srgbClr val="0B1F3A"/>
                </a:solidFill>
              </a:rPr>
              <a:t>Le </a:t>
            </a:r>
            <a:r>
              <a:rPr sz="1400" b="0" dirty="0" err="1">
                <a:solidFill>
                  <a:srgbClr val="0B1F3A"/>
                </a:solidFill>
              </a:rPr>
              <a:t>persone</a:t>
            </a:r>
            <a:r>
              <a:rPr sz="1400" b="0" dirty="0">
                <a:solidFill>
                  <a:srgbClr val="0B1F3A"/>
                </a:solidFill>
              </a:rPr>
              <a:t> </a:t>
            </a:r>
            <a:r>
              <a:rPr sz="1400" b="0" dirty="0" err="1">
                <a:solidFill>
                  <a:srgbClr val="0B1F3A"/>
                </a:solidFill>
              </a:rPr>
              <a:t>hanno</a:t>
            </a:r>
            <a:r>
              <a:rPr sz="1400" b="0" dirty="0">
                <a:solidFill>
                  <a:srgbClr val="0B1F3A"/>
                </a:solidFill>
              </a:rPr>
              <a:t> </a:t>
            </a:r>
            <a:r>
              <a:rPr sz="1400" b="0" dirty="0" err="1">
                <a:solidFill>
                  <a:srgbClr val="0B1F3A"/>
                </a:solidFill>
              </a:rPr>
              <a:t>corretto</a:t>
            </a:r>
            <a:r>
              <a:rPr sz="1400" b="0" dirty="0">
                <a:solidFill>
                  <a:srgbClr val="0B1F3A"/>
                </a:solidFill>
              </a:rPr>
              <a:t> il </a:t>
            </a:r>
            <a:r>
              <a:rPr sz="1400" b="0" dirty="0" err="1">
                <a:solidFill>
                  <a:srgbClr val="0B1F3A"/>
                </a:solidFill>
              </a:rPr>
              <a:t>sistema</a:t>
            </a:r>
            <a:r>
              <a:rPr sz="1400" b="0" dirty="0">
                <a:solidFill>
                  <a:srgbClr val="0B1F3A"/>
                </a:solidFill>
              </a:rPr>
              <a:t> </a:t>
            </a:r>
            <a:r>
              <a:rPr sz="1400" b="1" dirty="0">
                <a:solidFill>
                  <a:srgbClr val="0B1F3A"/>
                </a:solidFill>
              </a:rPr>
              <a:t>35 volte </a:t>
            </a:r>
            <a:r>
              <a:rPr sz="1400" b="1" dirty="0" err="1">
                <a:solidFill>
                  <a:srgbClr val="0B1F3A"/>
                </a:solidFill>
              </a:rPr>
              <a:t>su</a:t>
            </a:r>
            <a:r>
              <a:rPr sz="1400" b="1" dirty="0">
                <a:solidFill>
                  <a:srgbClr val="0B1F3A"/>
                </a:solidFill>
              </a:rPr>
              <a:t> 100</a:t>
            </a:r>
            <a:r>
              <a:rPr sz="1400" b="0" dirty="0">
                <a:solidFill>
                  <a:srgbClr val="0B1F3A"/>
                </a:solidFill>
              </a:rPr>
              <a:t>: né </a:t>
            </a:r>
            <a:r>
              <a:rPr sz="1400" b="0" dirty="0" err="1">
                <a:solidFill>
                  <a:srgbClr val="0B1F3A"/>
                </a:solidFill>
              </a:rPr>
              <a:t>troppo</a:t>
            </a:r>
            <a:r>
              <a:rPr sz="1400" b="0" dirty="0">
                <a:solidFill>
                  <a:srgbClr val="0B1F3A"/>
                </a:solidFill>
              </a:rPr>
              <a:t> poco (</a:t>
            </a:r>
            <a:r>
              <a:rPr sz="1400" b="0" dirty="0" err="1">
                <a:solidFill>
                  <a:srgbClr val="0B1F3A"/>
                </a:solidFill>
              </a:rPr>
              <a:t>approvano</a:t>
            </a:r>
            <a:r>
              <a:rPr sz="1400" b="0" dirty="0">
                <a:solidFill>
                  <a:srgbClr val="0B1F3A"/>
                </a:solidFill>
              </a:rPr>
              <a:t> senza </a:t>
            </a:r>
            <a:r>
              <a:rPr sz="1400" b="0" dirty="0" err="1">
                <a:solidFill>
                  <a:srgbClr val="0B1F3A"/>
                </a:solidFill>
              </a:rPr>
              <a:t>leggere</a:t>
            </a:r>
            <a:r>
              <a:rPr sz="1400" b="0" dirty="0">
                <a:solidFill>
                  <a:srgbClr val="0B1F3A"/>
                </a:solidFill>
              </a:rPr>
              <a:t>) né </a:t>
            </a:r>
            <a:r>
              <a:rPr sz="1400" b="0" dirty="0" err="1">
                <a:solidFill>
                  <a:srgbClr val="0B1F3A"/>
                </a:solidFill>
              </a:rPr>
              <a:t>troppo</a:t>
            </a:r>
            <a:r>
              <a:rPr sz="1400" b="0" dirty="0">
                <a:solidFill>
                  <a:srgbClr val="0B1F3A"/>
                </a:solidFill>
              </a:rPr>
              <a:t> (</a:t>
            </a:r>
            <a:r>
              <a:rPr sz="1400" b="0" dirty="0" err="1">
                <a:solidFill>
                  <a:srgbClr val="0B1F3A"/>
                </a:solidFill>
              </a:rPr>
              <a:t>sistema</a:t>
            </a:r>
            <a:r>
              <a:rPr sz="1400" b="0" dirty="0">
                <a:solidFill>
                  <a:srgbClr val="0B1F3A"/>
                </a:solidFill>
              </a:rPr>
              <a:t> inutile).</a:t>
            </a:r>
          </a:p>
          <a:p>
            <a:pPr>
              <a:spcAft>
                <a:spcPts val="800"/>
              </a:spcAft>
            </a:pPr>
            <a:r>
              <a:rPr sz="1400" b="1" dirty="0">
                <a:solidFill>
                  <a:srgbClr val="0F6CBD"/>
                </a:solidFill>
              </a:rPr>
              <a:t>•  </a:t>
            </a:r>
            <a:r>
              <a:rPr sz="1400" b="1" dirty="0">
                <a:solidFill>
                  <a:srgbClr val="0B1F3A"/>
                </a:solidFill>
              </a:rPr>
              <a:t>6 </a:t>
            </a:r>
            <a:r>
              <a:rPr sz="1400" b="1" dirty="0" err="1">
                <a:solidFill>
                  <a:srgbClr val="0B1F3A"/>
                </a:solidFill>
              </a:rPr>
              <a:t>motivazioni</a:t>
            </a:r>
            <a:r>
              <a:rPr sz="1400" b="1" dirty="0">
                <a:solidFill>
                  <a:srgbClr val="0B1F3A"/>
                </a:solidFill>
              </a:rPr>
              <a:t> </a:t>
            </a:r>
            <a:r>
              <a:rPr sz="1400" b="1" dirty="0" err="1">
                <a:solidFill>
                  <a:srgbClr val="0B1F3A"/>
                </a:solidFill>
              </a:rPr>
              <a:t>su</a:t>
            </a:r>
            <a:r>
              <a:rPr sz="1400" b="1" dirty="0">
                <a:solidFill>
                  <a:srgbClr val="0B1F3A"/>
                </a:solidFill>
              </a:rPr>
              <a:t> 100</a:t>
            </a:r>
            <a:r>
              <a:rPr sz="1400" b="0" dirty="0">
                <a:solidFill>
                  <a:srgbClr val="0B1F3A"/>
                </a:solidFill>
              </a:rPr>
              <a:t> </a:t>
            </a:r>
            <a:r>
              <a:rPr sz="1400" b="0" dirty="0" err="1">
                <a:solidFill>
                  <a:srgbClr val="0B1F3A"/>
                </a:solidFill>
              </a:rPr>
              <a:t>troppo</a:t>
            </a:r>
            <a:r>
              <a:rPr sz="1400" b="0" dirty="0">
                <a:solidFill>
                  <a:srgbClr val="0B1F3A"/>
                </a:solidFill>
              </a:rPr>
              <a:t> </a:t>
            </a:r>
            <a:r>
              <a:rPr sz="1400" b="0" dirty="0" err="1">
                <a:solidFill>
                  <a:srgbClr val="0B1F3A"/>
                </a:solidFill>
              </a:rPr>
              <a:t>brevi</a:t>
            </a:r>
            <a:r>
              <a:rPr sz="1400" b="0" dirty="0">
                <a:solidFill>
                  <a:srgbClr val="0B1F3A"/>
                </a:solidFill>
              </a:rPr>
              <a:t>: </a:t>
            </a:r>
            <a:r>
              <a:rPr sz="1400" b="0" dirty="0" err="1">
                <a:solidFill>
                  <a:srgbClr val="0B1F3A"/>
                </a:solidFill>
              </a:rPr>
              <a:t>quella</a:t>
            </a:r>
            <a:r>
              <a:rPr sz="1400" b="0" dirty="0">
                <a:solidFill>
                  <a:srgbClr val="0B1F3A"/>
                </a:solidFill>
              </a:rPr>
              <a:t> di OP-022.</a:t>
            </a:r>
          </a:p>
          <a:p>
            <a:pPr>
              <a:spcAft>
                <a:spcPts val="800"/>
              </a:spcAft>
            </a:pPr>
            <a:r>
              <a:rPr sz="1400" b="1" dirty="0">
                <a:solidFill>
                  <a:srgbClr val="0F6CBD"/>
                </a:solidFill>
              </a:rPr>
              <a:t>•  </a:t>
            </a:r>
            <a:r>
              <a:rPr sz="1400" b="0" dirty="0">
                <a:solidFill>
                  <a:srgbClr val="0B1F3A"/>
                </a:solidFill>
              </a:rPr>
              <a:t>Tempo </a:t>
            </a:r>
            <a:r>
              <a:rPr sz="1400" b="0" dirty="0" err="1">
                <a:solidFill>
                  <a:srgbClr val="0B1F3A"/>
                </a:solidFill>
              </a:rPr>
              <a:t>tipico</a:t>
            </a:r>
            <a:r>
              <a:rPr sz="1400" b="0" dirty="0">
                <a:solidFill>
                  <a:srgbClr val="0B1F3A"/>
                </a:solidFill>
              </a:rPr>
              <a:t> </a:t>
            </a:r>
            <a:r>
              <a:rPr sz="1400" b="0" dirty="0" err="1">
                <a:solidFill>
                  <a:srgbClr val="0B1F3A"/>
                </a:solidFill>
              </a:rPr>
              <a:t>dall'arrivo</a:t>
            </a:r>
            <a:r>
              <a:rPr sz="1400" b="0" dirty="0">
                <a:solidFill>
                  <a:srgbClr val="0B1F3A"/>
                </a:solidFill>
              </a:rPr>
              <a:t> in coda alla </a:t>
            </a:r>
            <a:r>
              <a:rPr sz="1400" b="0" dirty="0" err="1">
                <a:solidFill>
                  <a:srgbClr val="0B1F3A"/>
                </a:solidFill>
              </a:rPr>
              <a:t>decisione</a:t>
            </a:r>
            <a:r>
              <a:rPr sz="1400" b="0" dirty="0">
                <a:solidFill>
                  <a:srgbClr val="0B1F3A"/>
                </a:solidFill>
              </a:rPr>
              <a:t>: </a:t>
            </a:r>
            <a:r>
              <a:rPr sz="1400" b="1" dirty="0">
                <a:solidFill>
                  <a:srgbClr val="0B1F3A"/>
                </a:solidFill>
              </a:rPr>
              <a:t>8 </a:t>
            </a:r>
            <a:r>
              <a:rPr sz="1400" b="1" dirty="0" err="1">
                <a:solidFill>
                  <a:srgbClr val="0B1F3A"/>
                </a:solidFill>
              </a:rPr>
              <a:t>minuti</a:t>
            </a:r>
            <a:r>
              <a:rPr sz="1400" b="0" dirty="0">
                <a:solidFill>
                  <a:srgbClr val="0B1F3A"/>
                </a:solidFill>
              </a:rPr>
              <a:t>.</a:t>
            </a:r>
          </a:p>
          <a:p>
            <a:pPr>
              <a:spcAft>
                <a:spcPts val="800"/>
              </a:spcAft>
            </a:pPr>
            <a:r>
              <a:rPr sz="1400" b="1" dirty="0">
                <a:solidFill>
                  <a:srgbClr val="0F6CBD"/>
                </a:solidFill>
              </a:rPr>
              <a:t>•  </a:t>
            </a:r>
            <a:r>
              <a:rPr sz="1400" b="1" dirty="0">
                <a:solidFill>
                  <a:srgbClr val="0B1F3A"/>
                </a:solidFill>
              </a:rPr>
              <a:t>96 </a:t>
            </a:r>
            <a:r>
              <a:rPr sz="1400" b="1" dirty="0" err="1">
                <a:solidFill>
                  <a:srgbClr val="0B1F3A"/>
                </a:solidFill>
              </a:rPr>
              <a:t>spiegazioni</a:t>
            </a:r>
            <a:r>
              <a:rPr sz="1400" b="1" dirty="0">
                <a:solidFill>
                  <a:srgbClr val="0B1F3A"/>
                </a:solidFill>
              </a:rPr>
              <a:t> </a:t>
            </a:r>
            <a:r>
              <a:rPr sz="1400" b="1" dirty="0" err="1">
                <a:solidFill>
                  <a:srgbClr val="0B1F3A"/>
                </a:solidFill>
              </a:rPr>
              <a:t>su</a:t>
            </a:r>
            <a:r>
              <a:rPr sz="1400" b="1" dirty="0">
                <a:solidFill>
                  <a:srgbClr val="0B1F3A"/>
                </a:solidFill>
              </a:rPr>
              <a:t> 100</a:t>
            </a:r>
            <a:r>
              <a:rPr sz="1400" b="0" dirty="0">
                <a:solidFill>
                  <a:srgbClr val="0B1F3A"/>
                </a:solidFill>
              </a:rPr>
              <a:t> </a:t>
            </a:r>
            <a:r>
              <a:rPr sz="1400" b="0" dirty="0" err="1">
                <a:solidFill>
                  <a:srgbClr val="0B1F3A"/>
                </a:solidFill>
              </a:rPr>
              <a:t>dall'LLM</a:t>
            </a:r>
            <a:r>
              <a:rPr sz="1400" b="0" dirty="0">
                <a:solidFill>
                  <a:srgbClr val="0B1F3A"/>
                </a:solidFill>
              </a:rPr>
              <a:t>; 3 </a:t>
            </a:r>
            <a:r>
              <a:rPr sz="1400" b="0" dirty="0" err="1">
                <a:solidFill>
                  <a:srgbClr val="0B1F3A"/>
                </a:solidFill>
              </a:rPr>
              <a:t>scartate</a:t>
            </a:r>
            <a:r>
              <a:rPr sz="1400" b="0" dirty="0">
                <a:solidFill>
                  <a:srgbClr val="0B1F3A"/>
                </a:solidFill>
              </a:rPr>
              <a:t> </a:t>
            </a:r>
            <a:r>
              <a:rPr sz="1400" b="0" dirty="0" err="1">
                <a:solidFill>
                  <a:srgbClr val="0B1F3A"/>
                </a:solidFill>
              </a:rPr>
              <a:t>dai</a:t>
            </a:r>
            <a:r>
              <a:rPr sz="1400" b="0" dirty="0">
                <a:solidFill>
                  <a:srgbClr val="0B1F3A"/>
                </a:solidFill>
              </a:rPr>
              <a:t> </a:t>
            </a:r>
            <a:r>
              <a:rPr sz="1400" b="0" dirty="0" err="1">
                <a:solidFill>
                  <a:srgbClr val="0B1F3A"/>
                </a:solidFill>
              </a:rPr>
              <a:t>controlli</a:t>
            </a:r>
            <a:r>
              <a:rPr sz="1400" b="0" dirty="0">
                <a:solidFill>
                  <a:srgbClr val="0B1F3A"/>
                </a:solidFill>
              </a:rPr>
              <a:t> </a:t>
            </a:r>
            <a:r>
              <a:rPr sz="1400" b="0" dirty="0" err="1">
                <a:solidFill>
                  <a:srgbClr val="0B1F3A"/>
                </a:solidFill>
              </a:rPr>
              <a:t>perché</a:t>
            </a:r>
            <a:r>
              <a:rPr sz="1400" b="0" dirty="0">
                <a:solidFill>
                  <a:srgbClr val="0B1F3A"/>
                </a:solidFill>
              </a:rPr>
              <a:t> non </a:t>
            </a:r>
            <a:r>
              <a:rPr sz="1400" b="0" dirty="0" err="1">
                <a:solidFill>
                  <a:srgbClr val="0B1F3A"/>
                </a:solidFill>
              </a:rPr>
              <a:t>citavano</a:t>
            </a:r>
            <a:r>
              <a:rPr sz="1400" b="0" dirty="0">
                <a:solidFill>
                  <a:srgbClr val="0B1F3A"/>
                </a:solidFill>
              </a:rPr>
              <a:t> il </a:t>
            </a:r>
            <a:r>
              <a:rPr sz="1400" b="0" dirty="0" err="1">
                <a:solidFill>
                  <a:srgbClr val="0B1F3A"/>
                </a:solidFill>
              </a:rPr>
              <a:t>motivo</a:t>
            </a:r>
            <a:r>
              <a:rPr sz="1400" b="0" dirty="0">
                <a:solidFill>
                  <a:srgbClr val="0B1F3A"/>
                </a:solidFill>
              </a:rPr>
              <a:t> </a:t>
            </a:r>
            <a:r>
              <a:rPr sz="1400" b="0" dirty="0" err="1">
                <a:solidFill>
                  <a:srgbClr val="0B1F3A"/>
                </a:solidFill>
              </a:rPr>
              <a:t>principale</a:t>
            </a:r>
            <a:r>
              <a:rPr sz="1400" b="0" dirty="0">
                <a:solidFill>
                  <a:srgbClr val="0B1F3A"/>
                </a:solidFill>
              </a:rPr>
              <a:t>.</a:t>
            </a:r>
          </a:p>
          <a:p>
            <a:pPr>
              <a:spcAft>
                <a:spcPts val="800"/>
              </a:spcAft>
            </a:pPr>
            <a:r>
              <a:rPr sz="1400" b="1" dirty="0">
                <a:solidFill>
                  <a:srgbClr val="0F6CBD"/>
                </a:solidFill>
              </a:rPr>
              <a:t>•  </a:t>
            </a:r>
            <a:r>
              <a:rPr sz="1400" b="0" dirty="0">
                <a:solidFill>
                  <a:srgbClr val="0B1F3A"/>
                </a:solidFill>
              </a:rPr>
              <a:t>Coda da 45 a 28 </a:t>
            </a:r>
            <a:r>
              <a:rPr sz="1400" b="0" dirty="0" err="1">
                <a:solidFill>
                  <a:srgbClr val="0B1F3A"/>
                </a:solidFill>
              </a:rPr>
              <a:t>decisioni</a:t>
            </a:r>
            <a:r>
              <a:rPr sz="1400" b="0" dirty="0">
                <a:solidFill>
                  <a:srgbClr val="0B1F3A"/>
                </a:solidFill>
              </a:rPr>
              <a:t>; </a:t>
            </a:r>
            <a:r>
              <a:rPr sz="1400" b="0" dirty="0" err="1">
                <a:solidFill>
                  <a:srgbClr val="0B1F3A"/>
                </a:solidFill>
              </a:rPr>
              <a:t>registro</a:t>
            </a:r>
            <a:r>
              <a:rPr sz="1400" b="0" dirty="0">
                <a:solidFill>
                  <a:srgbClr val="0B1F3A"/>
                </a:solidFill>
              </a:rPr>
              <a:t> </a:t>
            </a:r>
            <a:r>
              <a:rPr sz="1400" b="1" dirty="0" err="1">
                <a:solidFill>
                  <a:srgbClr val="0B1F3A"/>
                </a:solidFill>
              </a:rPr>
              <a:t>integro</a:t>
            </a:r>
            <a:r>
              <a:rPr sz="1400" b="0" dirty="0">
                <a:solidFill>
                  <a:srgbClr val="0B1F3A"/>
                </a:solidFill>
              </a:rPr>
              <a:t>.</a:t>
            </a:r>
          </a:p>
        </p:txBody>
      </p:sp>
      <p:graphicFrame>
        <p:nvGraphicFramePr>
          <p:cNvPr id="8" name="Table 7"/>
          <p:cNvGraphicFramePr>
            <a:graphicFrameLocks noGrp="1"/>
          </p:cNvGraphicFramePr>
          <p:nvPr/>
        </p:nvGraphicFramePr>
        <p:xfrm>
          <a:off x="6035040" y="1280160"/>
          <a:ext cx="5852160" cy="3291840"/>
        </p:xfrm>
        <a:graphic>
          <a:graphicData uri="http://schemas.openxmlformats.org/drawingml/2006/table">
            <a:tbl>
              <a:tblPr firstRow="1" bandRow="1">
                <a:tableStyleId>{5C22544A-7EE6-4342-B048-85BDC9FD1C3A}</a:tableStyleId>
              </a:tblPr>
              <a:tblGrid>
                <a:gridCol w="1188720">
                  <a:extLst>
                    <a:ext uri="{9D8B030D-6E8A-4147-A177-3AD203B41FA5}">
                      <a16:colId xmlns:a16="http://schemas.microsoft.com/office/drawing/2014/main" val="20000"/>
                    </a:ext>
                  </a:extLst>
                </a:gridCol>
                <a:gridCol w="73152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gridCol w="2743200">
                  <a:extLst>
                    <a:ext uri="{9D8B030D-6E8A-4147-A177-3AD203B41FA5}">
                      <a16:colId xmlns:a16="http://schemas.microsoft.com/office/drawing/2014/main" val="20003"/>
                    </a:ext>
                  </a:extLst>
                </a:gridCol>
              </a:tblGrid>
              <a:tr h="658368">
                <a:tc>
                  <a:txBody>
                    <a:bodyPr/>
                    <a:lstStyle/>
                    <a:p>
                      <a:r>
                        <a:rPr sz="1200" b="1"/>
                        <a:t>Decisione</a:t>
                      </a:r>
                    </a:p>
                  </a:txBody>
                  <a:tcPr/>
                </a:tc>
                <a:tc>
                  <a:txBody>
                    <a:bodyPr/>
                    <a:lstStyle/>
                    <a:p>
                      <a:r>
                        <a:rPr sz="1200" b="1"/>
                        <a:t>Quante</a:t>
                      </a:r>
                    </a:p>
                  </a:txBody>
                  <a:tcPr/>
                </a:tc>
                <a:tc>
                  <a:txBody>
                    <a:bodyPr/>
                    <a:lstStyle/>
                    <a:p>
                      <a:r>
                        <a:rPr sz="1200" b="1"/>
                        <a:t>Guasto vero registrato</a:t>
                      </a:r>
                    </a:p>
                  </a:txBody>
                  <a:tcPr/>
                </a:tc>
                <a:tc>
                  <a:txBody>
                    <a:bodyPr/>
                    <a:lstStyle/>
                    <a:p>
                      <a:r>
                        <a:rPr sz="1200" b="1"/>
                        <a:t>Cosa ci dice</a:t>
                      </a:r>
                    </a:p>
                  </a:txBody>
                  <a:tcPr/>
                </a:tc>
                <a:extLst>
                  <a:ext uri="{0D108BD9-81ED-4DB2-BD59-A6C34878D82A}">
                    <a16:rowId xmlns:a16="http://schemas.microsoft.com/office/drawing/2014/main" val="10000"/>
                  </a:ext>
                </a:extLst>
              </a:tr>
              <a:tr h="658368">
                <a:tc>
                  <a:txBody>
                    <a:bodyPr/>
                    <a:lstStyle/>
                    <a:p>
                      <a:r>
                        <a:rPr sz="1200" b="1"/>
                        <a:t>Approvate</a:t>
                      </a:r>
                    </a:p>
                  </a:txBody>
                  <a:tcPr/>
                </a:tc>
                <a:tc>
                  <a:txBody>
                    <a:bodyPr/>
                    <a:lstStyle/>
                    <a:p>
                      <a:r>
                        <a:rPr sz="1200" b="0"/>
                        <a:t>11</a:t>
                      </a:r>
                    </a:p>
                  </a:txBody>
                  <a:tcPr/>
                </a:tc>
                <a:tc>
                  <a:txBody>
                    <a:bodyPr/>
                    <a:lstStyle/>
                    <a:p>
                      <a:r>
                        <a:rPr sz="1200" b="0"/>
                        <a:t>5</a:t>
                      </a:r>
                    </a:p>
                  </a:txBody>
                  <a:tcPr/>
                </a:tc>
                <a:tc>
                  <a:txBody>
                    <a:bodyPr/>
                    <a:lstStyle/>
                    <a:p>
                      <a:r>
                        <a:rPr sz="1200" b="0"/>
                        <a:t>6 squadre a vuoto, ma 3 sono al Sud dove i guasti si registrano meno</a:t>
                      </a:r>
                    </a:p>
                  </a:txBody>
                  <a:tcPr/>
                </a:tc>
                <a:extLst>
                  <a:ext uri="{0D108BD9-81ED-4DB2-BD59-A6C34878D82A}">
                    <a16:rowId xmlns:a16="http://schemas.microsoft.com/office/drawing/2014/main" val="10001"/>
                  </a:ext>
                </a:extLst>
              </a:tr>
              <a:tr h="658368">
                <a:tc>
                  <a:txBody>
                    <a:bodyPr/>
                    <a:lstStyle/>
                    <a:p>
                      <a:r>
                        <a:rPr sz="1200" b="1"/>
                        <a:t>Corrette</a:t>
                      </a:r>
                    </a:p>
                  </a:txBody>
                  <a:tcPr/>
                </a:tc>
                <a:tc>
                  <a:txBody>
                    <a:bodyPr/>
                    <a:lstStyle/>
                    <a:p>
                      <a:r>
                        <a:rPr sz="1200" b="0"/>
                        <a:t>3</a:t>
                      </a:r>
                    </a:p>
                  </a:txBody>
                  <a:tcPr/>
                </a:tc>
                <a:tc>
                  <a:txBody>
                    <a:bodyPr/>
                    <a:lstStyle/>
                    <a:p>
                      <a:r>
                        <a:rPr sz="1200" b="0"/>
                        <a:t>2</a:t>
                      </a:r>
                    </a:p>
                  </a:txBody>
                  <a:tcPr/>
                </a:tc>
                <a:tc>
                  <a:txBody>
                    <a:bodyPr/>
                    <a:lstStyle/>
                    <a:p>
                      <a:r>
                        <a:rPr sz="1200" b="0"/>
                        <a:t>1 ben fatta (ospedale → controllo urgente), 1 rischiosa (guasto vero declassato)</a:t>
                      </a:r>
                    </a:p>
                  </a:txBody>
                  <a:tcPr/>
                </a:tc>
                <a:extLst>
                  <a:ext uri="{0D108BD9-81ED-4DB2-BD59-A6C34878D82A}">
                    <a16:rowId xmlns:a16="http://schemas.microsoft.com/office/drawing/2014/main" val="10002"/>
                  </a:ext>
                </a:extLst>
              </a:tr>
              <a:tr h="658368">
                <a:tc>
                  <a:txBody>
                    <a:bodyPr/>
                    <a:lstStyle/>
                    <a:p>
                      <a:r>
                        <a:rPr sz="1200" b="1"/>
                        <a:t>Rifiutate</a:t>
                      </a:r>
                    </a:p>
                  </a:txBody>
                  <a:tcPr/>
                </a:tc>
                <a:tc>
                  <a:txBody>
                    <a:bodyPr/>
                    <a:lstStyle/>
                    <a:p>
                      <a:r>
                        <a:rPr sz="1200" b="0"/>
                        <a:t>3</a:t>
                      </a:r>
                    </a:p>
                  </a:txBody>
                  <a:tcPr/>
                </a:tc>
                <a:tc>
                  <a:txBody>
                    <a:bodyPr/>
                    <a:lstStyle/>
                    <a:p>
                      <a:r>
                        <a:rPr sz="1200" b="0"/>
                        <a:t>1</a:t>
                      </a:r>
                    </a:p>
                  </a:txBody>
                  <a:tcPr/>
                </a:tc>
                <a:tc>
                  <a:txBody>
                    <a:bodyPr/>
                    <a:lstStyle/>
                    <a:p>
                      <a:r>
                        <a:rPr sz="1200" b="0"/>
                        <a:t>2 giuste, 1 sbagliata: un guasto vero nelle Isole</a:t>
                      </a:r>
                    </a:p>
                  </a:txBody>
                  <a:tcPr/>
                </a:tc>
                <a:extLst>
                  <a:ext uri="{0D108BD9-81ED-4DB2-BD59-A6C34878D82A}">
                    <a16:rowId xmlns:a16="http://schemas.microsoft.com/office/drawing/2014/main" val="10003"/>
                  </a:ext>
                </a:extLst>
              </a:tr>
              <a:tr h="658368">
                <a:tc>
                  <a:txBody>
                    <a:bodyPr/>
                    <a:lstStyle/>
                    <a:p>
                      <a:r>
                        <a:rPr sz="1200" b="1"/>
                        <a:t>Escalation</a:t>
                      </a:r>
                    </a:p>
                  </a:txBody>
                  <a:tcPr/>
                </a:tc>
                <a:tc>
                  <a:txBody>
                    <a:bodyPr/>
                    <a:lstStyle/>
                    <a:p>
                      <a:r>
                        <a:rPr sz="1200" b="0"/>
                        <a:t>1</a:t>
                      </a:r>
                    </a:p>
                  </a:txBody>
                  <a:tcPr/>
                </a:tc>
                <a:tc>
                  <a:txBody>
                    <a:bodyPr/>
                    <a:lstStyle/>
                    <a:p>
                      <a:r>
                        <a:rPr sz="1200" b="0"/>
                        <a:t>0</a:t>
                      </a:r>
                    </a:p>
                  </a:txBody>
                  <a:tcPr/>
                </a:tc>
                <a:tc>
                  <a:txBody>
                    <a:bodyPr/>
                    <a:lstStyle/>
                    <a:p>
                      <a:r>
                        <a:rPr sz="1200" b="0"/>
                        <a:t>in attesa del responsabile</a:t>
                      </a:r>
                    </a:p>
                  </a:txBody>
                  <a:tcPr/>
                </a:tc>
                <a:extLst>
                  <a:ext uri="{0D108BD9-81ED-4DB2-BD59-A6C34878D82A}">
                    <a16:rowId xmlns:a16="http://schemas.microsoft.com/office/drawing/2014/main" val="10004"/>
                  </a:ext>
                </a:extLst>
              </a:tr>
            </a:tbl>
          </a:graphicData>
        </a:graphic>
      </p:graphicFrame>
      <p:sp>
        <p:nvSpPr>
          <p:cNvPr id="9" name="Rectangle 8"/>
          <p:cNvSpPr/>
          <p:nvPr/>
        </p:nvSpPr>
        <p:spPr>
          <a:xfrm>
            <a:off x="6035040" y="4846320"/>
            <a:ext cx="5852160" cy="1783080"/>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6035040" y="4846320"/>
            <a:ext cx="91440" cy="178308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263640" y="4919472"/>
            <a:ext cx="5532120" cy="1691640"/>
          </a:xfrm>
          <a:prstGeom prst="rect">
            <a:avLst/>
          </a:prstGeom>
          <a:noFill/>
        </p:spPr>
        <p:txBody>
          <a:bodyPr wrap="square">
            <a:spAutoFit/>
          </a:bodyPr>
          <a:lstStyle/>
          <a:p>
            <a:pPr>
              <a:spcAft>
                <a:spcPts val="800"/>
              </a:spcAft>
            </a:pPr>
            <a:r>
              <a:rPr sz="1300" b="1" dirty="0">
                <a:solidFill>
                  <a:srgbClr val="0B1F3A"/>
                </a:solidFill>
              </a:rPr>
              <a:t>La </a:t>
            </a:r>
            <a:r>
              <a:rPr sz="1300" b="1" dirty="0" err="1">
                <a:solidFill>
                  <a:srgbClr val="0B1F3A"/>
                </a:solidFill>
              </a:rPr>
              <a:t>lezione</a:t>
            </a:r>
            <a:endParaRPr sz="1300" b="1" dirty="0">
              <a:solidFill>
                <a:srgbClr val="0B1F3A"/>
              </a:solidFill>
            </a:endParaRPr>
          </a:p>
          <a:p>
            <a:pPr>
              <a:spcAft>
                <a:spcPts val="800"/>
              </a:spcAft>
            </a:pPr>
            <a:r>
              <a:rPr sz="1300" b="0" dirty="0" err="1">
                <a:solidFill>
                  <a:srgbClr val="0B1F3A"/>
                </a:solidFill>
              </a:rPr>
              <a:t>Anche</a:t>
            </a:r>
            <a:r>
              <a:rPr sz="1300" b="0" dirty="0">
                <a:solidFill>
                  <a:srgbClr val="0B1F3A"/>
                </a:solidFill>
              </a:rPr>
              <a:t> </a:t>
            </a:r>
            <a:r>
              <a:rPr sz="1300" b="0" dirty="0" err="1">
                <a:solidFill>
                  <a:srgbClr val="0B1F3A"/>
                </a:solidFill>
              </a:rPr>
              <a:t>l'umano</a:t>
            </a:r>
            <a:r>
              <a:rPr sz="1300" b="0" dirty="0">
                <a:solidFill>
                  <a:srgbClr val="0B1F3A"/>
                </a:solidFill>
              </a:rPr>
              <a:t> </a:t>
            </a:r>
            <a:r>
              <a:rPr sz="1300" b="0" dirty="0" err="1">
                <a:solidFill>
                  <a:srgbClr val="0B1F3A"/>
                </a:solidFill>
              </a:rPr>
              <a:t>sbaglia</a:t>
            </a:r>
            <a:r>
              <a:rPr sz="1300" b="0" dirty="0">
                <a:solidFill>
                  <a:srgbClr val="0B1F3A"/>
                </a:solidFill>
              </a:rPr>
              <a:t>: delle 6 </a:t>
            </a:r>
            <a:r>
              <a:rPr sz="1300" b="0" dirty="0" err="1">
                <a:solidFill>
                  <a:srgbClr val="0B1F3A"/>
                </a:solidFill>
              </a:rPr>
              <a:t>correzioni</a:t>
            </a:r>
            <a:r>
              <a:rPr sz="1300" b="0" dirty="0">
                <a:solidFill>
                  <a:srgbClr val="0B1F3A"/>
                </a:solidFill>
              </a:rPr>
              <a:t>, 2 </a:t>
            </a:r>
            <a:r>
              <a:rPr sz="1300" b="0" dirty="0" err="1">
                <a:solidFill>
                  <a:srgbClr val="0B1F3A"/>
                </a:solidFill>
              </a:rPr>
              <a:t>sono</a:t>
            </a:r>
            <a:r>
              <a:rPr sz="1300" b="0" dirty="0">
                <a:solidFill>
                  <a:srgbClr val="0B1F3A"/>
                </a:solidFill>
              </a:rPr>
              <a:t> </a:t>
            </a:r>
            <a:r>
              <a:rPr sz="1300" b="0" dirty="0" err="1">
                <a:solidFill>
                  <a:srgbClr val="0B1F3A"/>
                </a:solidFill>
              </a:rPr>
              <a:t>andate</a:t>
            </a:r>
            <a:r>
              <a:rPr sz="1300" b="0" dirty="0">
                <a:solidFill>
                  <a:srgbClr val="0B1F3A"/>
                </a:solidFill>
              </a:rPr>
              <a:t> </a:t>
            </a:r>
            <a:r>
              <a:rPr sz="1300" b="0" dirty="0" err="1">
                <a:solidFill>
                  <a:srgbClr val="0B1F3A"/>
                </a:solidFill>
              </a:rPr>
              <a:t>contro</a:t>
            </a:r>
            <a:r>
              <a:rPr sz="1300" b="0" dirty="0">
                <a:solidFill>
                  <a:srgbClr val="0B1F3A"/>
                </a:solidFill>
              </a:rPr>
              <a:t> un </a:t>
            </a:r>
            <a:r>
              <a:rPr sz="1300" b="0" dirty="0" err="1">
                <a:solidFill>
                  <a:srgbClr val="0B1F3A"/>
                </a:solidFill>
              </a:rPr>
              <a:t>guasto</a:t>
            </a:r>
            <a:r>
              <a:rPr sz="1300" b="0" dirty="0">
                <a:solidFill>
                  <a:srgbClr val="0B1F3A"/>
                </a:solidFill>
              </a:rPr>
              <a:t> </a:t>
            </a:r>
            <a:r>
              <a:rPr sz="1300" b="0" dirty="0" err="1">
                <a:solidFill>
                  <a:srgbClr val="0B1F3A"/>
                </a:solidFill>
              </a:rPr>
              <a:t>vero</a:t>
            </a:r>
            <a:r>
              <a:rPr sz="1300" b="0" dirty="0">
                <a:solidFill>
                  <a:srgbClr val="0B1F3A"/>
                </a:solidFill>
              </a:rPr>
              <a:t>, </a:t>
            </a:r>
            <a:r>
              <a:rPr sz="1300" b="0" dirty="0" err="1">
                <a:solidFill>
                  <a:srgbClr val="0B1F3A"/>
                </a:solidFill>
              </a:rPr>
              <a:t>entrambe</a:t>
            </a:r>
            <a:r>
              <a:rPr sz="1300" b="0" dirty="0">
                <a:solidFill>
                  <a:srgbClr val="0B1F3A"/>
                </a:solidFill>
              </a:rPr>
              <a:t> </a:t>
            </a:r>
            <a:r>
              <a:rPr sz="1300" b="0" dirty="0" err="1">
                <a:solidFill>
                  <a:srgbClr val="0B1F3A"/>
                </a:solidFill>
              </a:rPr>
              <a:t>nelle</a:t>
            </a:r>
            <a:r>
              <a:rPr sz="1300" b="0" dirty="0">
                <a:solidFill>
                  <a:srgbClr val="0B1F3A"/>
                </a:solidFill>
              </a:rPr>
              <a:t> </a:t>
            </a:r>
            <a:r>
              <a:rPr sz="1300" b="0" dirty="0" err="1">
                <a:solidFill>
                  <a:srgbClr val="0B1F3A"/>
                </a:solidFill>
              </a:rPr>
              <a:t>Isole</a:t>
            </a:r>
            <a:r>
              <a:rPr sz="1300" b="0" dirty="0">
                <a:solidFill>
                  <a:srgbClr val="0B1F3A"/>
                </a:solidFill>
              </a:rPr>
              <a:t>. Per </a:t>
            </a:r>
            <a:r>
              <a:rPr sz="1300" b="0" dirty="0" err="1">
                <a:solidFill>
                  <a:srgbClr val="0B1F3A"/>
                </a:solidFill>
              </a:rPr>
              <a:t>questo</a:t>
            </a:r>
            <a:r>
              <a:rPr sz="1300" b="0" dirty="0">
                <a:solidFill>
                  <a:srgbClr val="0B1F3A"/>
                </a:solidFill>
              </a:rPr>
              <a:t> la dashboard </a:t>
            </a:r>
            <a:r>
              <a:rPr sz="1300" b="0" dirty="0" err="1">
                <a:solidFill>
                  <a:srgbClr val="0B1F3A"/>
                </a:solidFill>
              </a:rPr>
              <a:t>misura</a:t>
            </a:r>
            <a:r>
              <a:rPr sz="1300" b="0" dirty="0">
                <a:solidFill>
                  <a:srgbClr val="0B1F3A"/>
                </a:solidFill>
              </a:rPr>
              <a:t> le </a:t>
            </a:r>
            <a:r>
              <a:rPr sz="1300" b="0" dirty="0" err="1">
                <a:solidFill>
                  <a:srgbClr val="0B1F3A"/>
                </a:solidFill>
              </a:rPr>
              <a:t>correzioni</a:t>
            </a:r>
            <a:r>
              <a:rPr sz="1300" b="0" dirty="0">
                <a:solidFill>
                  <a:srgbClr val="0B1F3A"/>
                </a:solidFill>
              </a:rPr>
              <a:t> per zona: è proprio </a:t>
            </a:r>
            <a:r>
              <a:rPr sz="1300" b="0" dirty="0" err="1">
                <a:solidFill>
                  <a:srgbClr val="0B1F3A"/>
                </a:solidFill>
              </a:rPr>
              <a:t>lì</a:t>
            </a:r>
            <a:r>
              <a:rPr sz="1300" b="0" dirty="0">
                <a:solidFill>
                  <a:srgbClr val="0B1F3A"/>
                </a:solidFill>
              </a:rPr>
              <a:t> </a:t>
            </a:r>
            <a:r>
              <a:rPr sz="1300" b="0" dirty="0" err="1">
                <a:solidFill>
                  <a:srgbClr val="0B1F3A"/>
                </a:solidFill>
              </a:rPr>
              <a:t>che</a:t>
            </a:r>
            <a:r>
              <a:rPr sz="1300" b="0" dirty="0">
                <a:solidFill>
                  <a:srgbClr val="0B1F3A"/>
                </a:solidFill>
              </a:rPr>
              <a:t> il </a:t>
            </a:r>
            <a:r>
              <a:rPr sz="1300" b="0" dirty="0" err="1">
                <a:solidFill>
                  <a:srgbClr val="0B1F3A"/>
                </a:solidFill>
              </a:rPr>
              <a:t>segnale</a:t>
            </a:r>
            <a:r>
              <a:rPr sz="1300" b="0" dirty="0">
                <a:solidFill>
                  <a:srgbClr val="0B1F3A"/>
                </a:solidFill>
              </a:rPr>
              <a:t> è </a:t>
            </a:r>
            <a:r>
              <a:rPr sz="1300" b="0" dirty="0" err="1">
                <a:solidFill>
                  <a:srgbClr val="0B1F3A"/>
                </a:solidFill>
              </a:rPr>
              <a:t>salito</a:t>
            </a:r>
            <a:r>
              <a:rPr sz="1300" b="0" dirty="0">
                <a:solidFill>
                  <a:srgbClr val="0B1F3A"/>
                </a:solidFill>
              </a:rPr>
              <a:t>.</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1440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164592"/>
            <a:ext cx="9418320" cy="640080"/>
          </a:xfrm>
          <a:prstGeom prst="rect">
            <a:avLst/>
          </a:prstGeom>
          <a:noFill/>
        </p:spPr>
        <p:txBody>
          <a:bodyPr wrap="square">
            <a:spAutoFit/>
          </a:bodyPr>
          <a:lstStyle/>
          <a:p>
            <a:pPr>
              <a:spcAft>
                <a:spcPts val="800"/>
              </a:spcAft>
            </a:pPr>
            <a:r>
              <a:rPr sz="2800" b="1">
                <a:solidFill>
                  <a:srgbClr val="FFFFFF"/>
                </a:solidFill>
              </a:rPr>
              <a:t>Chi controlla i controllori</a:t>
            </a:r>
          </a:p>
        </p:txBody>
      </p:sp>
      <p:sp>
        <p:nvSpPr>
          <p:cNvPr id="4" name="TextBox 3"/>
          <p:cNvSpPr txBox="1"/>
          <p:nvPr/>
        </p:nvSpPr>
        <p:spPr>
          <a:xfrm>
            <a:off x="9144000" y="274320"/>
            <a:ext cx="2834640" cy="457200"/>
          </a:xfrm>
          <a:prstGeom prst="rect">
            <a:avLst/>
          </a:prstGeom>
          <a:noFill/>
        </p:spPr>
        <p:txBody>
          <a:bodyPr wrap="square">
            <a:spAutoFit/>
          </a:bodyPr>
          <a:lstStyle/>
          <a:p>
            <a:pPr algn="r">
              <a:spcAft>
                <a:spcPts val="800"/>
              </a:spcAft>
            </a:pPr>
            <a:r>
              <a:rPr sz="1300" b="0">
                <a:solidFill>
                  <a:srgbClr val="C9D8EA"/>
                </a:solidFill>
              </a:rPr>
              <a:t>Art. 14(4)(b) · A2-A4 · C3</a:t>
            </a:r>
          </a:p>
        </p:txBody>
      </p:sp>
      <p:sp>
        <p:nvSpPr>
          <p:cNvPr id="5" name="Rectangle 4"/>
          <p:cNvSpPr/>
          <p:nvPr/>
        </p:nvSpPr>
        <p:spPr>
          <a:xfrm>
            <a:off x="0" y="914400"/>
            <a:ext cx="12191695" cy="54864"/>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kpi_3.png"/>
          <p:cNvPicPr>
            <a:picLocks noChangeAspect="1"/>
          </p:cNvPicPr>
          <p:nvPr/>
        </p:nvPicPr>
        <p:blipFill>
          <a:blip r:embed="rId3"/>
          <a:stretch>
            <a:fillRect/>
          </a:stretch>
        </p:blipFill>
        <p:spPr>
          <a:xfrm>
            <a:off x="365760" y="1234440"/>
            <a:ext cx="5760720" cy="2014086"/>
          </a:xfrm>
          <a:prstGeom prst="rect">
            <a:avLst/>
          </a:prstGeom>
          <a:ln w="12700">
            <a:solidFill>
              <a:srgbClr val="D0D5DD"/>
            </a:solidFill>
          </a:ln>
        </p:spPr>
      </p:pic>
      <p:pic>
        <p:nvPicPr>
          <p:cNvPr id="7" name="Picture 6" descr="bias_5.png"/>
          <p:cNvPicPr>
            <a:picLocks noChangeAspect="1"/>
          </p:cNvPicPr>
          <p:nvPr/>
        </p:nvPicPr>
        <p:blipFill>
          <a:blip r:embed="rId4"/>
          <a:stretch>
            <a:fillRect/>
          </a:stretch>
        </p:blipFill>
        <p:spPr>
          <a:xfrm>
            <a:off x="373320" y="3840480"/>
            <a:ext cx="5745600" cy="1828800"/>
          </a:xfrm>
          <a:prstGeom prst="rect">
            <a:avLst/>
          </a:prstGeom>
          <a:ln w="12700">
            <a:solidFill>
              <a:srgbClr val="D0D5DD"/>
            </a:solidFill>
          </a:ln>
        </p:spPr>
      </p:pic>
      <p:sp>
        <p:nvSpPr>
          <p:cNvPr id="8" name="TextBox 7"/>
          <p:cNvSpPr txBox="1"/>
          <p:nvPr/>
        </p:nvSpPr>
        <p:spPr>
          <a:xfrm>
            <a:off x="6400800" y="1280160"/>
            <a:ext cx="5394960" cy="5303520"/>
          </a:xfrm>
          <a:prstGeom prst="rect">
            <a:avLst/>
          </a:prstGeom>
          <a:noFill/>
        </p:spPr>
        <p:txBody>
          <a:bodyPr wrap="square">
            <a:spAutoFit/>
          </a:bodyPr>
          <a:lstStyle/>
          <a:p>
            <a:pPr>
              <a:spcAft>
                <a:spcPts val="800"/>
              </a:spcAft>
            </a:pPr>
            <a:r>
              <a:rPr sz="1500" b="1" dirty="0">
                <a:solidFill>
                  <a:srgbClr val="0F6CBD"/>
                </a:solidFill>
              </a:rPr>
              <a:t>•  </a:t>
            </a:r>
            <a:r>
              <a:rPr sz="1500" b="1" dirty="0">
                <a:solidFill>
                  <a:srgbClr val="0B1F3A"/>
                </a:solidFill>
              </a:rPr>
              <a:t>Per persona</a:t>
            </a:r>
            <a:r>
              <a:rPr sz="1500" b="0" dirty="0">
                <a:solidFill>
                  <a:srgbClr val="0B1F3A"/>
                </a:solidFill>
              </a:rPr>
              <a:t> (</a:t>
            </a:r>
            <a:r>
              <a:rPr sz="1500" b="0" dirty="0" err="1">
                <a:solidFill>
                  <a:srgbClr val="0B1F3A"/>
                </a:solidFill>
              </a:rPr>
              <a:t>tabella</a:t>
            </a:r>
            <a:r>
              <a:rPr sz="1500" b="0" dirty="0">
                <a:solidFill>
                  <a:srgbClr val="0B1F3A"/>
                </a:solidFill>
              </a:rPr>
              <a:t> in alto): il </a:t>
            </a:r>
            <a:r>
              <a:rPr sz="1500" b="0" dirty="0" err="1">
                <a:solidFill>
                  <a:srgbClr val="0B1F3A"/>
                </a:solidFill>
              </a:rPr>
              <a:t>prudente</a:t>
            </a:r>
            <a:r>
              <a:rPr sz="1500" b="0" dirty="0">
                <a:solidFill>
                  <a:srgbClr val="0B1F3A"/>
                </a:solidFill>
              </a:rPr>
              <a:t> OP-031 </a:t>
            </a:r>
            <a:r>
              <a:rPr sz="1500" b="0" dirty="0" err="1">
                <a:solidFill>
                  <a:srgbClr val="0B1F3A"/>
                </a:solidFill>
              </a:rPr>
              <a:t>approva</a:t>
            </a:r>
            <a:r>
              <a:rPr sz="1500" b="0" dirty="0">
                <a:solidFill>
                  <a:srgbClr val="0B1F3A"/>
                </a:solidFill>
              </a:rPr>
              <a:t> 4 volte </a:t>
            </a:r>
            <a:r>
              <a:rPr sz="1500" b="0" dirty="0" err="1">
                <a:solidFill>
                  <a:srgbClr val="0B1F3A"/>
                </a:solidFill>
              </a:rPr>
              <a:t>su</a:t>
            </a:r>
            <a:r>
              <a:rPr sz="1500" b="0" dirty="0">
                <a:solidFill>
                  <a:srgbClr val="0B1F3A"/>
                </a:solidFill>
              </a:rPr>
              <a:t> 10, il </a:t>
            </a:r>
            <a:r>
              <a:rPr sz="1500" b="0" dirty="0" err="1">
                <a:solidFill>
                  <a:srgbClr val="0B1F3A"/>
                </a:solidFill>
              </a:rPr>
              <a:t>frettoloso</a:t>
            </a:r>
            <a:r>
              <a:rPr sz="1500" b="0" dirty="0">
                <a:solidFill>
                  <a:srgbClr val="0B1F3A"/>
                </a:solidFill>
              </a:rPr>
              <a:t> OP-022 8 </a:t>
            </a:r>
            <a:r>
              <a:rPr sz="1500" b="0" dirty="0" err="1">
                <a:solidFill>
                  <a:srgbClr val="0B1F3A"/>
                </a:solidFill>
              </a:rPr>
              <a:t>su</a:t>
            </a:r>
            <a:r>
              <a:rPr sz="1500" b="0" dirty="0">
                <a:solidFill>
                  <a:srgbClr val="0B1F3A"/>
                </a:solidFill>
              </a:rPr>
              <a:t> 10. La dashboard distingue </a:t>
            </a:r>
            <a:r>
              <a:rPr sz="1500" b="0" dirty="0" err="1">
                <a:solidFill>
                  <a:srgbClr val="0B1F3A"/>
                </a:solidFill>
              </a:rPr>
              <a:t>i</a:t>
            </a:r>
            <a:r>
              <a:rPr sz="1500" b="0" dirty="0">
                <a:solidFill>
                  <a:srgbClr val="0B1F3A"/>
                </a:solidFill>
              </a:rPr>
              <a:t> due </a:t>
            </a:r>
            <a:r>
              <a:rPr sz="1500" b="0" dirty="0" err="1">
                <a:solidFill>
                  <a:srgbClr val="0B1F3A"/>
                </a:solidFill>
              </a:rPr>
              <a:t>stili</a:t>
            </a:r>
            <a:r>
              <a:rPr sz="1500" b="0" dirty="0">
                <a:solidFill>
                  <a:srgbClr val="0B1F3A"/>
                </a:solidFill>
              </a:rPr>
              <a:t>.</a:t>
            </a:r>
          </a:p>
          <a:p>
            <a:pPr>
              <a:spcAft>
                <a:spcPts val="800"/>
              </a:spcAft>
            </a:pPr>
            <a:r>
              <a:rPr sz="1500" b="1" dirty="0">
                <a:solidFill>
                  <a:srgbClr val="0F6CBD"/>
                </a:solidFill>
              </a:rPr>
              <a:t>•  </a:t>
            </a:r>
            <a:r>
              <a:rPr sz="1500" b="0" dirty="0">
                <a:solidFill>
                  <a:srgbClr val="0B1F3A"/>
                </a:solidFill>
              </a:rPr>
              <a:t>Dopo la </a:t>
            </a:r>
            <a:r>
              <a:rPr sz="1500" b="0" dirty="0" err="1">
                <a:solidFill>
                  <a:srgbClr val="0B1F3A"/>
                </a:solidFill>
              </a:rPr>
              <a:t>motivazione</a:t>
            </a:r>
            <a:r>
              <a:rPr sz="1500" b="0" dirty="0">
                <a:solidFill>
                  <a:srgbClr val="0B1F3A"/>
                </a:solidFill>
              </a:rPr>
              <a:t> </a:t>
            </a:r>
            <a:r>
              <a:rPr sz="1500" b="0" dirty="0" err="1">
                <a:solidFill>
                  <a:srgbClr val="0B1F3A"/>
                </a:solidFill>
              </a:rPr>
              <a:t>troppo</a:t>
            </a:r>
            <a:r>
              <a:rPr sz="1500" b="0" dirty="0">
                <a:solidFill>
                  <a:srgbClr val="0B1F3A"/>
                </a:solidFill>
              </a:rPr>
              <a:t> breve di OP-022 </a:t>
            </a:r>
            <a:r>
              <a:rPr sz="1500" b="0" dirty="0" err="1">
                <a:solidFill>
                  <a:srgbClr val="0B1F3A"/>
                </a:solidFill>
              </a:rPr>
              <a:t>l'allarme</a:t>
            </a:r>
            <a:r>
              <a:rPr sz="1500" b="0" dirty="0">
                <a:solidFill>
                  <a:srgbClr val="0B1F3A"/>
                </a:solidFill>
              </a:rPr>
              <a:t> "</a:t>
            </a:r>
            <a:r>
              <a:rPr sz="1500" b="0" dirty="0" err="1">
                <a:solidFill>
                  <a:srgbClr val="0B1F3A"/>
                </a:solidFill>
              </a:rPr>
              <a:t>possibile</a:t>
            </a:r>
            <a:r>
              <a:rPr sz="1500" b="0" dirty="0">
                <a:solidFill>
                  <a:srgbClr val="0B1F3A"/>
                </a:solidFill>
              </a:rPr>
              <a:t> </a:t>
            </a:r>
            <a:r>
              <a:rPr sz="1500" b="0" dirty="0" err="1">
                <a:solidFill>
                  <a:srgbClr val="0B1F3A"/>
                </a:solidFill>
              </a:rPr>
              <a:t>approvazione</a:t>
            </a:r>
            <a:r>
              <a:rPr sz="1500" b="0" dirty="0">
                <a:solidFill>
                  <a:srgbClr val="0B1F3A"/>
                </a:solidFill>
              </a:rPr>
              <a:t> a </a:t>
            </a:r>
            <a:r>
              <a:rPr sz="1500" b="0" dirty="0" err="1">
                <a:solidFill>
                  <a:srgbClr val="0B1F3A"/>
                </a:solidFill>
              </a:rPr>
              <a:t>occhi</a:t>
            </a:r>
            <a:r>
              <a:rPr sz="1500" b="0" dirty="0">
                <a:solidFill>
                  <a:srgbClr val="0B1F3A"/>
                </a:solidFill>
              </a:rPr>
              <a:t> </a:t>
            </a:r>
            <a:r>
              <a:rPr sz="1500" b="0" dirty="0" err="1">
                <a:solidFill>
                  <a:srgbClr val="0B1F3A"/>
                </a:solidFill>
              </a:rPr>
              <a:t>chiusi</a:t>
            </a:r>
            <a:r>
              <a:rPr sz="1500" b="0" dirty="0">
                <a:solidFill>
                  <a:srgbClr val="0B1F3A"/>
                </a:solidFill>
              </a:rPr>
              <a:t>" è </a:t>
            </a:r>
            <a:r>
              <a:rPr sz="1500" b="1" dirty="0" err="1">
                <a:solidFill>
                  <a:srgbClr val="0B1F3A"/>
                </a:solidFill>
              </a:rPr>
              <a:t>scattato</a:t>
            </a:r>
            <a:r>
              <a:rPr sz="1500" b="1" dirty="0">
                <a:solidFill>
                  <a:srgbClr val="0B1F3A"/>
                </a:solidFill>
              </a:rPr>
              <a:t> </a:t>
            </a:r>
            <a:r>
              <a:rPr sz="1500" b="1" dirty="0" err="1">
                <a:solidFill>
                  <a:srgbClr val="0B1F3A"/>
                </a:solidFill>
              </a:rPr>
              <a:t>davvero</a:t>
            </a:r>
            <a:r>
              <a:rPr sz="1500" b="0" dirty="0">
                <a:solidFill>
                  <a:srgbClr val="0B1F3A"/>
                </a:solidFill>
              </a:rPr>
              <a:t>; con le </a:t>
            </a:r>
            <a:r>
              <a:rPr sz="1500" b="0" dirty="0" err="1">
                <a:solidFill>
                  <a:srgbClr val="0B1F3A"/>
                </a:solidFill>
              </a:rPr>
              <a:t>decisioni</a:t>
            </a:r>
            <a:r>
              <a:rPr sz="1500" b="0" dirty="0">
                <a:solidFill>
                  <a:srgbClr val="0B1F3A"/>
                </a:solidFill>
              </a:rPr>
              <a:t> successive, ben motivate, è </a:t>
            </a:r>
            <a:r>
              <a:rPr sz="1500" b="0" dirty="0" err="1">
                <a:solidFill>
                  <a:srgbClr val="0B1F3A"/>
                </a:solidFill>
              </a:rPr>
              <a:t>rientrato</a:t>
            </a:r>
            <a:r>
              <a:rPr sz="1500" b="0" dirty="0">
                <a:solidFill>
                  <a:srgbClr val="0B1F3A"/>
                </a:solidFill>
              </a:rPr>
              <a:t>.</a:t>
            </a:r>
          </a:p>
          <a:p>
            <a:pPr>
              <a:spcAft>
                <a:spcPts val="800"/>
              </a:spcAft>
            </a:pPr>
            <a:r>
              <a:rPr sz="1500" b="1" dirty="0">
                <a:solidFill>
                  <a:srgbClr val="0F6CBD"/>
                </a:solidFill>
              </a:rPr>
              <a:t>•  </a:t>
            </a:r>
            <a:r>
              <a:rPr sz="1500" b="1" dirty="0">
                <a:solidFill>
                  <a:srgbClr val="0B1F3A"/>
                </a:solidFill>
              </a:rPr>
              <a:t>Per zona</a:t>
            </a:r>
            <a:r>
              <a:rPr sz="1500" b="0" dirty="0">
                <a:solidFill>
                  <a:srgbClr val="0B1F3A"/>
                </a:solidFill>
              </a:rPr>
              <a:t> (</a:t>
            </a:r>
            <a:r>
              <a:rPr sz="1500" b="0" dirty="0" err="1">
                <a:solidFill>
                  <a:srgbClr val="0B1F3A"/>
                </a:solidFill>
              </a:rPr>
              <a:t>tabella</a:t>
            </a:r>
            <a:r>
              <a:rPr sz="1500" b="0" dirty="0">
                <a:solidFill>
                  <a:srgbClr val="0B1F3A"/>
                </a:solidFill>
              </a:rPr>
              <a:t> in basso): </a:t>
            </a:r>
            <a:r>
              <a:rPr sz="1500" b="0" dirty="0" err="1">
                <a:solidFill>
                  <a:srgbClr val="0B1F3A"/>
                </a:solidFill>
              </a:rPr>
              <a:t>nelle</a:t>
            </a:r>
            <a:r>
              <a:rPr sz="1500" b="0" dirty="0">
                <a:solidFill>
                  <a:srgbClr val="0B1F3A"/>
                </a:solidFill>
              </a:rPr>
              <a:t> </a:t>
            </a:r>
            <a:r>
              <a:rPr sz="1500" b="0" dirty="0" err="1">
                <a:solidFill>
                  <a:srgbClr val="0B1F3A"/>
                </a:solidFill>
              </a:rPr>
              <a:t>Isole</a:t>
            </a:r>
            <a:r>
              <a:rPr sz="1500" b="0" dirty="0">
                <a:solidFill>
                  <a:srgbClr val="0B1F3A"/>
                </a:solidFill>
              </a:rPr>
              <a:t> le </a:t>
            </a:r>
            <a:r>
              <a:rPr sz="1500" b="0" dirty="0" err="1">
                <a:solidFill>
                  <a:srgbClr val="0B1F3A"/>
                </a:solidFill>
              </a:rPr>
              <a:t>persone</a:t>
            </a:r>
            <a:r>
              <a:rPr sz="1500" b="0" dirty="0">
                <a:solidFill>
                  <a:srgbClr val="0B1F3A"/>
                </a:solidFill>
              </a:rPr>
              <a:t> </a:t>
            </a:r>
            <a:r>
              <a:rPr sz="1500" b="0" dirty="0" err="1">
                <a:solidFill>
                  <a:srgbClr val="0B1F3A"/>
                </a:solidFill>
              </a:rPr>
              <a:t>correggono</a:t>
            </a:r>
            <a:r>
              <a:rPr sz="1500" b="0" dirty="0">
                <a:solidFill>
                  <a:srgbClr val="0B1F3A"/>
                </a:solidFill>
              </a:rPr>
              <a:t> il </a:t>
            </a:r>
            <a:r>
              <a:rPr sz="1500" b="0" dirty="0" err="1">
                <a:solidFill>
                  <a:srgbClr val="0B1F3A"/>
                </a:solidFill>
              </a:rPr>
              <a:t>sistema</a:t>
            </a:r>
            <a:r>
              <a:rPr sz="1500" b="0" dirty="0">
                <a:solidFill>
                  <a:srgbClr val="0B1F3A"/>
                </a:solidFill>
              </a:rPr>
              <a:t> 1 volta </a:t>
            </a:r>
            <a:r>
              <a:rPr sz="1500" b="0" dirty="0" err="1">
                <a:solidFill>
                  <a:srgbClr val="0B1F3A"/>
                </a:solidFill>
              </a:rPr>
              <a:t>su</a:t>
            </a:r>
            <a:r>
              <a:rPr sz="1500" b="0" dirty="0">
                <a:solidFill>
                  <a:srgbClr val="0B1F3A"/>
                </a:solidFill>
              </a:rPr>
              <a:t> 2, </a:t>
            </a:r>
            <a:r>
              <a:rPr sz="1500" b="0" dirty="0" err="1">
                <a:solidFill>
                  <a:srgbClr val="0B1F3A"/>
                </a:solidFill>
              </a:rPr>
              <a:t>contro</a:t>
            </a:r>
            <a:r>
              <a:rPr sz="1500" b="0" dirty="0">
                <a:solidFill>
                  <a:srgbClr val="0B1F3A"/>
                </a:solidFill>
              </a:rPr>
              <a:t> 1 </a:t>
            </a:r>
            <a:r>
              <a:rPr sz="1500" b="0" dirty="0" err="1">
                <a:solidFill>
                  <a:srgbClr val="0B1F3A"/>
                </a:solidFill>
              </a:rPr>
              <a:t>su</a:t>
            </a:r>
            <a:r>
              <a:rPr sz="1500" b="0" dirty="0">
                <a:solidFill>
                  <a:srgbClr val="0B1F3A"/>
                </a:solidFill>
              </a:rPr>
              <a:t> 3 in media. Sotto la </a:t>
            </a:r>
            <a:r>
              <a:rPr sz="1500" b="0" dirty="0" err="1">
                <a:solidFill>
                  <a:srgbClr val="0B1F3A"/>
                </a:solidFill>
              </a:rPr>
              <a:t>soglia</a:t>
            </a:r>
            <a:r>
              <a:rPr sz="1500" b="0" dirty="0">
                <a:solidFill>
                  <a:srgbClr val="0B1F3A"/>
                </a:solidFill>
              </a:rPr>
              <a:t> </a:t>
            </a:r>
            <a:r>
              <a:rPr sz="1500" b="0" dirty="0" err="1">
                <a:solidFill>
                  <a:srgbClr val="0B1F3A"/>
                </a:solidFill>
              </a:rPr>
              <a:t>d'allarme</a:t>
            </a:r>
            <a:r>
              <a:rPr sz="1500" b="0" dirty="0">
                <a:solidFill>
                  <a:srgbClr val="0B1F3A"/>
                </a:solidFill>
              </a:rPr>
              <a:t> (il doppio), ma è il </a:t>
            </a:r>
            <a:r>
              <a:rPr sz="1500" b="0" dirty="0" err="1">
                <a:solidFill>
                  <a:srgbClr val="0B1F3A"/>
                </a:solidFill>
              </a:rPr>
              <a:t>segnale</a:t>
            </a:r>
            <a:r>
              <a:rPr sz="1500" b="0" dirty="0">
                <a:solidFill>
                  <a:srgbClr val="0B1F3A"/>
                </a:solidFill>
              </a:rPr>
              <a:t> giusto: </a:t>
            </a:r>
            <a:r>
              <a:rPr sz="1500" b="0" dirty="0" err="1">
                <a:solidFill>
                  <a:srgbClr val="0B1F3A"/>
                </a:solidFill>
              </a:rPr>
              <a:t>lì</a:t>
            </a:r>
            <a:r>
              <a:rPr sz="1500" b="0" dirty="0">
                <a:solidFill>
                  <a:srgbClr val="0B1F3A"/>
                </a:solidFill>
              </a:rPr>
              <a:t> 2 </a:t>
            </a:r>
            <a:r>
              <a:rPr sz="1500" b="0" dirty="0" err="1">
                <a:solidFill>
                  <a:srgbClr val="0B1F3A"/>
                </a:solidFill>
              </a:rPr>
              <a:t>correzioni</a:t>
            </a:r>
            <a:r>
              <a:rPr sz="1500" b="0" dirty="0">
                <a:solidFill>
                  <a:srgbClr val="0B1F3A"/>
                </a:solidFill>
              </a:rPr>
              <a:t> </a:t>
            </a:r>
            <a:r>
              <a:rPr sz="1500" b="0" dirty="0" err="1">
                <a:solidFill>
                  <a:srgbClr val="0B1F3A"/>
                </a:solidFill>
              </a:rPr>
              <a:t>su</a:t>
            </a:r>
            <a:r>
              <a:rPr sz="1500" b="0" dirty="0">
                <a:solidFill>
                  <a:srgbClr val="0B1F3A"/>
                </a:solidFill>
              </a:rPr>
              <a:t> 3 </a:t>
            </a:r>
            <a:r>
              <a:rPr sz="1500" b="0" dirty="0" err="1">
                <a:solidFill>
                  <a:srgbClr val="0B1F3A"/>
                </a:solidFill>
              </a:rPr>
              <a:t>erano</a:t>
            </a:r>
            <a:r>
              <a:rPr sz="1500" b="0" dirty="0">
                <a:solidFill>
                  <a:srgbClr val="0B1F3A"/>
                </a:solidFill>
              </a:rPr>
              <a:t> </a:t>
            </a:r>
            <a:r>
              <a:rPr sz="1500" b="0" dirty="0" err="1">
                <a:solidFill>
                  <a:srgbClr val="0B1F3A"/>
                </a:solidFill>
              </a:rPr>
              <a:t>sbagliate</a:t>
            </a:r>
            <a:r>
              <a:rPr sz="1500" b="0" dirty="0">
                <a:solidFill>
                  <a:srgbClr val="0B1F3A"/>
                </a:solidFill>
              </a:rPr>
              <a:t>.</a:t>
            </a:r>
          </a:p>
          <a:p>
            <a:pPr>
              <a:spcAft>
                <a:spcPts val="800"/>
              </a:spcAft>
            </a:pPr>
            <a:r>
              <a:rPr sz="1500" b="1" dirty="0">
                <a:solidFill>
                  <a:srgbClr val="0F6CBD"/>
                </a:solidFill>
              </a:rPr>
              <a:t>•  </a:t>
            </a:r>
            <a:r>
              <a:rPr sz="1500" b="0" dirty="0" err="1">
                <a:solidFill>
                  <a:srgbClr val="0B1F3A"/>
                </a:solidFill>
              </a:rPr>
              <a:t>Queste</a:t>
            </a:r>
            <a:r>
              <a:rPr sz="1500" b="0" dirty="0">
                <a:solidFill>
                  <a:srgbClr val="0B1F3A"/>
                </a:solidFill>
              </a:rPr>
              <a:t> </a:t>
            </a:r>
            <a:r>
              <a:rPr sz="1500" b="0" dirty="0" err="1">
                <a:solidFill>
                  <a:srgbClr val="0B1F3A"/>
                </a:solidFill>
              </a:rPr>
              <a:t>metriche</a:t>
            </a:r>
            <a:r>
              <a:rPr sz="1500" b="0" dirty="0">
                <a:solidFill>
                  <a:srgbClr val="0B1F3A"/>
                </a:solidFill>
              </a:rPr>
              <a:t> </a:t>
            </a:r>
            <a:r>
              <a:rPr sz="1500" b="0" dirty="0" err="1">
                <a:solidFill>
                  <a:srgbClr val="0B1F3A"/>
                </a:solidFill>
              </a:rPr>
              <a:t>misurano</a:t>
            </a:r>
            <a:r>
              <a:rPr sz="1500" b="0" dirty="0">
                <a:solidFill>
                  <a:srgbClr val="0B1F3A"/>
                </a:solidFill>
              </a:rPr>
              <a:t> </a:t>
            </a:r>
            <a:r>
              <a:rPr sz="1500" b="1" dirty="0" err="1">
                <a:solidFill>
                  <a:srgbClr val="0B1F3A"/>
                </a:solidFill>
              </a:rPr>
              <a:t>persone</a:t>
            </a:r>
            <a:r>
              <a:rPr sz="1500" b="0" dirty="0">
                <a:solidFill>
                  <a:srgbClr val="0B1F3A"/>
                </a:solidFill>
              </a:rPr>
              <a:t>: in </a:t>
            </a:r>
            <a:r>
              <a:rPr sz="1500" b="0" dirty="0" err="1">
                <a:solidFill>
                  <a:srgbClr val="0B1F3A"/>
                </a:solidFill>
              </a:rPr>
              <a:t>un'azienda</a:t>
            </a:r>
            <a:r>
              <a:rPr sz="1500" b="0" dirty="0">
                <a:solidFill>
                  <a:srgbClr val="0B1F3A"/>
                </a:solidFill>
              </a:rPr>
              <a:t> vera </a:t>
            </a:r>
            <a:r>
              <a:rPr sz="1500" b="0" dirty="0" err="1">
                <a:solidFill>
                  <a:srgbClr val="0B1F3A"/>
                </a:solidFill>
              </a:rPr>
              <a:t>servono</a:t>
            </a:r>
            <a:r>
              <a:rPr sz="1500" b="0" dirty="0">
                <a:solidFill>
                  <a:srgbClr val="0B1F3A"/>
                </a:solidFill>
              </a:rPr>
              <a:t> </a:t>
            </a:r>
            <a:r>
              <a:rPr sz="1500" b="0" dirty="0" err="1">
                <a:solidFill>
                  <a:srgbClr val="0B1F3A"/>
                </a:solidFill>
              </a:rPr>
              <a:t>informativa</a:t>
            </a:r>
            <a:r>
              <a:rPr sz="1500" b="0" dirty="0">
                <a:solidFill>
                  <a:srgbClr val="0B1F3A"/>
                </a:solidFill>
              </a:rPr>
              <a:t> ai </a:t>
            </a:r>
            <a:r>
              <a:rPr sz="1500" b="0" dirty="0" err="1">
                <a:solidFill>
                  <a:srgbClr val="0B1F3A"/>
                </a:solidFill>
              </a:rPr>
              <a:t>lavoratori</a:t>
            </a:r>
            <a:r>
              <a:rPr sz="1500" b="0" dirty="0">
                <a:solidFill>
                  <a:srgbClr val="0B1F3A"/>
                </a:solidFill>
              </a:rPr>
              <a:t> e </a:t>
            </a:r>
            <a:r>
              <a:rPr sz="1500" b="0" dirty="0" err="1">
                <a:solidFill>
                  <a:srgbClr val="0B1F3A"/>
                </a:solidFill>
              </a:rPr>
              <a:t>regole</a:t>
            </a:r>
            <a:r>
              <a:rPr sz="1500" b="0" dirty="0">
                <a:solidFill>
                  <a:srgbClr val="0B1F3A"/>
                </a:solidFill>
              </a:rPr>
              <a:t> </a:t>
            </a:r>
            <a:r>
              <a:rPr sz="1500" b="0" dirty="0" err="1">
                <a:solidFill>
                  <a:srgbClr val="0B1F3A"/>
                </a:solidFill>
              </a:rPr>
              <a:t>chiare</a:t>
            </a:r>
            <a:r>
              <a:rPr sz="1500" b="0" dirty="0">
                <a:solidFill>
                  <a:srgbClr val="0B1F3A"/>
                </a:solidFill>
              </a:rPr>
              <a:t> </a:t>
            </a:r>
            <a:r>
              <a:rPr sz="1500" b="0" dirty="0" err="1">
                <a:solidFill>
                  <a:srgbClr val="0B1F3A"/>
                </a:solidFill>
              </a:rPr>
              <a:t>su</a:t>
            </a:r>
            <a:r>
              <a:rPr sz="1500" b="0" dirty="0">
                <a:solidFill>
                  <a:srgbClr val="0B1F3A"/>
                </a:solidFill>
              </a:rPr>
              <a:t> come </a:t>
            </a:r>
            <a:r>
              <a:rPr sz="1500" b="0" dirty="0" err="1">
                <a:solidFill>
                  <a:srgbClr val="0B1F3A"/>
                </a:solidFill>
              </a:rPr>
              <a:t>si</a:t>
            </a:r>
            <a:r>
              <a:rPr sz="1500" b="0" dirty="0">
                <a:solidFill>
                  <a:srgbClr val="0B1F3A"/>
                </a:solidFill>
              </a:rPr>
              <a:t> </a:t>
            </a:r>
            <a:r>
              <a:rPr sz="1500" b="0" dirty="0" err="1">
                <a:solidFill>
                  <a:srgbClr val="0B1F3A"/>
                </a:solidFill>
              </a:rPr>
              <a:t>usano</a:t>
            </a:r>
            <a:r>
              <a:rPr sz="1500" b="0" dirty="0">
                <a:solidFill>
                  <a:srgbClr val="0B1F3A"/>
                </a:solidFill>
              </a:rPr>
              <a:t>.</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1440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164592"/>
            <a:ext cx="9418320" cy="640080"/>
          </a:xfrm>
          <a:prstGeom prst="rect">
            <a:avLst/>
          </a:prstGeom>
          <a:noFill/>
        </p:spPr>
        <p:txBody>
          <a:bodyPr wrap="square">
            <a:spAutoFit/>
          </a:bodyPr>
          <a:lstStyle/>
          <a:p>
            <a:pPr>
              <a:spcAft>
                <a:spcPts val="800"/>
              </a:spcAft>
            </a:pPr>
            <a:r>
              <a:rPr sz="2800" b="1">
                <a:solidFill>
                  <a:srgbClr val="FFFFFF"/>
                </a:solidFill>
              </a:rPr>
              <a:t>Cosa NON abbiamo risolto</a:t>
            </a:r>
          </a:p>
        </p:txBody>
      </p:sp>
      <p:sp>
        <p:nvSpPr>
          <p:cNvPr id="4" name="TextBox 3"/>
          <p:cNvSpPr txBox="1"/>
          <p:nvPr/>
        </p:nvSpPr>
        <p:spPr>
          <a:xfrm>
            <a:off x="9144000" y="274320"/>
            <a:ext cx="2834640" cy="457200"/>
          </a:xfrm>
          <a:prstGeom prst="rect">
            <a:avLst/>
          </a:prstGeom>
          <a:noFill/>
        </p:spPr>
        <p:txBody>
          <a:bodyPr wrap="square">
            <a:spAutoFit/>
          </a:bodyPr>
          <a:lstStyle/>
          <a:p>
            <a:pPr algn="r">
              <a:spcAft>
                <a:spcPts val="800"/>
              </a:spcAft>
            </a:pPr>
            <a:r>
              <a:rPr sz="1300" b="0">
                <a:solidFill>
                  <a:srgbClr val="C9D8EA"/>
                </a:solidFill>
              </a:rPr>
              <a:t>10% del punteggio</a:t>
            </a:r>
          </a:p>
        </p:txBody>
      </p:sp>
      <p:sp>
        <p:nvSpPr>
          <p:cNvPr id="5" name="Rectangle 4"/>
          <p:cNvSpPr/>
          <p:nvPr/>
        </p:nvSpPr>
        <p:spPr>
          <a:xfrm>
            <a:off x="0" y="914400"/>
            <a:ext cx="12191695" cy="54864"/>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365760" y="1234440"/>
            <a:ext cx="5623560" cy="1645920"/>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365760" y="1234440"/>
            <a:ext cx="91440" cy="164592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94360" y="1325880"/>
            <a:ext cx="5303520" cy="1508760"/>
          </a:xfrm>
          <a:prstGeom prst="rect">
            <a:avLst/>
          </a:prstGeom>
          <a:noFill/>
        </p:spPr>
        <p:txBody>
          <a:bodyPr wrap="square">
            <a:spAutoFit/>
          </a:bodyPr>
          <a:lstStyle/>
          <a:p>
            <a:pPr>
              <a:spcAft>
                <a:spcPts val="800"/>
              </a:spcAft>
            </a:pPr>
            <a:r>
              <a:rPr sz="1600" b="1">
                <a:solidFill>
                  <a:srgbClr val="0B1F3A"/>
                </a:solidFill>
              </a:rPr>
              <a:t>Il Sud resta un'ipotesi</a:t>
            </a:r>
          </a:p>
          <a:p>
            <a:pPr>
              <a:spcAft>
                <a:spcPts val="800"/>
              </a:spcAft>
            </a:pPr>
            <a:r>
              <a:rPr sz="1600" b="0">
                <a:solidFill>
                  <a:srgbClr val="0B1F3A"/>
                </a:solidFill>
              </a:rPr>
              <a:t>Va verificata sul territorio. E l'allarme guarda la differenza in numero di guasti: in proporzione anche il Nord registra meno del previsto.</a:t>
            </a:r>
          </a:p>
        </p:txBody>
      </p:sp>
      <p:sp>
        <p:nvSpPr>
          <p:cNvPr id="9" name="Rectangle 8"/>
          <p:cNvSpPr/>
          <p:nvPr/>
        </p:nvSpPr>
        <p:spPr>
          <a:xfrm>
            <a:off x="6172200" y="1234440"/>
            <a:ext cx="5623560" cy="1645920"/>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6172200" y="1234440"/>
            <a:ext cx="91440" cy="164592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400800" y="1325880"/>
            <a:ext cx="5303520" cy="1508760"/>
          </a:xfrm>
          <a:prstGeom prst="rect">
            <a:avLst/>
          </a:prstGeom>
          <a:noFill/>
        </p:spPr>
        <p:txBody>
          <a:bodyPr wrap="square">
            <a:spAutoFit/>
          </a:bodyPr>
          <a:lstStyle/>
          <a:p>
            <a:pPr>
              <a:spcAft>
                <a:spcPts val="800"/>
              </a:spcAft>
            </a:pPr>
            <a:r>
              <a:rPr sz="1600" b="1">
                <a:solidFill>
                  <a:srgbClr val="0B1F3A"/>
                </a:solidFill>
              </a:rPr>
              <a:t>Alcuni guasti arrivano senza preavviso</a:t>
            </a:r>
          </a:p>
          <a:p>
            <a:pPr>
              <a:spcAft>
                <a:spcPts val="800"/>
              </a:spcAft>
            </a:pPr>
            <a:r>
              <a:rPr sz="1600" b="0">
                <a:solidFill>
                  <a:srgbClr val="0B1F3A"/>
                </a:solidFill>
              </a:rPr>
              <a:t>Se i sensori non vedono nulla, nessuna regola li può prevedere.</a:t>
            </a:r>
          </a:p>
        </p:txBody>
      </p:sp>
      <p:sp>
        <p:nvSpPr>
          <p:cNvPr id="12" name="Rectangle 11"/>
          <p:cNvSpPr/>
          <p:nvPr/>
        </p:nvSpPr>
        <p:spPr>
          <a:xfrm>
            <a:off x="365760" y="3017520"/>
            <a:ext cx="5623560" cy="1645920"/>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365760" y="3017520"/>
            <a:ext cx="91440" cy="164592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94360" y="3108960"/>
            <a:ext cx="5303520" cy="1508760"/>
          </a:xfrm>
          <a:prstGeom prst="rect">
            <a:avLst/>
          </a:prstGeom>
          <a:noFill/>
        </p:spPr>
        <p:txBody>
          <a:bodyPr wrap="square">
            <a:spAutoFit/>
          </a:bodyPr>
          <a:lstStyle/>
          <a:p>
            <a:pPr>
              <a:spcAft>
                <a:spcPts val="800"/>
              </a:spcAft>
            </a:pPr>
            <a:r>
              <a:rPr sz="1600" b="1">
                <a:solidFill>
                  <a:srgbClr val="0B1F3A"/>
                </a:solidFill>
              </a:rPr>
              <a:t>Più squadre a vuoto</a:t>
            </a:r>
          </a:p>
          <a:p>
            <a:pPr>
              <a:spcAft>
                <a:spcPts val="800"/>
              </a:spcAft>
            </a:pPr>
            <a:r>
              <a:rPr sz="1600" b="0">
                <a:solidFill>
                  <a:srgbClr val="0B1F3A"/>
                </a:solidFill>
              </a:rPr>
              <a:t>183 uscite inutili su 720, per non perdere guasti. Il rapporto 10 a 1 tra i costi è una nostra stima.</a:t>
            </a:r>
          </a:p>
        </p:txBody>
      </p:sp>
      <p:sp>
        <p:nvSpPr>
          <p:cNvPr id="15" name="Rectangle 14"/>
          <p:cNvSpPr/>
          <p:nvPr/>
        </p:nvSpPr>
        <p:spPr>
          <a:xfrm>
            <a:off x="6172200" y="3017520"/>
            <a:ext cx="5623560" cy="1645920"/>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6172200" y="3017520"/>
            <a:ext cx="91440" cy="164592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400800" y="3108960"/>
            <a:ext cx="5303520" cy="1508760"/>
          </a:xfrm>
          <a:prstGeom prst="rect">
            <a:avLst/>
          </a:prstGeom>
          <a:noFill/>
        </p:spPr>
        <p:txBody>
          <a:bodyPr wrap="square">
            <a:spAutoFit/>
          </a:bodyPr>
          <a:lstStyle/>
          <a:p>
            <a:pPr>
              <a:spcAft>
                <a:spcPts val="800"/>
              </a:spcAft>
            </a:pPr>
            <a:r>
              <a:rPr sz="1600" b="1">
                <a:solidFill>
                  <a:srgbClr val="0B1F3A"/>
                </a:solidFill>
              </a:rPr>
              <a:t>Il bias lo gestiscono le persone</a:t>
            </a:r>
          </a:p>
          <a:p>
            <a:pPr>
              <a:spcAft>
                <a:spcPts val="800"/>
              </a:spcAft>
            </a:pPr>
            <a:r>
              <a:rPr sz="1600" b="0">
                <a:solidFill>
                  <a:srgbClr val="0B1F3A"/>
                </a:solidFill>
              </a:rPr>
              <a:t>Se approvano tutto, la supervisione serve a poco. Per questo misuriamo chi approva cosa.</a:t>
            </a:r>
          </a:p>
        </p:txBody>
      </p:sp>
      <p:sp>
        <p:nvSpPr>
          <p:cNvPr id="18" name="Rectangle 17"/>
          <p:cNvSpPr/>
          <p:nvPr/>
        </p:nvSpPr>
        <p:spPr>
          <a:xfrm>
            <a:off x="365760" y="4800600"/>
            <a:ext cx="5623560" cy="1645920"/>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365760" y="4800600"/>
            <a:ext cx="91440" cy="164592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94360" y="4892040"/>
            <a:ext cx="5303520" cy="1508760"/>
          </a:xfrm>
          <a:prstGeom prst="rect">
            <a:avLst/>
          </a:prstGeom>
          <a:noFill/>
        </p:spPr>
        <p:txBody>
          <a:bodyPr wrap="square">
            <a:spAutoFit/>
          </a:bodyPr>
          <a:lstStyle/>
          <a:p>
            <a:pPr>
              <a:spcAft>
                <a:spcPts val="800"/>
              </a:spcAft>
            </a:pPr>
            <a:r>
              <a:rPr sz="1600" b="1">
                <a:solidFill>
                  <a:srgbClr val="0B1F3A"/>
                </a:solidFill>
              </a:rPr>
              <a:t>"Quanto è sicuro" è grezzo</a:t>
            </a:r>
          </a:p>
          <a:p>
            <a:pPr>
              <a:spcAft>
                <a:spcPts val="800"/>
              </a:spcAft>
            </a:pPr>
            <a:r>
              <a:rPr sz="1600" b="0">
                <a:solidFill>
                  <a:srgbClr val="0B1F3A"/>
                </a:solidFill>
              </a:rPr>
              <a:t>Oggi ripete la probabilità; servirebbe misurare quanto le parti del modello sono d'accordo tra loro.</a:t>
            </a:r>
          </a:p>
        </p:txBody>
      </p:sp>
      <p:sp>
        <p:nvSpPr>
          <p:cNvPr id="21" name="Rectangle 20"/>
          <p:cNvSpPr/>
          <p:nvPr/>
        </p:nvSpPr>
        <p:spPr>
          <a:xfrm>
            <a:off x="6172200" y="4800600"/>
            <a:ext cx="5623560" cy="1645920"/>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6172200" y="4800600"/>
            <a:ext cx="91440" cy="164592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400800" y="4892040"/>
            <a:ext cx="5303520" cy="1508760"/>
          </a:xfrm>
          <a:prstGeom prst="rect">
            <a:avLst/>
          </a:prstGeom>
          <a:noFill/>
        </p:spPr>
        <p:txBody>
          <a:bodyPr wrap="square">
            <a:spAutoFit/>
          </a:bodyPr>
          <a:lstStyle/>
          <a:p>
            <a:pPr>
              <a:spcAft>
                <a:spcPts val="800"/>
              </a:spcAft>
            </a:pPr>
            <a:r>
              <a:rPr sz="1600" b="1">
                <a:solidFill>
                  <a:srgbClr val="0B1F3A"/>
                </a:solidFill>
              </a:rPr>
              <a:t>Prototipo, non produzione</a:t>
            </a:r>
          </a:p>
          <a:p>
            <a:pPr>
              <a:spcAft>
                <a:spcPts val="800"/>
              </a:spcAft>
            </a:pPr>
            <a:r>
              <a:rPr sz="1600" b="0">
                <a:solidFill>
                  <a:srgbClr val="0B1F3A"/>
                </a:solidFill>
              </a:rPr>
              <a:t>Tempo simulato, 2 decisioni nelle Isole ancora automatiche, registro riscrivibile da capo da chi ha accesso al file.</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1440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164592"/>
            <a:ext cx="9418320" cy="640080"/>
          </a:xfrm>
          <a:prstGeom prst="rect">
            <a:avLst/>
          </a:prstGeom>
          <a:noFill/>
        </p:spPr>
        <p:txBody>
          <a:bodyPr wrap="square">
            <a:spAutoFit/>
          </a:bodyPr>
          <a:lstStyle/>
          <a:p>
            <a:pPr>
              <a:spcAft>
                <a:spcPts val="800"/>
              </a:spcAft>
            </a:pPr>
            <a:r>
              <a:rPr sz="2800" b="1">
                <a:solidFill>
                  <a:srgbClr val="FFFFFF"/>
                </a:solidFill>
              </a:rPr>
              <a:t>AI Act: ruoli e domande aperte</a:t>
            </a:r>
          </a:p>
        </p:txBody>
      </p:sp>
      <p:sp>
        <p:nvSpPr>
          <p:cNvPr id="4" name="TextBox 3"/>
          <p:cNvSpPr txBox="1"/>
          <p:nvPr/>
        </p:nvSpPr>
        <p:spPr>
          <a:xfrm>
            <a:off x="9144000" y="274320"/>
            <a:ext cx="2834640" cy="457200"/>
          </a:xfrm>
          <a:prstGeom prst="rect">
            <a:avLst/>
          </a:prstGeom>
          <a:noFill/>
        </p:spPr>
        <p:txBody>
          <a:bodyPr wrap="square">
            <a:spAutoFit/>
          </a:bodyPr>
          <a:lstStyle/>
          <a:p>
            <a:pPr algn="r">
              <a:spcAft>
                <a:spcPts val="800"/>
              </a:spcAft>
            </a:pPr>
            <a:r>
              <a:rPr sz="1300" b="0">
                <a:solidFill>
                  <a:srgbClr val="C9D8EA"/>
                </a:solidFill>
              </a:rPr>
              <a:t>Discussione</a:t>
            </a:r>
          </a:p>
        </p:txBody>
      </p:sp>
      <p:sp>
        <p:nvSpPr>
          <p:cNvPr id="5" name="Rectangle 4"/>
          <p:cNvSpPr/>
          <p:nvPr/>
        </p:nvSpPr>
        <p:spPr>
          <a:xfrm>
            <a:off x="0" y="914400"/>
            <a:ext cx="12191695" cy="54864"/>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1280160"/>
            <a:ext cx="5394960" cy="5303520"/>
          </a:xfrm>
          <a:prstGeom prst="rect">
            <a:avLst/>
          </a:prstGeom>
          <a:noFill/>
        </p:spPr>
        <p:txBody>
          <a:bodyPr wrap="square">
            <a:spAutoFit/>
          </a:bodyPr>
          <a:lstStyle/>
          <a:p>
            <a:pPr>
              <a:spcAft>
                <a:spcPts val="800"/>
              </a:spcAft>
            </a:pPr>
            <a:r>
              <a:rPr sz="1700" b="1">
                <a:solidFill>
                  <a:srgbClr val="0B1F3A"/>
                </a:solidFill>
              </a:rPr>
              <a:t>Chi costruisce il sistema</a:t>
            </a:r>
            <a:r>
              <a:rPr sz="1700" b="0">
                <a:solidFill>
                  <a:srgbClr val="0B1F3A"/>
                </a:solidFill>
              </a:rPr>
              <a:t> (provider): risponde di dati, documentazione, registro, supervisione già prevista nel progetto, controlli dopo il rilascio, segnalazione degli incidenti gravi.</a:t>
            </a:r>
          </a:p>
          <a:p>
            <a:pPr>
              <a:spcAft>
                <a:spcPts val="800"/>
              </a:spcAft>
            </a:pPr>
            <a:r>
              <a:rPr sz="1700" b="1">
                <a:solidFill>
                  <a:srgbClr val="0B1F3A"/>
                </a:solidFill>
              </a:rPr>
              <a:t>Chi lo usa</a:t>
            </a:r>
            <a:r>
              <a:rPr sz="1700" b="0">
                <a:solidFill>
                  <a:srgbClr val="0B1F3A"/>
                </a:solidFill>
              </a:rPr>
              <a:t> (deployer): l'operatore di rete. Persone formate, uso come da istruzioni, registro conservato almeno 6 mesi, lavoratori informati.</a:t>
            </a:r>
          </a:p>
          <a:p>
            <a:pPr>
              <a:spcAft>
                <a:spcPts val="800"/>
              </a:spcAft>
            </a:pPr>
            <a:r>
              <a:rPr sz="1700" b="0">
                <a:solidFill>
                  <a:srgbClr val="0B1F3A"/>
                </a:solidFill>
              </a:rPr>
              <a:t>Se l'azienda lo sviluppa in casa e lo usa, è </a:t>
            </a:r>
            <a:r>
              <a:rPr sz="1700" b="1">
                <a:solidFill>
                  <a:srgbClr val="0B1F3A"/>
                </a:solidFill>
              </a:rPr>
              <a:t>tutte e due le cose</a:t>
            </a:r>
            <a:r>
              <a:rPr sz="1700" b="0">
                <a:solidFill>
                  <a:srgbClr val="0B1F3A"/>
                </a:solidFill>
              </a:rPr>
              <a:t>.</a:t>
            </a:r>
          </a:p>
        </p:txBody>
      </p:sp>
      <p:sp>
        <p:nvSpPr>
          <p:cNvPr id="7" name="Rectangle 6"/>
          <p:cNvSpPr/>
          <p:nvPr/>
        </p:nvSpPr>
        <p:spPr>
          <a:xfrm>
            <a:off x="6309360" y="1280160"/>
            <a:ext cx="5486400" cy="5120640"/>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492240" y="1371600"/>
            <a:ext cx="5212080" cy="4937760"/>
          </a:xfrm>
          <a:prstGeom prst="rect">
            <a:avLst/>
          </a:prstGeom>
          <a:noFill/>
        </p:spPr>
        <p:txBody>
          <a:bodyPr wrap="square">
            <a:spAutoFit/>
          </a:bodyPr>
          <a:lstStyle/>
          <a:p>
            <a:pPr>
              <a:spcAft>
                <a:spcPts val="800"/>
              </a:spcAft>
            </a:pPr>
            <a:r>
              <a:rPr sz="1600" b="1">
                <a:solidFill>
                  <a:srgbClr val="0B1F3A"/>
                </a:solidFill>
              </a:rPr>
              <a:t>Spunti per la discussione</a:t>
            </a:r>
          </a:p>
          <a:p>
            <a:pPr>
              <a:spcAft>
                <a:spcPts val="800"/>
              </a:spcAft>
            </a:pPr>
            <a:r>
              <a:rPr sz="1600" b="1">
                <a:solidFill>
                  <a:srgbClr val="0F6CBD"/>
                </a:solidFill>
              </a:rPr>
              <a:t>•  </a:t>
            </a:r>
            <a:r>
              <a:rPr sz="1600" b="0">
                <a:solidFill>
                  <a:srgbClr val="0B1F3A"/>
                </a:solidFill>
              </a:rPr>
              <a:t>Un sistema che </a:t>
            </a:r>
            <a:r>
              <a:rPr sz="1600" b="1">
                <a:solidFill>
                  <a:srgbClr val="0B1F3A"/>
                </a:solidFill>
              </a:rPr>
              <a:t>suggerisce</a:t>
            </a:r>
            <a:r>
              <a:rPr sz="1600" b="0">
                <a:solidFill>
                  <a:srgbClr val="0B1F3A"/>
                </a:solidFill>
              </a:rPr>
              <a:t> e lascia decidere le persone è davvero ad alto rischio? (Art. 6(3))</a:t>
            </a:r>
          </a:p>
          <a:p>
            <a:pPr>
              <a:spcAft>
                <a:spcPts val="800"/>
              </a:spcAft>
            </a:pPr>
            <a:r>
              <a:rPr sz="1600" b="1">
                <a:solidFill>
                  <a:srgbClr val="0F6CBD"/>
                </a:solidFill>
              </a:rPr>
              <a:t>•  </a:t>
            </a:r>
            <a:r>
              <a:rPr sz="1600" b="0">
                <a:solidFill>
                  <a:srgbClr val="0B1F3A"/>
                </a:solidFill>
              </a:rPr>
              <a:t>Misurare quanto ogni persona approva senza leggere è </a:t>
            </a:r>
            <a:r>
              <a:rPr sz="1600" b="1">
                <a:solidFill>
                  <a:srgbClr val="0B1F3A"/>
                </a:solidFill>
              </a:rPr>
              <a:t>controllo dei lavoratori</a:t>
            </a:r>
            <a:r>
              <a:rPr sz="1600" b="0">
                <a:solidFill>
                  <a:srgbClr val="0B1F3A"/>
                </a:solidFill>
              </a:rPr>
              <a:t>? (Art. 26(7), Statuto art. 4)</a:t>
            </a:r>
          </a:p>
          <a:p>
            <a:pPr>
              <a:spcAft>
                <a:spcPts val="800"/>
              </a:spcAft>
            </a:pPr>
            <a:r>
              <a:rPr sz="1600" b="1">
                <a:solidFill>
                  <a:srgbClr val="0F6CBD"/>
                </a:solidFill>
              </a:rPr>
              <a:t>•  </a:t>
            </a:r>
            <a:r>
              <a:rPr sz="1600" b="0">
                <a:solidFill>
                  <a:srgbClr val="0B1F3A"/>
                </a:solidFill>
              </a:rPr>
              <a:t>Un servizio peggiore al Sud tocca i diritti dei cittadini, ma la valutazione d'impatto sui diritti non è richiesta (Art. 27).</a:t>
            </a:r>
          </a:p>
          <a:p>
            <a:pPr>
              <a:spcAft>
                <a:spcPts val="800"/>
              </a:spcAft>
            </a:pPr>
            <a:r>
              <a:rPr sz="1600" b="1">
                <a:solidFill>
                  <a:srgbClr val="0F6CBD"/>
                </a:solidFill>
              </a:rPr>
              <a:t>•  </a:t>
            </a:r>
            <a:r>
              <a:rPr sz="1600" b="0">
                <a:solidFill>
                  <a:srgbClr val="0B1F3A"/>
                </a:solidFill>
              </a:rPr>
              <a:t>Dati di un'infrastruttura critica mandati a un </a:t>
            </a:r>
            <a:r>
              <a:rPr sz="1600" b="1">
                <a:solidFill>
                  <a:srgbClr val="0B1F3A"/>
                </a:solidFill>
              </a:rPr>
              <a:t>LLM nel cloud</a:t>
            </a:r>
            <a:r>
              <a:rPr sz="1600" b="0">
                <a:solidFill>
                  <a:srgbClr val="0B1F3A"/>
                </a:solidFill>
              </a:rPr>
              <a:t>: riservatezza e dipendenza da un fornitore.</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2011680"/>
            <a:ext cx="10698480" cy="1828800"/>
          </a:xfrm>
          <a:prstGeom prst="rect">
            <a:avLst/>
          </a:prstGeom>
          <a:noFill/>
        </p:spPr>
        <p:txBody>
          <a:bodyPr wrap="square">
            <a:spAutoFit/>
          </a:bodyPr>
          <a:lstStyle/>
          <a:p>
            <a:pPr>
              <a:spcAft>
                <a:spcPts val="800"/>
              </a:spcAft>
            </a:pPr>
            <a:r>
              <a:rPr sz="3200" b="1">
                <a:solidFill>
                  <a:srgbClr val="FFFFFF"/>
                </a:solidFill>
              </a:rPr>
              <a:t>In un'infrastruttura critica un sistema accurato ma non supervisionabile è pericoloso.</a:t>
            </a:r>
          </a:p>
        </p:txBody>
      </p:sp>
      <p:sp>
        <p:nvSpPr>
          <p:cNvPr id="4" name="TextBox 3"/>
          <p:cNvSpPr txBox="1"/>
          <p:nvPr/>
        </p:nvSpPr>
        <p:spPr>
          <a:xfrm>
            <a:off x="731520" y="3657600"/>
            <a:ext cx="10698480" cy="1371600"/>
          </a:xfrm>
          <a:prstGeom prst="rect">
            <a:avLst/>
          </a:prstGeom>
          <a:noFill/>
        </p:spPr>
        <p:txBody>
          <a:bodyPr wrap="square">
            <a:spAutoFit/>
          </a:bodyPr>
          <a:lstStyle/>
          <a:p>
            <a:pPr>
              <a:spcAft>
                <a:spcPts val="800"/>
              </a:spcAft>
            </a:pPr>
            <a:r>
              <a:rPr sz="2200" b="0">
                <a:solidFill>
                  <a:srgbClr val="C9D8EA"/>
                </a:solidFill>
              </a:rPr>
              <a:t>EnerGuard lascia all'umano le decisioni che contano, e lo rende misurabile.</a:t>
            </a:r>
          </a:p>
          <a:p>
            <a:pPr>
              <a:spcAft>
                <a:spcPts val="800"/>
              </a:spcAft>
            </a:pPr>
            <a:r>
              <a:rPr sz="2200" b="0">
                <a:solidFill>
                  <a:srgbClr val="C9D8EA"/>
                </a:solidFill>
              </a:rPr>
              <a:t>Domande?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Tema di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TotalTime>
  <Words>3891</Words>
  <Application>Microsoft Office PowerPoint</Application>
  <PresentationFormat>Widescreen</PresentationFormat>
  <Paragraphs>258</Paragraphs>
  <Slides>21</Slides>
  <Notes>21</Notes>
  <HiddenSlides>0</HiddenSlides>
  <MMClips>0</MMClips>
  <ScaleCrop>false</ScaleCrop>
  <HeadingPairs>
    <vt:vector size="6" baseType="variant">
      <vt:variant>
        <vt:lpstr>Caratteri utilizzati</vt:lpstr>
      </vt:variant>
      <vt:variant>
        <vt:i4>2</vt:i4>
      </vt:variant>
      <vt:variant>
        <vt:lpstr>Tema</vt:lpstr>
      </vt:variant>
      <vt:variant>
        <vt:i4>1</vt:i4>
      </vt:variant>
      <vt:variant>
        <vt:lpstr>Titoli diapositive</vt:lpstr>
      </vt:variant>
      <vt:variant>
        <vt:i4>21</vt:i4>
      </vt:variant>
    </vt:vector>
  </HeadingPairs>
  <TitlesOfParts>
    <vt:vector size="24" baseType="lpstr">
      <vt:lpstr>Arial</vt:lpstr>
      <vt:lpstr>Calibri</vt:lpstr>
      <vt:lpstr>Office Theme</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Merlini Guido (GICT DS F)</cp:lastModifiedBy>
  <cp:revision>1</cp:revision>
  <dcterms:created xsi:type="dcterms:W3CDTF">2013-01-27T09:14:16Z</dcterms:created>
  <dcterms:modified xsi:type="dcterms:W3CDTF">2026-10-09T09:30:57Z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797ad33d-ed35-43c0-b526-22bc83c17deb_Enabled">
    <vt:lpwstr>true</vt:lpwstr>
  </property>
  <property fmtid="{D5CDD505-2E9C-101B-9397-08002B2CF9AE}" pid="3" name="MSIP_Label_797ad33d-ed35-43c0-b526-22bc83c17deb_SetDate">
    <vt:lpwstr>2026-10-09T09:30:56Z</vt:lpwstr>
  </property>
  <property fmtid="{D5CDD505-2E9C-101B-9397-08002B2CF9AE}" pid="4" name="MSIP_Label_797ad33d-ed35-43c0-b526-22bc83c17deb_Method">
    <vt:lpwstr>Standard</vt:lpwstr>
  </property>
  <property fmtid="{D5CDD505-2E9C-101B-9397-08002B2CF9AE}" pid="5" name="MSIP_Label_797ad33d-ed35-43c0-b526-22bc83c17deb_Name">
    <vt:lpwstr>797ad33d-ed35-43c0-b526-22bc83c17deb</vt:lpwstr>
  </property>
  <property fmtid="{D5CDD505-2E9C-101B-9397-08002B2CF9AE}" pid="6" name="MSIP_Label_797ad33d-ed35-43c0-b526-22bc83c17deb_SiteId">
    <vt:lpwstr>d539d4bf-5610-471a-afc2-1c76685cfefa</vt:lpwstr>
  </property>
  <property fmtid="{D5CDD505-2E9C-101B-9397-08002B2CF9AE}" pid="7" name="MSIP_Label_797ad33d-ed35-43c0-b526-22bc83c17deb_ActionId">
    <vt:lpwstr>f3533945-c5cf-481a-967b-47a989b4dd85</vt:lpwstr>
  </property>
  <property fmtid="{D5CDD505-2E9C-101B-9397-08002B2CF9AE}" pid="8" name="MSIP_Label_797ad33d-ed35-43c0-b526-22bc83c17deb_ContentBits">
    <vt:lpwstr>1</vt:lpwstr>
  </property>
  <property fmtid="{D5CDD505-2E9C-101B-9397-08002B2CF9AE}" pid="9" name="MSIP_Label_797ad33d-ed35-43c0-b526-22bc83c17deb_Tag">
    <vt:lpwstr>10, 3, 0, 1</vt:lpwstr>
  </property>
  <property fmtid="{D5CDD505-2E9C-101B-9397-08002B2CF9AE}" pid="10" name="ClassificationContentMarkingHeaderLocations">
    <vt:lpwstr>Office Theme:8</vt:lpwstr>
  </property>
  <property fmtid="{D5CDD505-2E9C-101B-9397-08002B2CF9AE}" pid="11" name="ClassificationContentMarkingHeaderText">
    <vt:lpwstr>INTERNAL</vt:lpwstr>
  </property>
</Properties>
</file>